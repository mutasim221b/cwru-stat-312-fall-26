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Collecting and Summarizing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 Mutasim Billah,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should engineers study statistics?</a:t>
            </a:r>
          </a:p>
        </p:txBody>
      </p:sp>
      <p:pic>
        <p:nvPicPr>
          <p:cNvPr descr="../images/stat-ne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Statistics</a:t>
            </a:r>
            <a:r>
              <a:rPr/>
              <a:t> is the science of </a:t>
            </a:r>
            <a:r>
              <a:rPr b="1"/>
              <a:t>collecting, analyzing, and interpreting data</a:t>
            </a:r>
            <a:r>
              <a:rPr/>
              <a:t>.</a:t>
            </a:r>
          </a:p>
          <a:p>
            <a:pPr lvl="0"/>
            <a:r>
              <a:rPr/>
              <a:t>Engineers collect data from experiments, manufacturing processes, and systems.</a:t>
            </a:r>
          </a:p>
          <a:p>
            <a:pPr lvl="0"/>
            <a:r>
              <a:rPr/>
              <a:t>Engineers analyze data to understand patterns and relationships.</a:t>
            </a:r>
          </a:p>
          <a:p>
            <a:pPr lvl="0"/>
            <a:r>
              <a:rPr/>
              <a:t>Engineers interpret data to make decisions and improve processes.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Manufacturing bolts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factory is manufacturing bolts that should be exactly </a:t>
            </a:r>
            <a:r>
              <a:rPr b="1"/>
              <a:t>2 inches long</a:t>
            </a:r>
            <a:r>
              <a:rPr/>
              <a:t>.</a:t>
            </a:r>
          </a:p>
          <a:p>
            <a:pPr lvl="0"/>
            <a:r>
              <a:rPr/>
              <a:t>Measuring the length of </a:t>
            </a:r>
            <a:r>
              <a:rPr b="1"/>
              <a:t>all</a:t>
            </a:r>
            <a:r>
              <a:rPr/>
              <a:t> bolts (a census) may be:</a:t>
            </a:r>
          </a:p>
          <a:p>
            <a:pPr lvl="1"/>
            <a:r>
              <a:rPr/>
              <a:t>too time consuming,</a:t>
            </a:r>
          </a:p>
          <a:p>
            <a:pPr lvl="1"/>
            <a:r>
              <a:rPr/>
              <a:t>too expensive,</a:t>
            </a:r>
          </a:p>
          <a:p>
            <a:pPr lvl="1"/>
            <a:r>
              <a:rPr/>
              <a:t>or impossible.</a:t>
            </a:r>
          </a:p>
          <a:p>
            <a:pPr lvl="0"/>
            <a:r>
              <a:rPr/>
              <a:t>Instead, we can collect a </a:t>
            </a:r>
            <a:r>
              <a:rPr b="1"/>
              <a:t>sample</a:t>
            </a:r>
            <a:r>
              <a:rPr/>
              <a:t> of bolts.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Population and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random sample of 5 bolts yields the following measurements, in inches: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 b="1"/>
              <a:t>Population:</a:t>
            </a:r>
            <a:r>
              <a:rPr/>
              <a:t> The set of all people or things being studied, i.e., all possible observations.</a:t>
            </a:r>
          </a:p>
          <a:p>
            <a:pPr lvl="0" indent="0" marL="0">
              <a:buNone/>
            </a:pPr>
            <a:r>
              <a:rPr b="1"/>
              <a:t>Sample:</a:t>
            </a:r>
            <a:r>
              <a:rPr/>
              <a:t> The subset of the population from which information is actually collected.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again the measurements: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/>
              <a:t>The data have </a:t>
            </a:r>
            <a:r>
              <a:rPr b="1"/>
              <a:t>variability</a:t>
            </a:r>
            <a:r>
              <a:rPr/>
              <a:t>.</a:t>
            </a:r>
          </a:p>
          <a:p>
            <a:pPr lvl="0"/>
            <a:r>
              <a:rPr/>
              <a:t>Identify the source(s) of the variation.</a:t>
            </a:r>
          </a:p>
          <a:p>
            <a:pPr lvl="0"/>
            <a:r>
              <a:rPr/>
              <a:t>Reduce the variation.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information: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bolts are being produced by two different machines:</a:t>
            </a:r>
          </a:p>
          <a:p>
            <a:pPr lvl="0"/>
            <a:r>
              <a:rPr b="1"/>
              <a:t>Machine A</a:t>
            </a:r>
          </a:p>
          <a:p>
            <a:pPr lvl="0"/>
            <a:r>
              <a:rPr b="1"/>
              <a:t>Machine B</a:t>
            </a:r>
          </a:p>
          <a:p>
            <a:pPr lvl="0" indent="0" marL="0">
              <a:buNone/>
            </a:pPr>
            <a:r>
              <a:rPr/>
              <a:t>This gives us one possible source of variation in bolt length.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information: Production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machine has three speed settings:</a:t>
            </a:r>
          </a:p>
          <a:p>
            <a:pPr lvl="0"/>
            <a:r>
              <a:rPr b="1"/>
              <a:t>Slow:</a:t>
            </a:r>
            <a:r>
              <a:rPr/>
              <a:t> 500 bolts/minute</a:t>
            </a:r>
          </a:p>
          <a:p>
            <a:pPr lvl="0"/>
            <a:r>
              <a:rPr b="1"/>
              <a:t>Medium:</a:t>
            </a:r>
            <a:r>
              <a:rPr/>
              <a:t> 1000 bolts/minute</a:t>
            </a:r>
          </a:p>
          <a:p>
            <a:pPr lvl="0"/>
            <a:r>
              <a:rPr b="1"/>
              <a:t>Fast:</a:t>
            </a:r>
            <a:r>
              <a:rPr/>
              <a:t> 2000 bolts/minute</a:t>
            </a:r>
          </a:p>
          <a:p>
            <a:pPr lvl="0" indent="0" marL="0">
              <a:buNone/>
            </a:pPr>
            <a:r>
              <a:rPr/>
              <a:t>Now we have two possible sources of variation:</a:t>
            </a:r>
          </a:p>
          <a:p>
            <a:pPr lvl="0" indent="-342900" marL="342900">
              <a:buAutoNum type="arabicPeriod"/>
            </a:pPr>
            <a:r>
              <a:rPr/>
              <a:t>Machine</a:t>
            </a:r>
          </a:p>
          <a:p>
            <a:pPr lvl="0" indent="-342900" marL="342900">
              <a:buAutoNum type="arabicPeriod"/>
            </a:pPr>
            <a:r>
              <a:rPr/>
              <a:t>Production speed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should we collect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several options.</a:t>
            </a:r>
          </a:p>
          <a:p>
            <a:pPr lvl="0"/>
            <a:r>
              <a:rPr b="1"/>
              <a:t>Retrospective Study</a:t>
            </a:r>
          </a:p>
          <a:p>
            <a:pPr lvl="1" indent="0" marL="342900">
              <a:buNone/>
            </a:pPr>
            <a:r>
              <a:rPr/>
              <a:t>Use data that have been collected in the past.</a:t>
            </a:r>
          </a:p>
          <a:p>
            <a:pPr lvl="0"/>
            <a:r>
              <a:rPr b="1"/>
              <a:t>Observational Study</a:t>
            </a:r>
          </a:p>
          <a:p>
            <a:pPr lvl="1" indent="0" marL="342900">
              <a:buNone/>
            </a:pPr>
            <a:r>
              <a:rPr/>
              <a:t>Observe the process in the present and collect data.</a:t>
            </a:r>
          </a:p>
          <a:p>
            <a:pPr lvl="0"/>
            <a:r>
              <a:rPr b="1"/>
              <a:t>Designed Experiment</a:t>
            </a:r>
          </a:p>
          <a:p>
            <a:pPr lvl="1" indent="0" marL="342900">
              <a:buNone/>
            </a:pPr>
            <a:r>
              <a:rPr/>
              <a:t>Exhibit maximum control over </a:t>
            </a:r>
            <a:r>
              <a:rPr b="1"/>
              <a:t>when, where, and how</a:t>
            </a:r>
            <a:r>
              <a:rPr/>
              <a:t> the data are collected.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and Summarizing Data</dc:title>
  <dc:creator/>
  <cp:keywords/>
  <dcterms:created xsi:type="dcterms:W3CDTF">2026-08-21T15:23:20Z</dcterms:created>
  <dcterms:modified xsi:type="dcterms:W3CDTF">2026-08-21T15:23:20Z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Md Mutasim Billah,</vt:lpwstr>
  </property>
  <property fmtid="{D5CDD505-2E9C-101B-9397-08002B2CF9AE}" pid="9" name="toc-title">
    <vt:lpwstr>Table of contents</vt:lpwstr>
  </property>
</Properties>
</file>