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4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3" Type="http://schemas.openxmlformats.org/officeDocument/2006/relationships/theme" Target="theme/theme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handout/Unit-03-Prob-Handout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rossmanchance.com/applets/2021/oneprop/OneProp.htm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Handouts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the </a:t>
            </a:r>
            <a:r>
              <a:rPr>
                <a:hlinkClick r:id="rId2"/>
              </a:rPr>
              <a:t>Unit 03 Handout: Probability</a:t>
            </a:r>
            <a:r>
              <a:rPr/>
              <a:t> before class and bring it with you.</a:t>
            </a:r>
          </a:p>
          <a:p>
            <a:pPr lvl="0"/>
            <a:r>
              <a:rPr/>
              <a:t>I will continue to post additional handouts as we progress through the course. Please watch for </a:t>
            </a:r>
            <a:r>
              <a:rPr b="1"/>
              <a:t>Canvas Announcements</a:t>
            </a:r>
            <a:r>
              <a:rPr/>
              <a:t> when a new handout becomes available.</a:t>
            </a:r>
          </a:p>
          <a:p>
            <a:pPr lvl="0"/>
            <a:r>
              <a:rPr/>
              <a:t>It is very important that you </a:t>
            </a:r>
            <a:r>
              <a:rPr b="1"/>
              <a:t>bring the appropriate handout to class regularly</a:t>
            </a:r>
            <a:r>
              <a:rPr/>
              <a:t>, either as a printed copy or on your writing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Practice Problems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Practice Problems (PP)</a:t>
            </a:r>
            <a:r>
              <a:rPr/>
              <a:t> are essential for strengthening your understanding, building confidence, and exploring the concepts covered in class.</a:t>
            </a:r>
          </a:p>
          <a:p>
            <a:pPr lvl="0"/>
            <a:r>
              <a:rPr/>
              <a:t>The </a:t>
            </a:r>
            <a:r>
              <a:rPr b="1"/>
              <a:t>Unit 03 Practice Problems</a:t>
            </a:r>
            <a:r>
              <a:rPr/>
              <a:t> are available under the </a:t>
            </a:r>
            <a:r>
              <a:rPr b="1"/>
              <a:t>Practice Problems</a:t>
            </a:r>
            <a:r>
              <a:rPr/>
              <a:t> tab on the course website. The solutions are provided in Canvas.</a:t>
            </a:r>
          </a:p>
          <a:p>
            <a:pPr lvl="0"/>
            <a:r>
              <a:rPr/>
              <a:t>Complete the relevant Practice Problems as we progress through the unit.</a:t>
            </a:r>
          </a:p>
          <a:p>
            <a:pPr lvl="0"/>
            <a:r>
              <a:rPr/>
              <a:t>Make sure you have completed and reviewed the Practice Problems </a:t>
            </a:r>
            <a:r>
              <a:rPr b="1"/>
              <a:t>before attempting the corresponding HW assignment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Probability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Class Notes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Live class lecture notes</a:t>
            </a:r>
          </a:p>
          <a:p>
            <a:pPr lvl="0"/>
            <a:r>
              <a:rPr/>
              <a:t>I usually post the class notes on Canvas by the end of the day. If you don’t see it, shoot me an email next day!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Coin Toss Applet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Rossman/Chance Coin Tossing Simulation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Interpretation of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Examples:</a:t>
                </a:r>
              </a:p>
              <a:p>
                <a:pPr lvl="1"/>
                <a:r>
                  <a:rPr/>
                  <a:t>“The chance of getting 1 when rolling a die is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6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16.7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.”</a:t>
                </a:r>
              </a:p>
              <a:p>
                <a:pPr lvl="1"/>
                <a:r>
                  <a:rPr/>
                  <a:t>Meaning: If we roll a die many times under the same conditions, we would get 1 roughly </a:t>
                </a:r>
                <a14:m>
                  <m:oMath xmlns:m="http://schemas.openxmlformats.org/officeDocument/2006/math">
                    <m:r>
                      <m:t>16.7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of the time.</a:t>
                </a:r>
              </a:p>
              <a:p>
                <a:pPr lvl="1"/>
                <a:r>
                  <a:rPr/>
                  <a:t>“The chance that a light bulb lasts longer than 2 years is </a:t>
                </a:r>
                <a14:m>
                  <m:oMath xmlns:m="http://schemas.openxmlformats.org/officeDocument/2006/math">
                    <m:r>
                      <m:t>72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.”</a:t>
                </a:r>
              </a:p>
              <a:p>
                <a:pPr lvl="1"/>
                <a:r>
                  <a:rPr/>
                  <a:t>Meaning: If we turn on many light bulbs under the same conditions, about </a:t>
                </a:r>
                <a14:m>
                  <m:oMath xmlns:m="http://schemas.openxmlformats.org/officeDocument/2006/math">
                    <m:r>
                      <m:t>72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of them would last longer than 2 years.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Axioms of Probability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axioms of probability are properties that we intuitively expect a probability to have.</a:t>
            </a:r>
          </a:p>
          <a:p>
            <a:pPr lvl="0"/>
            <a:r>
              <a:rPr/>
              <a:t>All probability theory is built on these axioms.</a:t>
            </a:r>
          </a:p>
          <a:p>
            <a:pPr lvl="0"/>
            <a:r>
              <a:rPr/>
              <a:t>The mathematical foundations of probability, including these axioms, were laid out by </a:t>
            </a:r>
            <a:r>
              <a:rPr b="1"/>
              <a:t>Andrey Kolmogorov in 1933</a:t>
            </a:r>
            <a:r>
              <a:rPr/>
              <a:t>.</a:t>
            </a:r>
          </a:p>
          <a:p>
            <a:pPr lvl="0" indent="0" marL="0"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03: Probability</dc:title>
  <dc:creator/>
  <cp:keywords/>
  <dcterms:created xsi:type="dcterms:W3CDTF">2026-10-29T13:41:06Z</dcterms:created>
  <dcterms:modified xsi:type="dcterms:W3CDTF">2026-10-29T13:41:06Z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Dr. Md Mutasim Billah</vt:lpwstr>
  </property>
  <property fmtid="{D5CDD505-2E9C-101B-9397-08002B2CF9AE}" pid="9" name="toc-title">
    <vt:lpwstr>Table of contents</vt:lpwstr>
  </property>
</Properties>
</file>