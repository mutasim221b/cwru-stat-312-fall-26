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wmf" ContentType="image/x-w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5pPr>
    <a:lvl6pPr algn="l" defTabSz="457200" eaLnBrk="1" hangingPunct="1" latinLnBrk="0" marL="22860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6pPr>
    <a:lvl7pPr algn="l" defTabSz="457200" eaLnBrk="1" hangingPunct="1" latinLnBrk="0" marL="27432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7pPr>
    <a:lvl8pPr algn="l" defTabSz="457200" eaLnBrk="1" hangingPunct="1" latinLnBrk="0" marL="32004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8pPr>
    <a:lvl9pPr algn="l" defTabSz="457200" eaLnBrk="1" hangingPunct="1" latinLnBrk="0" marL="36576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A59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4439"/>
    <p:restoredTop sz="94678"/>
  </p:normalViewPr>
  <p:slideViewPr>
    <p:cSldViewPr snapToGrid="0" snapToObjects="1">
      <p:cViewPr varScale="1">
        <p:scale>
          <a:sx d="100" n="150"/>
          <a:sy d="100" n="150"/>
        </p:scale>
        <p:origin x="3000" y="176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5" Type="http://schemas.openxmlformats.org/officeDocument/2006/relationships/theme" Target="theme/theme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B1DB7-FFDC-5E16-20CA-37B54B3A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rgbClr val="123A59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 bwMode="auto">
          <a:xfrm>
            <a:off x="533400" y="1778001"/>
            <a:ext cx="7774280" cy="366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cs typeface="TitilliumMaps26L 500 wt"/>
              </a:defRPr>
            </a:lvl1pPr>
            <a:lvl2pPr marL="800100" indent="-342900" algn="l">
              <a:buFont typeface="Calibri" panose="020F0502020204030204" pitchFamily="34" charset="0"/>
              <a:buChar char="—"/>
              <a:defRPr sz="1800">
                <a:solidFill>
                  <a:schemeClr val="tx1"/>
                </a:solidFill>
                <a:latin typeface="+mn-lt"/>
                <a:cs typeface="TitilliumMaps26L 500 wt"/>
              </a:defRPr>
            </a:lvl2pPr>
            <a:lvl3pPr algn="l">
              <a:defRPr sz="2000">
                <a:solidFill>
                  <a:srgbClr val="6A6A6A"/>
                </a:solidFill>
                <a:latin typeface="TitilliumMaps26L 500 wt"/>
                <a:cs typeface="TitilliumMaps26L 500 w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 err="1"/>
              <a:t>aaa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123A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media/image1.wmf" Type="http://schemas.openxmlformats.org/officeDocument/2006/relationships/image" /><Relationship Id="rId10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5695950"/>
            <a:ext cx="9144000" cy="1162050"/>
          </a:xfrm>
          <a:prstGeom prst="rect">
            <a:avLst/>
          </a:prstGeom>
          <a:solidFill>
            <a:srgbClr val="123A59"/>
          </a:solidFill>
          <a:ln algn="ctr" cap="flat" cmpd="sng" w="0">
            <a:noFill/>
            <a:prstDash val="solid"/>
            <a:round/>
            <a:headEnd len="med" type="none" w="med"/>
            <a:tailEnd len="med" type="none" w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 lang="en-US">
              <a:solidFill>
                <a:srgbClr val="6A6A6A"/>
              </a:solidFill>
            </a:endParaRPr>
          </a:p>
        </p:txBody>
      </p:sp>
      <p:pic>
        <p:nvPicPr>
          <p:cNvPr descr="cwru formal logo white-rev tag.wmf" id="12" name="Picture 6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46100" y="6018213"/>
            <a:ext cx="2565400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idx="4" sz="quarter" type="sldNum"/>
          </p:nvPr>
        </p:nvSpPr>
        <p:spPr>
          <a:xfrm>
            <a:off x="6944968" y="6297647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10"/>
  </p:sldLayoutIdLst>
  <p:hf dt="0" ftr="0" hdr="0"/>
  <p:txStyles>
    <p:titleStyle>
      <a:lvl1pPr algn="l" defTabSz="457200" eaLnBrk="0" fontAlgn="base" hangingPunct="0" rtl="0">
        <a:spcBef>
          <a:spcPct val="0"/>
        </a:spcBef>
        <a:spcAft>
          <a:spcPct val="0"/>
        </a:spcAft>
        <a:defRPr kern="1200" sz="3400">
          <a:solidFill>
            <a:srgbClr val="6A6A6A"/>
          </a:solidFill>
          <a:latin typeface="TitilliumMaps26L 999 wt"/>
          <a:ea typeface="헤드라인A"/>
          <a:cs typeface="TitilliumMaps26L 999 wt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Tx/>
        <a:buNone/>
        <a:defRPr kern="1200" sz="1800">
          <a:solidFill>
            <a:srgbClr val="6A6A6A"/>
          </a:solidFill>
          <a:latin typeface="TitilliumMaps26L 500 wt"/>
          <a:ea charset="-128" typeface="ＭＳ Ｐゴシック"/>
          <a:cs charset="-128" typeface="ＭＳ Ｐゴシック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Tx/>
        <a:buNone/>
        <a:defRPr kern="1200" sz="16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Tx/>
        <a:buNone/>
        <a:defRPr kern="1200" sz="14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/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Class Notes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In-class live note taking!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Practice Problems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Practice Problems (PP)</a:t>
            </a:r>
            <a:r>
              <a:rPr/>
              <a:t> are essential for strengthening your understanding, building confidence, and exploring the concepts covered in class.</a:t>
            </a:r>
          </a:p>
          <a:p>
            <a:pPr lvl="0"/>
            <a:r>
              <a:rPr/>
              <a:t>The </a:t>
            </a:r>
            <a:r>
              <a:rPr b="1"/>
              <a:t>Unit A Practice Problems</a:t>
            </a:r>
            <a:r>
              <a:rPr/>
              <a:t> will be available under the </a:t>
            </a:r>
            <a:r>
              <a:rPr b="1"/>
              <a:t>Practice Problems</a:t>
            </a:r>
            <a:r>
              <a:rPr/>
              <a:t> tab on the course website soon. The solutions are provided in Canvas.</a:t>
            </a:r>
          </a:p>
          <a:p>
            <a:pPr lvl="0"/>
            <a:r>
              <a:rPr/>
              <a:t>Complete the relevant Practice Problems as we progress through the unit.</a:t>
            </a:r>
          </a:p>
          <a:p>
            <a:pPr lvl="0"/>
            <a:r>
              <a:rPr/>
              <a:t>Make sure you have completed and reviewed the Practice Problems </a:t>
            </a:r>
            <a:r>
              <a:rPr b="1"/>
              <a:t>before attempting the corresponding HW assignment and/or the Exams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Independence of Discrete Random Variables using Conditional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Suppose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two discrete random variables.</a:t>
                </a:r>
              </a:p>
              <a:p>
                <a:pPr lvl="0"/>
                <a:r>
                  <a:rPr/>
                  <a:t>Intuitively,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</a:t>
                </a:r>
                <a:r>
                  <a:rPr b="1"/>
                  <a:t>independent</a:t>
                </a:r>
                <a:r>
                  <a:rPr/>
                  <a:t> if knowing the value of one random variable does not change the probability distribution of the other.</a:t>
                </a:r>
              </a:p>
              <a:p>
                <a:pPr lvl="0"/>
                <a:r>
                  <a:rPr/>
                  <a:t>Using conditional probabilities,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independent if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every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every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y</m:t>
                        </m:r>
                      </m:e>
                    </m:d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Similarly,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every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and every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An equivalent, and often easier, condition is (class)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y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</a:t>
                </a:r>
                <a:r>
                  <a:rPr b="1"/>
                  <a:t>every possible pair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In terms of events, independence means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 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A</m:t>
                          </m:r>
                        </m:e>
                      </m:d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B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all possible sets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Important:</a:t>
                </a:r>
              </a:p>
              <a:p>
                <a:pPr lvl="1"/>
                <a:r>
                  <a:rPr/>
                  <a:t>To show that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</a:t>
                </a:r>
                <a:r>
                  <a:rPr b="1"/>
                  <a:t>not independent</a:t>
                </a:r>
                <a:r>
                  <a:rPr/>
                  <a:t>, we only need to find </a:t>
                </a:r>
                <a:r>
                  <a:rPr b="1"/>
                  <a:t>one case</a:t>
                </a:r>
                <a:r>
                  <a:rPr/>
                  <a:t> where the independence condition fails.</a:t>
                </a:r>
              </a:p>
              <a:p>
                <a:pPr lvl="1"/>
                <a:r>
                  <a:rPr/>
                  <a:t>To establish independence, the condition must hold for </a:t>
                </a:r>
                <a:r>
                  <a:rPr b="1"/>
                  <a:t>all possible values</a:t>
                </a:r>
                <a:r>
                  <a:rPr/>
                  <a:t>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Independence: Supermarket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Recall the supermarket 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number of customers who choose counter 1.</a:t>
                </a:r>
              </a:p>
              <a:p>
                <a:pPr lvl="1"/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number of customers who choose counter 2.</a:t>
                </a:r>
              </a:p>
              <a:p>
                <a:pPr lvl="0"/>
                <a:r>
                  <a:rPr/>
                  <a:t>The joint PMF and marginal PMFs are</a:t>
                </a:r>
              </a:p>
              <a:p>
                <a:pPr lvl="0"/>
                <a:r>
                  <a:rPr/>
                  <a:t>We want to determine whether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independent.</a:t>
                </a:r>
              </a:p>
              <a:p>
                <a:pPr lvl="0"/>
                <a:r>
                  <a:rPr/>
                  <a:t>One way is to examine the conditional distribution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given a particular value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Suppose we know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4</m:t>
                          </m:r>
                        </m:num>
                        <m:den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Independence: Conditional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Using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0</m:t>
                              </m:r>
                            </m:e>
                          </m:d>
                        </m:num>
                        <m:den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get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9</m:t>
                          </m:r>
                        </m:num>
                        <m:den>
                          <m:r>
                            <m:t>4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9</m:t>
                          </m:r>
                        </m:num>
                        <m:den>
                          <m:r>
                            <m:t>4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9</m:t>
                          </m:r>
                        </m:num>
                        <m:den>
                          <m:r>
                            <m:t>4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 given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, the conditional distribution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,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,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But the marginal distribution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4</m:t>
                              </m:r>
                            </m:num>
                            <m:den>
                              <m:r>
                                <m:t>9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,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4</m:t>
                              </m:r>
                            </m:num>
                            <m:den>
                              <m:r>
                                <m:t>9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,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9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For example,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≠</m:t>
                      </m:r>
                      <m:f>
                        <m:fPr>
                          <m:type m:val="bar"/>
                        </m:fPr>
                        <m:num>
                          <m:r>
                            <m:t>4</m:t>
                          </m:r>
                        </m:num>
                        <m:den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X</m:t>
                          </m:r>
                          <m:r>
                            <m:rPr>
                              <m:nor/>
                              <m:sty m:val="p"/>
                            </m:rPr>
                            <m:t> and </m:t>
                          </m:r>
                          <m:r>
                            <m:t>Y</m:t>
                          </m:r>
                          <m:r>
                            <m:rPr>
                              <m:nor/>
                              <m:sty m:val="p"/>
                            </m:rPr>
                            <m:t> are not independent.</m:t>
                          </m:r>
                        </m:e>
                      </m:borderBox>
                    </m:oMath>
                  </m:oMathPara>
                </a14:m>
              </a:p>
              <a:p>
                <a:pPr lvl="0"/>
                <a:r>
                  <a:rPr/>
                  <a:t>Knowing the value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changes the probability distribution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Independence: A Faster Check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We can reach the same conclusion more quickly using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Consider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From the joint PMF,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However,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9</m:t>
                              </m:r>
                            </m:den>
                          </m:f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9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81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≠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Since the independence condition fails for even one pair,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X</m:t>
                          </m:r>
                          <m:r>
                            <m:rPr>
                              <m:nor/>
                              <m:sty m:val="p"/>
                            </m:rPr>
                            <m:t> and </m:t>
                          </m:r>
                          <m:r>
                            <m:t>Y</m:t>
                          </m:r>
                          <m:r>
                            <m:rPr>
                              <m:nor/>
                              <m:sty m:val="p"/>
                            </m:rPr>
                            <m:t> are dependent.</m:t>
                          </m:r>
                        </m:e>
                      </m:borderBox>
                    </m:oMath>
                  </m:oMathPara>
                </a14:m>
              </a:p>
              <a:p>
                <a:pPr lvl="0"/>
                <a:r>
                  <a:rPr/>
                  <a:t>This also makes intuitive sense.</a:t>
                </a:r>
              </a:p>
              <a:p>
                <a:pPr lvl="0"/>
                <a:r>
                  <a:rPr/>
                  <a:t>If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/>
                  <a:t>, then </a:t>
                </a:r>
                <a:r>
                  <a:rPr b="1"/>
                  <a:t>both customers chose counter 2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Therefore, it is impossible for either customer to have chosen counter 1, so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Thus, knowing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tells us something about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Independence: Another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Suppose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have the following joint PMF:</a:t>
                </a:r>
              </a:p>
              <a:p>
                <a:pPr lvl="0"/>
                <a:r>
                  <a:rPr/>
                  <a:t>We want to determine whether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independent.</a:t>
                </a:r>
              </a:p>
              <a:p>
                <a:pPr lvl="0"/>
                <a:r>
                  <a:rPr/>
                  <a:t>The easiest way is to check whether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every possible pair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Independence: Checking the Joint PMF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For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16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8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16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For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/>
                  <a:t>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3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</m:num>
                        <m:den>
                          <m:r>
                            <m:t>16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3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</m:num>
                        <m:den>
                          <m:r>
                            <m:t>8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3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</m:num>
                        <m:den>
                          <m:r>
                            <m:t>16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 relationship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holds for </a:t>
                </a:r>
                <a:r>
                  <a:rPr b="1"/>
                  <a:t>every possible pair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X</m:t>
                          </m:r>
                          <m:r>
                            <m:rPr>
                              <m:nor/>
                              <m:sty m:val="p"/>
                            </m:rPr>
                            <m:t> and </m:t>
                          </m:r>
                          <m:r>
                            <m:t>Y</m:t>
                          </m:r>
                          <m:r>
                            <m:rPr>
                              <m:nor/>
                              <m:sty m:val="p"/>
                            </m:rPr>
                            <m:t> are independent.</m:t>
                          </m:r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Independence: Conditional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We can also see the meaning of independence using conditional probabilities.</a:t>
                </a:r>
              </a:p>
              <a:p>
                <a:pPr lvl="0"/>
                <a:r>
                  <a:rPr/>
                  <a:t>Suppose we are told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Since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have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1</m:t>
                              </m:r>
                            </m:e>
                          </m:d>
                        </m:num>
                        <m:den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16</m:t>
                          </m:r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But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Similarly,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16</m:t>
                          </m:r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</m:num>
                        <m:den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Thus, knowing that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does </a:t>
                </a:r>
                <a:r>
                  <a:rPr b="1"/>
                  <a:t>not change the distribution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This is the intuitive meaning of independence.</a:t>
                </a:r>
              </a:p>
              <a:p>
                <a:pPr lvl="0"/>
                <a:r>
                  <a:rPr/>
                  <a:t>We already established independence by verifying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every possible pair.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Independence: Events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Independence also applies to events involving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Consider the events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&gt;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}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&lt;</m:t>
                      </m:r>
                      <m:r>
                        <m:t>3</m:t>
                      </m:r>
                      <m:r>
                        <m:rPr>
                          <m:sty m:val="p"/>
                        </m:rPr>
                        <m:t>}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First,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&gt;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 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&lt;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&gt;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 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&lt;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</m:num>
                        <m:den>
                          <m:r>
                            <m:t>16</m:t>
                          </m:r>
                        </m:den>
                      </m:f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</m:num>
                        <m:den>
                          <m:r>
                            <m:t>8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9</m:t>
                          </m:r>
                        </m:num>
                        <m:den>
                          <m:r>
                            <m:t>16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Also,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&gt;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</m:num>
                        <m:den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&lt;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</m:num>
                        <m:den>
                          <m: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&gt;</m:t>
                          </m:r>
                          <m:r>
                            <m:t>1</m:t>
                          </m:r>
                        </m:e>
                      </m:d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&lt;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3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3</m:t>
                              </m:r>
                            </m:num>
                            <m:den>
                              <m: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9</m:t>
                          </m:r>
                        </m:num>
                        <m:den>
                          <m:r>
                            <m:t>16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Hence,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&gt;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 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&lt;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&gt;</m:t>
                          </m:r>
                          <m:r>
                            <m:t>1</m:t>
                          </m:r>
                        </m:e>
                      </m:d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&lt;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This is consistent with the fact that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independent.</a:t>
                </a:r>
              </a:p>
              <a:p>
                <a:pPr lvl="0"/>
                <a:r>
                  <a:rPr b="1"/>
                  <a:t>Remember:</a:t>
                </a:r>
                <a:r>
                  <a:rPr/>
                  <a:t> checking only one pair of events is not enough by itself to establish independence. Independence requires the relationship to hold for all relevant values or events.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Expected Value of a Function of Two Random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be two discrete random variables with joint PMF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 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If </a:t>
                </a:r>
                <a14:m>
                  <m:oMath xmlns:m="http://schemas.openxmlformats.org/officeDocument/2006/math">
                    <m:r>
                      <m:t>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 is a function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, 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Y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x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y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t>g</m:t>
                                  </m:r>
                                </m:e>
                              </m:nary>
                            </m:e>
                          </m:nary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</m:e>
                          </m:d>
                          <m: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</a:p>
              <a:p>
                <a:pPr lvl="0"/>
                <a:r>
                  <a:rPr/>
                  <a:t>In words, multiply each possible value of </a:t>
                </a:r>
                <a14:m>
                  <m:oMath xmlns:m="http://schemas.openxmlformats.org/officeDocument/2006/math">
                    <m:r>
                      <m:t>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 by the probability associated with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, and then add over all possible pairs.</a:t>
                </a:r>
              </a:p>
              <a:p>
                <a:pPr lvl="0"/>
                <a:r>
                  <a:rPr/>
                  <a:t>A particularly important case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X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x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y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t>x</m:t>
                                  </m:r>
                                </m:e>
                              </m:nary>
                            </m:e>
                          </m:nary>
                          <m:r>
                            <m:t>y</m:t>
                          </m:r>
                          <m:r>
                            <m:t> </m:t>
                          </m:r>
                          <m: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Expected Values: Supermarket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Recall the supermarket 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number of customers who choose counter 1.</a:t>
                </a:r>
              </a:p>
              <a:p>
                <a:pPr lvl="1"/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number of customers who choose counter 2.</a:t>
                </a:r>
              </a:p>
              <a:p>
                <a:pPr lvl="0"/>
                <a:r>
                  <a:rPr/>
                  <a:t>The joint PMF and marginal PMFs are</a:t>
                </a:r>
              </a:p>
              <a:p>
                <a:pPr lvl="0"/>
                <a:r>
                  <a:rPr/>
                  <a:t>First, find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Using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x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y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x</m:t>
                              </m:r>
                            </m:e>
                          </m:nary>
                        </m:e>
                      </m:nary>
                      <m:r>
                        <m:t>y</m:t>
                      </m:r>
                      <m:r>
                        <m:t> 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examine each possible pair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Whenever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or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, the product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Also,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 the only nonzero contribution comes from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Placeholder 1"/>
              <p:cNvSpPr>
                <a:spLocks noGrp="1"/>
              </p:cNvSpPr>
              <p:nvPr>
                <p:ph type="title"/>
              </p:nvPr>
            </p:nvSpPr>
            <p:spPr bwMode="auto">
              <a:xfrm>
                <a:off x="433680" y="423297"/>
                <a:ext cx="8229600" cy="7846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Expected Values: Calculating </a:t>
                </a:r>
                <a14:m>
                  <m:oMath xmlns:m="http://schemas.openxmlformats.org/officeDocument/2006/math">
                    <m: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t>Y</m:t>
                        </m:r>
                      </m:e>
                    </m:d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Thus,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  <m:r>
                                  <m:t>Y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</m:t>
                                </m:r>
                              </m:e>
                            </m:d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9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2</m:t>
                                </m:r>
                              </m:num>
                              <m:den>
                                <m:r>
                                  <m:t>9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2</m:t>
                                </m:r>
                              </m:e>
                            </m:d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9</m:t>
                                </m:r>
                              </m:den>
                            </m:f>
                          </m:e>
                        </m:mr>
                        <m:mr>
                          <m:e/>
                          <m:e>
                            <m:r>
                              <m:t> 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</m:t>
                                </m:r>
                              </m:e>
                            </m:d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2</m:t>
                                </m:r>
                              </m:num>
                              <m:den>
                                <m:r>
                                  <m:t>9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2</m:t>
                                </m:r>
                              </m:num>
                              <m:den>
                                <m:r>
                                  <m:t>9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2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t> 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2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</m:t>
                                </m:r>
                              </m:e>
                            </m:d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9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2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2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2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2</m:t>
                              </m:r>
                            </m:num>
                            <m:den>
                              <m:r>
                                <m:t>9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borderBox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2</m:t>
                              </m:r>
                            </m:num>
                            <m:den>
                              <m:r>
                                <m:t>9</m:t>
                              </m:r>
                            </m:den>
                          </m:f>
                        </m:e>
                      </m:borderBox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Placeholder 1"/>
              <p:cNvSpPr>
                <a:spLocks noGrp="1"/>
              </p:cNvSpPr>
              <p:nvPr>
                <p:ph type="title"/>
              </p:nvPr>
            </p:nvSpPr>
            <p:spPr bwMode="auto">
              <a:xfrm>
                <a:off x="433680" y="423297"/>
                <a:ext cx="8229600" cy="7846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Expected Values: Calculating </a:t>
                </a:r>
                <a14:m>
                  <m:oMath xmlns:m="http://schemas.openxmlformats.org/officeDocument/2006/math">
                    <m: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We can calculate </a:t>
                </a:r>
                <a14:m>
                  <m:oMath xmlns:m="http://schemas.openxmlformats.org/officeDocument/2006/math">
                    <m: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directly from the </a:t>
                </a:r>
                <a:r>
                  <a:rPr b="1"/>
                  <a:t>marginal PMF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Recall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4</m:t>
                          </m:r>
                        </m:num>
                        <m:den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4</m:t>
                          </m:r>
                        </m:num>
                        <m:den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n"/>
                              </m:naryPr>
                              <m:sub>
                                <m:r>
                                  <m:t>x</m:t>
                                </m:r>
                              </m:sub>
                              <m:sup>
                                <m:r>
                                  <m:t>​</m:t>
                                </m:r>
                              </m:sup>
                              <m:e>
                                <m:r>
                                  <m:t>x</m:t>
                                </m:r>
                              </m:e>
                            </m:nary>
                            <m:r>
                              <m:t> </m:t>
                            </m:r>
                            <m:sSub>
                              <m:e>
                                <m:r>
                                  <m:t>p</m:t>
                                </m:r>
                              </m:e>
                              <m:sub>
                                <m:r>
                                  <m:t>X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0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4</m:t>
                                    </m:r>
                                  </m:num>
                                  <m:den>
                                    <m:r>
                                      <m:t>9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4</m:t>
                                    </m:r>
                                  </m:num>
                                  <m:den>
                                    <m:r>
                                      <m:t>9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1</m:t>
                                    </m:r>
                                  </m:num>
                                  <m:den>
                                    <m:r>
                                      <m:t>9</m:t>
                                    </m:r>
                                  </m:den>
                                </m:f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6</m:t>
                                </m:r>
                              </m:num>
                              <m:den>
                                <m:r>
                                  <m:t>9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=</m:t>
                            </m:r>
                            <m:borderBox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2</m:t>
                                    </m:r>
                                  </m:num>
                                  <m:den>
                                    <m:r>
                                      <m:t>3</m:t>
                                    </m:r>
                                  </m:den>
                                </m:f>
                              </m:e>
                            </m:borderBox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By symmetry,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We could also calculate </a:t>
                </a:r>
                <a14:m>
                  <m:oMath xmlns:m="http://schemas.openxmlformats.org/officeDocument/2006/math">
                    <m: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from the joint PMF: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x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y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x</m:t>
                              </m:r>
                            </m:e>
                          </m:nary>
                        </m:e>
                      </m:nary>
                      <m:r>
                        <m:t> 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but using the marginal PMF is usually simpler.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Properties of Expected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Property 1: Expected value of a constant</a:t>
                </a:r>
              </a:p>
              <a:p>
                <a:pPr lvl="0"/>
                <a:r>
                  <a:rPr/>
                  <a:t>If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is a constant, 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c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c</m:t>
                          </m:r>
                          <m:r>
                            <m:rPr>
                              <m:sty m:val="p"/>
                            </m:rPr>
                            <m:t>.</m:t>
                          </m:r>
                        </m:e>
                      </m:borderBox>
                    </m:oMath>
                  </m:oMathPara>
                </a14:m>
              </a:p>
              <a:p>
                <a:pPr lvl="0"/>
                <a:r>
                  <a:rPr/>
                  <a:t>A constant does not vary, so its average value is simply the constant itself.</a:t>
                </a:r>
              </a:p>
              <a:p>
                <a:pPr lvl="0"/>
                <a:r>
                  <a:rPr b="1"/>
                  <a:t>Property 2: Multiplying by a constant</a:t>
                </a:r>
              </a:p>
              <a:p>
                <a:pPr lvl="0"/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 be any function of the random variables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, and let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be a constant.</a:t>
                </a:r>
              </a:p>
              <a:p>
                <a:pPr lvl="0"/>
                <a:r>
                  <a:rPr/>
                  <a:t>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c</m:t>
                              </m:r>
                              <m:r>
                                <m:t> </m:t>
                              </m:r>
                              <m: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Y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c</m:t>
                          </m:r>
                          <m: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Y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m:t>.</m:t>
                          </m:r>
                        </m:e>
                      </m:borderBox>
                    </m:oMath>
                  </m:oMathPara>
                </a14:m>
              </a:p>
              <a:p>
                <a:pPr lvl="0"/>
                <a:r>
                  <a:rPr/>
                  <a:t>The constant can be taken outside the expected value.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Properties of Expected Values: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From the supermarket example, we found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Find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4</m:t>
                          </m:r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Using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c</m:t>
                          </m:r>
                          <m:r>
                            <m:t> </m:t>
                          </m:r>
                          <m: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c</m:t>
                      </m:r>
                      <m: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obtain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4</m:t>
                                </m:r>
                                <m:r>
                                  <m:t>X</m:t>
                                </m:r>
                                <m:r>
                                  <m:t>Y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4</m:t>
                            </m:r>
                            <m: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  <m:r>
                                  <m:t>Y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4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2</m:t>
                                    </m:r>
                                  </m:num>
                                  <m:den>
                                    <m:r>
                                      <m:t>9</m:t>
                                    </m:r>
                                  </m:den>
                                </m:f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borderBox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8</m:t>
                                    </m:r>
                                  </m:num>
                                  <m:den>
                                    <m:r>
                                      <m:t>9</m:t>
                                    </m:r>
                                  </m:den>
                                </m:f>
                              </m:e>
                            </m:borderBox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We do </a:t>
                </a:r>
                <a:r>
                  <a:rPr b="1"/>
                  <a:t>not</a:t>
                </a:r>
                <a:r>
                  <a:rPr/>
                  <a:t> need to calculate the entire sum again.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Expected Values and Independence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Suppose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</a:t>
                </a:r>
                <a:r>
                  <a:rPr b="1"/>
                  <a:t>independent</a:t>
                </a:r>
                <a:r>
                  <a:rPr/>
                  <a:t> random variables.</a:t>
                </a:r>
              </a:p>
              <a:p>
                <a:pPr lvl="0"/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 be a function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 be a function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  <m: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Y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</m:e>
                          </m:d>
                          <m: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Y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m:t>.</m:t>
                          </m:r>
                        </m:e>
                      </m:borderBox>
                    </m:oMath>
                  </m:oMathPara>
                </a14:m>
              </a:p>
              <a:p>
                <a:pPr lvl="0"/>
                <a:r>
                  <a:rPr/>
                  <a:t>A particularly important special case occurs when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X</m:t>
                      </m:r>
                      <m:r>
                        <m:t>  </m:t>
                      </m:r>
                      <m:r>
                        <m:rPr>
                          <m:nor/>
                          <m:sty m:val="p"/>
                        </m:rPr>
                        <m:t>and</m:t>
                      </m:r>
                      <m:r>
                        <m:t>  </m:t>
                      </m:r>
                      <m: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 if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independent,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  <m: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.</m:t>
                          </m:r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Expected Values and Independence: Important Note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Independence gives us the implication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nor/>
                          <m:sty m:val="p"/>
                        </m:rPr>
                        <m:t> and </m:t>
                      </m:r>
                      <m:r>
                        <m:t>Y</m:t>
                      </m:r>
                      <m:r>
                        <m:rPr>
                          <m:nor/>
                          <m:sty m:val="p"/>
                        </m:rPr>
                        <m:t> independent</m:t>
                      </m:r>
                      <m:r>
                        <m:t> 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 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 if we find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≠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then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</a:t>
                </a:r>
                <a:r>
                  <a:rPr b="1"/>
                  <a:t>cannot be independent</a:t>
                </a:r>
                <a:r>
                  <a:rPr/>
                  <a:t>.</a:t>
                </a:r>
              </a:p>
              <a:p>
                <a:pPr lvl="0"/>
                <a:r>
                  <a:rPr/>
                  <a:t>However, the reverse is not generally true.</a:t>
                </a:r>
              </a:p>
              <a:p>
                <a:pPr lvl="0"/>
                <a:r>
                  <a:rPr/>
                  <a:t>It is possible for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even when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</a:t>
                </a:r>
                <a:r>
                  <a:rPr b="1"/>
                  <a:t>not independent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by itself is </a:t>
                </a:r>
                <a:r>
                  <a:rPr b="1"/>
                  <a:t>not enough to prove independence</a:t>
                </a:r>
                <a:r>
                  <a:rPr/>
                  <a:t>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Expected Values and Independence: Supermarket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For the supermarket example, we found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We also found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2</m:t>
                              </m:r>
                            </m:num>
                            <m:den>
                              <m:r>
                                <m:t>3</m:t>
                              </m:r>
                            </m:den>
                          </m:f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2</m:t>
                              </m:r>
                            </m:num>
                            <m:den>
                              <m:r>
                                <m:t>3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4</m:t>
                          </m:r>
                        </m:num>
                        <m:den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But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≠</m:t>
                      </m:r>
                      <m:f>
                        <m:fPr>
                          <m:type m:val="bar"/>
                        </m:fPr>
                        <m:num>
                          <m:r>
                            <m:t>4</m:t>
                          </m:r>
                        </m:num>
                        <m:den>
                          <m: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Hence,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≠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X</m:t>
                          </m:r>
                          <m:r>
                            <m:rPr>
                              <m:nor/>
                              <m:sty m:val="p"/>
                            </m:rPr>
                            <m:t> and </m:t>
                          </m:r>
                          <m:r>
                            <m:t>Y</m:t>
                          </m:r>
                          <m:r>
                            <m:rPr>
                              <m:nor/>
                              <m:sty m:val="p"/>
                            </m:rPr>
                            <m:t> are not independent.</m:t>
                          </m:r>
                        </m:e>
                      </m:borderBox>
                    </m:oMath>
                  </m:oMathPara>
                </a14:m>
              </a:p>
              <a:p>
                <a:pPr lvl="0"/>
                <a:r>
                  <a:rPr/>
                  <a:t>This agrees with what we already found from the joint PMF and conditional probabilities.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CWRU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Case Option 1.pot</Template>
  <TotalTime>9492</TotalTime>
  <Words>84</Words>
  <Application>Microsoft Macintosh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TitilliumMaps26L 500 wt</vt:lpstr>
      <vt:lpstr>TitilliumMaps26L 999 wt</vt:lpstr>
      <vt:lpstr>CWRU Master</vt:lpstr>
      <vt:lpstr>Random Variable</vt:lpstr>
    </vt:vector>
  </TitlesOfParts>
  <Company>L.A. graphics,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A: Joint Probability Distribution</dc:title>
  <dc:creator/>
  <cp:keywords/>
  <dcterms:created xsi:type="dcterms:W3CDTF">2026-10-26T13:52:39Z</dcterms:created>
  <dcterms:modified xsi:type="dcterms:W3CDTF">2026-10-26T13:52:39Z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Instructor: Dr. Md Mutasim Billah</vt:lpwstr>
  </property>
  <property fmtid="{D5CDD505-2E9C-101B-9397-08002B2CF9AE}" pid="9" name="toc-title">
    <vt:lpwstr>Table of contents</vt:lpwstr>
  </property>
</Properties>
</file>