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6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5" Type="http://schemas.openxmlformats.org/officeDocument/2006/relationships/theme" Target="theme/theme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In-class live note taking!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A Practice Problems</a:t>
            </a:r>
            <a:r>
              <a:rPr/>
              <a:t> will be available under the </a:t>
            </a:r>
            <a:r>
              <a:rPr b="1"/>
              <a:t>Practice Problems</a:t>
            </a:r>
            <a:r>
              <a:rPr/>
              <a:t> tab on the course website soon.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 and/or the Exams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 of Discrete Random Variables using Conditional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two discrete random variables.</a:t>
                </a:r>
              </a:p>
              <a:p>
                <a:pPr lvl="0"/>
                <a:r>
                  <a:rPr/>
                  <a:t>Intuitively,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if knowing the value of one random variable does not change the probability distribution of the other.</a:t>
                </a:r>
              </a:p>
              <a:p>
                <a:pPr lvl="0"/>
                <a:r>
                  <a:rPr/>
                  <a:t>Using conditional probabilities,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Y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and every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such that </a:t>
                </a:r>
                <a14:m>
                  <m:oMath xmlns:m="http://schemas.openxmlformats.org/officeDocument/2006/math">
                    <m:sSub>
                      <m:e>
                        <m:r>
                          <m:t>p</m:t>
                        </m:r>
                      </m:e>
                      <m:sub>
                        <m:r>
                          <m:t>X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An equivalent, and often easier, condition is (class)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In terms of events, independence means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B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all possible sets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Important:</a:t>
                </a:r>
              </a:p>
              <a:p>
                <a:pPr lvl="1"/>
                <a:r>
                  <a:rPr/>
                  <a:t>To show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, we only need to find </a:t>
                </a:r>
                <a:r>
                  <a:rPr b="1"/>
                  <a:t>one case</a:t>
                </a:r>
                <a:r>
                  <a:rPr/>
                  <a:t> where the independence condition fails.</a:t>
                </a:r>
              </a:p>
              <a:p>
                <a:pPr lvl="1"/>
                <a:r>
                  <a:rPr/>
                  <a:t>To establish independence, the condition must hold for </a:t>
                </a:r>
                <a:r>
                  <a:rPr b="1"/>
                  <a:t>all possible values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One way is to examine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given a particular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Suppose we know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0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num>
                        <m:den>
                          <m:r>
                            <m:t>4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given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conditional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 the marginal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4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m:t>,</m:t>
                          </m:r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example,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Knowing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changes the probability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 Faster 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reach the same conclusion more quickly 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Consider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From the joint PMF,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However,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the independence condition fails for even one pair,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also makes intuitive sense.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 then </a:t>
                </a:r>
                <a:r>
                  <a:rPr b="1"/>
                  <a:t>both customers chose counter 2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it is impossible for either customer to have chosen counter 1, so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tells us something about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Another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have the following joint PMF:</a:t>
                </a:r>
              </a:p>
              <a:p>
                <a:pPr lvl="0"/>
                <a:r>
                  <a:rPr/>
                  <a:t>We want to determine whether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/>
                  <a:t>The easiest way is to check whether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Checking the Joint PMF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For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relationship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holds for </a:t>
                </a:r>
                <a:r>
                  <a:rPr b="1"/>
                  <a:t>every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independent.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Conditional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also see the meaning of independence using conditional probabilities.</a:t>
                </a:r>
              </a:p>
              <a:p>
                <a:pPr lvl="0"/>
                <a:r>
                  <a:rPr/>
                  <a:t>Suppose we are told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have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1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16</m:t>
                          </m:r>
                        </m:num>
                        <m:den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knowing that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 does </a:t>
                </a:r>
                <a:r>
                  <a:rPr b="1"/>
                  <a:t>not change the distribution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This is the intuitive meaning of independence.</a:t>
                </a:r>
              </a:p>
              <a:p>
                <a:pPr lvl="0"/>
                <a:r>
                  <a:rPr/>
                  <a:t>We already established independence by verifying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every possible pair.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Independence: Events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also applies to events involving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Consider the events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First,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8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Y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</m:t>
                          </m:r>
                        </m:num>
                        <m:den>
                          <m:r>
                            <m:t>4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3</m:t>
                              </m:r>
                            </m:num>
                            <m:den>
                              <m:r>
                                <m:t>4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9</m:t>
                          </m:r>
                        </m:num>
                        <m:den>
                          <m:r>
                            <m:t>16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r>
                            <m:t>1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This is consistent with the fact that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independent.</a:t>
                </a:r>
              </a:p>
              <a:p>
                <a:pPr lvl="0"/>
                <a:r>
                  <a:rPr b="1"/>
                  <a:t>Remember:</a:t>
                </a:r>
                <a:r>
                  <a:rPr/>
                  <a:t> checking only one pair of events is not enough by itself to establish independence. Independence requires the relationship to hold for all relevant values or events.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 of a Function of Two Random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be two discrete random variables with joint PMF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 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is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In words, multiply each possible value of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by the probability associated with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, and then add over all possible pairs.</a:t>
                </a:r>
              </a:p>
              <a:p>
                <a:pPr lvl="0"/>
                <a:r>
                  <a:rPr/>
                  <a:t>A particularly important case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x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y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x</m:t>
                                  </m:r>
                                </m:e>
                              </m:nary>
                            </m:e>
                          </m:nary>
                          <m:r>
                            <m:t>y</m:t>
                          </m:r>
                          <m:r>
                            <m:t> 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the supermarket example: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1.</a:t>
                </a:r>
              </a:p>
              <a:p>
                <a:pPr lvl="1"/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number of customers who choose counter 2.</a:t>
                </a:r>
              </a:p>
              <a:p>
                <a:pPr lvl="0"/>
                <a:r>
                  <a:rPr/>
                  <a:t>The joint PMF and marginal PMFs are</a:t>
                </a:r>
              </a:p>
              <a:p>
                <a:pPr lvl="0"/>
                <a:r>
                  <a:rPr/>
                  <a:t>First,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y</m:t>
                      </m:r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examine each possible pair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Whenever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the product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Also,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only nonzero contribution comes from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t>Y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Thus,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2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t> 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2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borderBox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9</m:t>
                              </m:r>
                            </m:den>
                          </m:f>
                        </m:e>
                      </m:borderBox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Placeholder 1"/>
              <p:cNvSpPr>
                <a:spLocks noGrp="1"/>
              </p:cNvSpPr>
              <p:nvPr>
                <p:ph type="title"/>
              </p:nvPr>
            </p:nvSpPr>
            <p:spPr bwMode="auto">
              <a:xfrm>
                <a:off x="433680" y="423297"/>
                <a:ext cx="8229600" cy="7846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Expected Values: Calculating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can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directly from the </a:t>
                </a:r>
                <a:r>
                  <a:rPr b="1"/>
                  <a:t>marginal PMF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Recall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p</m:t>
                          </m:r>
                        </m:e>
                        <m:sub>
                          <m:r>
                            <m:t>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n"/>
                              </m:naryPr>
                              <m:sub>
                                <m:r>
                                  <m:t>x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x</m:t>
                                </m:r>
                              </m:e>
                            </m:nary>
                            <m:r>
                              <m:t> </m:t>
                            </m:r>
                            <m:sSub>
                              <m:e>
                                <m:r>
                                  <m:t>p</m:t>
                                </m:r>
                              </m:e>
                              <m:sub>
                                <m:r>
                                  <m:t>X</m:t>
                                </m:r>
                              </m:sub>
                            </m:sSub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0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4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2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1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6</m:t>
                                </m:r>
                              </m:num>
                              <m:den>
                                <m:r>
                                  <m:t>9</m:t>
                                </m:r>
                              </m:den>
                            </m:f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3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By symmetry,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could also calculate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from the joint PMF: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x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y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x</m:t>
                              </m:r>
                            </m:e>
                          </m:nary>
                        </m:e>
                      </m:nary>
                      <m:r>
                        <m:t> 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using the marginal PMF is usually simpler.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Property 1: Expected value of a constant</a:t>
                </a:r>
              </a:p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is a constant,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c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constant does not vary, so its average value is simply the constant itself.</a:t>
                </a:r>
              </a:p>
              <a:p>
                <a:pPr lvl="0"/>
                <a:r>
                  <a:rPr b="1"/>
                  <a:t>Property 2: Multiplying by a constant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be any function of the random variables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, and let </a:t>
                </a:r>
                <a14:m>
                  <m:oMath xmlns:m="http://schemas.openxmlformats.org/officeDocument/2006/math">
                    <m:r>
                      <m:t>c</m:t>
                    </m:r>
                  </m:oMath>
                </a14:m>
                <a:r>
                  <a:rPr/>
                  <a:t> be a constant.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c</m:t>
                              </m:r>
                              <m:r>
                                <m:t> </m:t>
                              </m:r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c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constant can be taken outside the expected value.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Properties of Expected Values: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From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4</m:t>
                          </m:r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c</m:t>
                          </m:r>
                          <m:r>
                            <m:t> 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c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4</m:t>
                                </m:r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r>
                              <m:t>E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X</m:t>
                                </m:r>
                                <m:r>
                                  <m:t>Y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4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2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borderBox>
                              <m:e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8</m:t>
                                    </m:r>
                                  </m:num>
                                  <m:den>
                                    <m:r>
                                      <m:t>9</m:t>
                                    </m:r>
                                  </m:den>
                                </m:f>
                              </m:e>
                            </m:borderBox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We do </a:t>
                </a:r>
                <a:r>
                  <a:rPr b="1"/>
                  <a:t>not</a:t>
                </a:r>
                <a:r>
                  <a:rPr/>
                  <a:t> need to calculate the entire sum again.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 random variables.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be a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g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h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</m:e>
                              </m:d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A particularly important special case occurs when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X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  </m:t>
                      </m:r>
                      <m:r>
                        <m:t>h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independent,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Important Note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Independence gives us the implication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nor/>
                          <m:sty m:val="p"/>
                        </m:rPr>
                        <m:t> and </m:t>
                      </m:r>
                      <m:r>
                        <m:t>Y</m:t>
                      </m:r>
                      <m:r>
                        <m:rPr>
                          <m:nor/>
                          <m:sty m:val="p"/>
                        </m:rPr>
                        <m:t> independent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if we find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</a:t>
                </a:r>
                <a:r>
                  <a:rPr b="1"/>
                  <a:t>cannot be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However, the reverse is not generally true.</a:t>
                </a:r>
              </a:p>
              <a:p>
                <a:pPr lvl="0"/>
                <a:r>
                  <a:rPr/>
                  <a:t>It is possible for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even when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 </a:t>
                </a:r>
                <a:r>
                  <a:rPr b="1"/>
                  <a:t>not 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by itself is </a:t>
                </a:r>
                <a:r>
                  <a:rPr b="1"/>
                  <a:t>not enough to prove independence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Expected Values and Independence: Supermarket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For the supermarket example, we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We also found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2</m:t>
                              </m:r>
                            </m:num>
                            <m:den>
                              <m:r>
                                <m:t>3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≠</m:t>
                      </m:r>
                      <m:f>
                        <m:fPr>
                          <m:type m:val="bar"/>
                        </m:fPr>
                        <m:num>
                          <m:r>
                            <m:t>4</m:t>
                          </m:r>
                        </m:num>
                        <m:den>
                          <m:r>
                            <m:t>9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X</m:t>
                          </m:r>
                          <m:r>
                            <m:rPr>
                              <m:nor/>
                              <m:sty m:val="p"/>
                            </m:rPr>
                            <m:t> and </m:t>
                          </m:r>
                          <m:r>
                            <m:t>Y</m:t>
                          </m:r>
                          <m:r>
                            <m:rPr>
                              <m:nor/>
                              <m:sty m:val="p"/>
                            </m:rPr>
                            <m:t> are not independent.</m:t>
                          </m:r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This agrees with what we already found from the joint PMF and conditional probabilities.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A: Joint Probability Distribution</dc:title>
  <dc:creator/>
  <cp:keywords/>
  <dcterms:created xsi:type="dcterms:W3CDTF">2026-10-09T14:18:04Z</dcterms:created>
  <dcterms:modified xsi:type="dcterms:W3CDTF">2026-10-09T14:18:04Z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