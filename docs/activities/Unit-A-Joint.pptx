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wmf" ContentType="image/x-wmf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2.xml" ContentType="application/vnd.openxmlformats-officedocument.theme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</p:sldIdLst>
  <p:sldSz cx="9144000" cy="6858000" type="screen4x3"/>
  <p:notesSz cx="6858000" cy="9144000"/>
  <p:defaultTextStyle>
    <a:defPPr>
      <a:defRPr lang="en-US"/>
    </a:defPPr>
    <a:lvl1pPr algn="l" defTabSz="457200" fontAlgn="base" rtl="0">
      <a:spcBef>
        <a:spcPct val="0"/>
      </a:spcBef>
      <a:spcAft>
        <a:spcPct val="0"/>
      </a:spcAft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1pPr>
    <a:lvl2pPr algn="l" defTabSz="457200" fontAlgn="base" marL="457200" rtl="0">
      <a:spcBef>
        <a:spcPct val="0"/>
      </a:spcBef>
      <a:spcAft>
        <a:spcPct val="0"/>
      </a:spcAft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2pPr>
    <a:lvl3pPr algn="l" defTabSz="457200" fontAlgn="base" marL="914400" rtl="0">
      <a:spcBef>
        <a:spcPct val="0"/>
      </a:spcBef>
      <a:spcAft>
        <a:spcPct val="0"/>
      </a:spcAft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3pPr>
    <a:lvl4pPr algn="l" defTabSz="457200" fontAlgn="base" marL="1371600" rtl="0">
      <a:spcBef>
        <a:spcPct val="0"/>
      </a:spcBef>
      <a:spcAft>
        <a:spcPct val="0"/>
      </a:spcAft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4pPr>
    <a:lvl5pPr algn="l" defTabSz="457200" fontAlgn="base" marL="1828800" rtl="0">
      <a:spcBef>
        <a:spcPct val="0"/>
      </a:spcBef>
      <a:spcAft>
        <a:spcPct val="0"/>
      </a:spcAft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5pPr>
    <a:lvl6pPr algn="l" defTabSz="457200" eaLnBrk="1" hangingPunct="1" latinLnBrk="0" marL="2286000" rtl="0"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6pPr>
    <a:lvl7pPr algn="l" defTabSz="457200" eaLnBrk="1" hangingPunct="1" latinLnBrk="0" marL="2743200" rtl="0"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7pPr>
    <a:lvl8pPr algn="l" defTabSz="457200" eaLnBrk="1" hangingPunct="1" latinLnBrk="0" marL="3200400" rtl="0"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8pPr>
    <a:lvl9pPr algn="l" defTabSz="457200" eaLnBrk="1" hangingPunct="1" latinLnBrk="0" marL="3657600" rtl="0"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123A59"/>
    <a:srgbClr val="6A6A6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D7AC3CCA-C797-4891-BE02-D94E43425B78}" styleName="Medium Style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 w="12700" cmpd="sng">
              <a:solidFill>
                <a:schemeClr val="dk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dk1">
              <a:tint val="20000"/>
            </a:schemeClr>
          </a:solidFill>
        </a:fill>
      </a:tcStyle>
    </a:firstRow>
  </a:tblStyle>
  <a:tblStyle styleId="{91EBBBCC-DAD2-459C-BE2E-F6DE35CF9A28}" styleName="Dark Style 2 - Accent 3/Accent 4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accent3">
              <a:tint val="20000"/>
            </a:schemeClr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4439"/>
    <p:restoredTop sz="94678"/>
  </p:normalViewPr>
  <p:slideViewPr>
    <p:cSldViewPr snapToGrid="0" snapToObjects="1">
      <p:cViewPr varScale="1">
        <p:scale>
          <a:sx d="100" n="150"/>
          <a:sy d="100" n="150"/>
        </p:scale>
        <p:origin x="3000" y="176"/>
      </p:cViewPr>
      <p:guideLst>
        <p:guide orient="horz" pos="2160"/>
        <p:guide pos="2880"/>
      </p:guideLst>
    </p:cSldViewPr>
  </p:slideViewPr>
  <p:notesTextViewPr>
    <p:cViewPr>
      <p:scale>
        <a:sx d="100" n="100"/>
        <a:sy d="100" n="100"/>
      </p:scale>
      <p:origin x="0" y="0"/>
    </p:cViewPr>
  </p:notesTextViewPr>
  <p:sorterViewPr>
    <p:cViewPr>
      <p:scale>
        <a:sx d="100" n="66"/>
        <a:sy d="100" n="66"/>
      </p:scale>
      <p:origin x="0" y="0"/>
    </p:cViewPr>
  </p:sorter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6" Type="http://schemas.openxmlformats.org/officeDocument/2006/relationships/tableStyles" Target="tableStyles.xml" /><Relationship Id="rId1" Type="http://schemas.openxmlformats.org/officeDocument/2006/relationships/slideMaster" Target="slideMasters/slideMaster1.xml" /><Relationship Id="rId25" Type="http://schemas.openxmlformats.org/officeDocument/2006/relationships/theme" Target="theme/theme1.xml" /><Relationship Id="rId24" Type="http://schemas.openxmlformats.org/officeDocument/2006/relationships/viewProps" Target="viewProps.xml" /><Relationship Id="rId23" Type="http://schemas.openxmlformats.org/officeDocument/2006/relationships/presProps" Target="presProps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7C0B1DB7-FFDC-5E16-20CA-37B54B3A912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365125"/>
            <a:ext cx="7886700" cy="1325563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0" numCol="1" anchor="t" anchorCtr="0" compatLnSpc="1">
            <a:prstTxWarp prst="textNoShape">
              <a:avLst/>
            </a:prstTxWarp>
          </a:bodyPr>
          <a:lstStyle>
            <a:lvl1pPr>
              <a:defRPr sz="3200">
                <a:solidFill>
                  <a:srgbClr val="123A59"/>
                </a:solidFill>
                <a:latin typeface="+mn-lt"/>
              </a:defRPr>
            </a:lvl1pPr>
          </a:lstStyle>
          <a:p>
            <a:pPr lvl="0"/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 bwMode="auto">
          <a:xfrm>
            <a:off x="533400" y="1778001"/>
            <a:ext cx="7774280" cy="36617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l">
              <a:buFont typeface="Arial" panose="020B0604020202020204" pitchFamily="34" charset="0"/>
              <a:buChar char="•"/>
              <a:defRPr sz="2000">
                <a:solidFill>
                  <a:schemeClr val="tx1"/>
                </a:solidFill>
                <a:latin typeface="+mn-lt"/>
                <a:cs typeface="TitilliumMaps26L 500 wt"/>
              </a:defRPr>
            </a:lvl1pPr>
            <a:lvl2pPr marL="800100" indent="-342900" algn="l">
              <a:buFont typeface="Calibri" panose="020F0502020204030204" pitchFamily="34" charset="0"/>
              <a:buChar char="—"/>
              <a:defRPr sz="1800">
                <a:solidFill>
                  <a:schemeClr val="tx1"/>
                </a:solidFill>
                <a:latin typeface="+mn-lt"/>
                <a:cs typeface="TitilliumMaps26L 500 wt"/>
              </a:defRPr>
            </a:lvl2pPr>
            <a:lvl3pPr algn="l">
              <a:defRPr sz="2000">
                <a:solidFill>
                  <a:srgbClr val="6A6A6A"/>
                </a:solidFill>
                <a:latin typeface="TitilliumMaps26L 500 wt"/>
                <a:cs typeface="TitilliumMaps26L 500 wt"/>
              </a:defRPr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 err="1"/>
              <a:t>aaa</a:t>
            </a:r>
            <a:endParaRPr lang="en-US" dirty="0"/>
          </a:p>
          <a:p>
            <a:pPr lvl="0"/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">
    <p:bg>
      <p:bgPr>
        <a:solidFill>
          <a:srgbClr val="123A5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1660820"/>
            <a:ext cx="7772400" cy="4108156"/>
          </a:xfrm>
          <a:prstGeom prst="rect">
            <a:avLst/>
          </a:prstGeom>
        </p:spPr>
        <p:txBody>
          <a:bodyPr anchor="t"/>
          <a:lstStyle>
            <a:lvl1pPr algn="ctr">
              <a:defRPr sz="4000" b="1" cap="all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123A59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123A59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123A59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4814721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5" Target="../slideLayouts/slideLayout5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media/image1.wmf" Type="http://schemas.openxmlformats.org/officeDocument/2006/relationships/image" /><Relationship Id="rId10" Type="http://schemas.openxmlformats.org/officeDocument/2006/relationships/slideLayout" Target="../slideLayouts/slideLayout8.xml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/>
          <p:cNvSpPr/>
          <p:nvPr userDrawn="1"/>
        </p:nvSpPr>
        <p:spPr>
          <a:xfrm>
            <a:off x="0" y="5695950"/>
            <a:ext cx="9144000" cy="1162050"/>
          </a:xfrm>
          <a:prstGeom prst="rect">
            <a:avLst/>
          </a:prstGeom>
          <a:solidFill>
            <a:srgbClr val="123A59"/>
          </a:solidFill>
          <a:ln algn="ctr" cap="flat" cmpd="sng" w="0">
            <a:noFill/>
            <a:prstDash val="solid"/>
            <a:round/>
            <a:headEnd len="med" type="none" w="med"/>
            <a:tailEnd len="med" type="none" w="me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dirty="0" lang="en-US">
              <a:solidFill>
                <a:srgbClr val="6A6A6A"/>
              </a:solidFill>
            </a:endParaRPr>
          </a:p>
        </p:txBody>
      </p:sp>
      <p:pic>
        <p:nvPicPr>
          <p:cNvPr descr="cwru formal logo white-rev tag.wmf" id="12" name="Picture 6"/>
          <p:cNvPicPr>
            <a:picLocks noChangeAspect="1"/>
          </p:cNvPicPr>
          <p:nvPr userDrawn="1"/>
        </p:nvPicPr>
        <p:blipFill>
          <a:blip r:embed="rId9"/>
          <a:srcRect/>
          <a:stretch>
            <a:fillRect/>
          </a:stretch>
        </p:blipFill>
        <p:spPr bwMode="auto">
          <a:xfrm>
            <a:off x="546100" y="6018213"/>
            <a:ext cx="2565400" cy="60801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2" name="Slide Number Placeholder 1"/>
          <p:cNvSpPr>
            <a:spLocks noGrp="1"/>
          </p:cNvSpPr>
          <p:nvPr>
            <p:ph idx="4" sz="quarter" type="sldNum"/>
          </p:nvPr>
        </p:nvSpPr>
        <p:spPr>
          <a:xfrm>
            <a:off x="6944968" y="6297647"/>
            <a:ext cx="20574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400">
                <a:solidFill>
                  <a:schemeClr val="bg1"/>
                </a:solidFill>
              </a:defRPr>
            </a:lvl1pPr>
          </a:lstStyle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10"/>
  </p:sldLayoutIdLst>
  <p:hf dt="0" ftr="0" hdr="0"/>
  <p:txStyles>
    <p:titleStyle>
      <a:lvl1pPr algn="l" defTabSz="457200" eaLnBrk="0" fontAlgn="base" hangingPunct="0" rtl="0">
        <a:spcBef>
          <a:spcPct val="0"/>
        </a:spcBef>
        <a:spcAft>
          <a:spcPct val="0"/>
        </a:spcAft>
        <a:defRPr kern="1200" sz="3400">
          <a:solidFill>
            <a:srgbClr val="6A6A6A"/>
          </a:solidFill>
          <a:latin typeface="TitilliumMaps26L 999 wt"/>
          <a:ea typeface="헤드라인A"/>
          <a:cs typeface="TitilliumMaps26L 999 wt"/>
        </a:defRPr>
      </a:lvl1pPr>
      <a:lvl2pPr algn="ctr" defTabSz="457200" eaLnBrk="0" fontAlgn="base" hangingPunct="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2pPr>
      <a:lvl3pPr algn="ctr" defTabSz="457200" eaLnBrk="0" fontAlgn="base" hangingPunct="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3pPr>
      <a:lvl4pPr algn="ctr" defTabSz="457200" eaLnBrk="0" fontAlgn="base" hangingPunct="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4pPr>
      <a:lvl5pPr algn="ctr" defTabSz="457200" eaLnBrk="0" fontAlgn="base" hangingPunct="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5pPr>
      <a:lvl6pPr algn="ctr" defTabSz="457200" fontAlgn="base" marL="45720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6pPr>
      <a:lvl7pPr algn="ctr" defTabSz="457200" fontAlgn="base" marL="91440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7pPr>
      <a:lvl8pPr algn="ctr" defTabSz="457200" fontAlgn="base" marL="137160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8pPr>
      <a:lvl9pPr algn="ctr" defTabSz="457200" fontAlgn="base" marL="182880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9pPr>
    </p:titleStyle>
    <p:bodyStyle>
      <a:lvl1pPr algn="l" defTabSz="457200" eaLnBrk="0" fontAlgn="base" hangingPunct="0" indent="-342900" marL="342900" rtl="0">
        <a:spcBef>
          <a:spcPct val="20000"/>
        </a:spcBef>
        <a:spcAft>
          <a:spcPct val="0"/>
        </a:spcAft>
        <a:buFontTx/>
        <a:buNone/>
        <a:defRPr kern="1200" sz="1800">
          <a:solidFill>
            <a:srgbClr val="6A6A6A"/>
          </a:solidFill>
          <a:latin typeface="TitilliumMaps26L 500 wt"/>
          <a:ea charset="-128" typeface="ＭＳ Ｐゴシック"/>
          <a:cs charset="-128" typeface="ＭＳ Ｐゴシック"/>
        </a:defRPr>
      </a:lvl1pPr>
      <a:lvl2pPr algn="l" defTabSz="457200" eaLnBrk="0" fontAlgn="base" hangingPunct="0" indent="-285750" marL="742950" rtl="0">
        <a:spcBef>
          <a:spcPct val="20000"/>
        </a:spcBef>
        <a:spcAft>
          <a:spcPct val="0"/>
        </a:spcAft>
        <a:buFontTx/>
        <a:buNone/>
        <a:defRPr kern="1200" sz="1600">
          <a:solidFill>
            <a:srgbClr val="6A6A6A"/>
          </a:solidFill>
          <a:latin typeface="TitilliumMaps26L 500 wt"/>
          <a:ea charset="-128" typeface="ＭＳ Ｐゴシック"/>
          <a:cs typeface="+mn-cs"/>
        </a:defRPr>
      </a:lvl2pPr>
      <a:lvl3pPr algn="l" defTabSz="457200" eaLnBrk="0" fontAlgn="base" hangingPunct="0" indent="-228600" marL="1143000" rtl="0">
        <a:spcBef>
          <a:spcPct val="20000"/>
        </a:spcBef>
        <a:spcAft>
          <a:spcPct val="0"/>
        </a:spcAft>
        <a:buFontTx/>
        <a:buNone/>
        <a:defRPr kern="1200" sz="1400">
          <a:solidFill>
            <a:srgbClr val="6A6A6A"/>
          </a:solidFill>
          <a:latin typeface="TitilliumMaps26L 500 wt"/>
          <a:ea charset="-128" typeface="ＭＳ Ｐゴシック"/>
          <a:cs typeface="+mn-cs"/>
        </a:defRPr>
      </a:lvl3pPr>
      <a:lvl4pPr algn="l" defTabSz="457200" eaLnBrk="0" fontAlgn="base" hangingPunct="0" indent="-228600" marL="1600200" rtl="0">
        <a:spcBef>
          <a:spcPct val="20000"/>
        </a:spcBef>
        <a:spcAft>
          <a:spcPct val="0"/>
        </a:spcAft>
        <a:buFontTx/>
        <a:buNone/>
        <a:defRPr kern="1200" sz="1200">
          <a:solidFill>
            <a:srgbClr val="6A6A6A"/>
          </a:solidFill>
          <a:latin typeface="TitilliumMaps26L 500 wt"/>
          <a:ea charset="-128" typeface="ＭＳ Ｐゴシック"/>
          <a:cs typeface="+mn-cs"/>
        </a:defRPr>
      </a:lvl4pPr>
      <a:lvl5pPr algn="l" defTabSz="457200" eaLnBrk="0" fontAlgn="base" hangingPunct="0" indent="-228600" marL="2057400" rtl="0">
        <a:spcBef>
          <a:spcPct val="20000"/>
        </a:spcBef>
        <a:spcAft>
          <a:spcPct val="0"/>
        </a:spcAft>
        <a:buFontTx/>
        <a:buNone/>
        <a:defRPr kern="1200" sz="1200">
          <a:solidFill>
            <a:srgbClr val="6A6A6A"/>
          </a:solidFill>
          <a:latin typeface="TitilliumMaps26L 500 wt"/>
          <a:ea charset="-128" typeface="ＭＳ Ｐゴシック"/>
          <a:cs typeface="+mn-cs"/>
        </a:defRPr>
      </a:lvl5pPr>
      <a:lvl6pPr algn="l" defTabSz="457200" eaLnBrk="1" hangingPunct="1" indent="-228600" latinLnBrk="0" marL="2514600" rtl="0">
        <a:spcBef>
          <a:spcPct val="2000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6pPr>
      <a:lvl7pPr algn="l" defTabSz="457200" eaLnBrk="1" hangingPunct="1" indent="-228600" latinLnBrk="0" marL="2971800" rtl="0">
        <a:spcBef>
          <a:spcPct val="2000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7pPr>
      <a:lvl8pPr algn="l" defTabSz="457200" eaLnBrk="1" hangingPunct="1" indent="-228600" latinLnBrk="0" marL="3429000" rtl="0">
        <a:spcBef>
          <a:spcPct val="2000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8pPr>
      <a:lvl9pPr algn="l" defTabSz="457200" eaLnBrk="1" hangingPunct="1" indent="-228600" latinLnBrk="0" marL="3886200" rtl="0">
        <a:spcBef>
          <a:spcPct val="2000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457200" eaLnBrk="1" hangingPunct="1" latinLnBrk="0" marL="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457200" eaLnBrk="1" hangingPunct="1" latinLnBrk="0" marL="457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2pPr>
      <a:lvl3pPr algn="l" defTabSz="457200" eaLnBrk="1" hangingPunct="1" latinLnBrk="0" marL="914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457200" eaLnBrk="1" hangingPunct="1" latinLnBrk="0" marL="1371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457200" eaLnBrk="1" hangingPunct="1" latinLnBrk="0" marL="18288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457200" eaLnBrk="1" hangingPunct="1" latinLnBrk="0" marL="22860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457200" eaLnBrk="1" hangingPunct="1" latinLnBrk="0" marL="2743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457200" eaLnBrk="1" hangingPunct="1" latinLnBrk="0" marL="3200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457200" eaLnBrk="1" hangingPunct="1" latinLnBrk="0" marL="3657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6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/>
      <p:sp/>
      <p:sp>
        <p:nvSpPr>
          <p:cNvPr id="3" name="Slide Number Placeholder 2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1660820"/>
            <a:ext cx="7772400" cy="4108156"/>
          </a:xfrm>
          <a:prstGeom prst="rect">
            <a:avLst/>
          </a:prstGeom>
        </p:spPr>
        <p:txBody>
          <a:bodyPr/>
          <a:lstStyle/>
          <a:p>
            <a:pPr lvl="0" indent="0" marL="0">
              <a:buNone/>
            </a:pPr>
            <a:r>
              <a:rPr/>
              <a:t>Resources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Class Notes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In-class live note taking!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Practice Problems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Practice Problems (PP)</a:t>
            </a:r>
            <a:r>
              <a:rPr/>
              <a:t> are essential for strengthening your understanding, building confidence, and exploring the concepts covered in class.</a:t>
            </a:r>
          </a:p>
          <a:p>
            <a:pPr lvl="0"/>
            <a:r>
              <a:rPr/>
              <a:t>The </a:t>
            </a:r>
            <a:r>
              <a:rPr b="1"/>
              <a:t>Unit A Practice Problems</a:t>
            </a:r>
            <a:r>
              <a:rPr/>
              <a:t> will be available under the </a:t>
            </a:r>
            <a:r>
              <a:rPr b="1"/>
              <a:t>Practice Problems</a:t>
            </a:r>
            <a:r>
              <a:rPr/>
              <a:t> tab on the course website soon. The solutions are provided in Canvas.</a:t>
            </a:r>
          </a:p>
          <a:p>
            <a:pPr lvl="0"/>
            <a:r>
              <a:rPr/>
              <a:t>Complete the relevant Practice Problems as we progress through the unit.</a:t>
            </a:r>
          </a:p>
          <a:p>
            <a:pPr lvl="0"/>
            <a:r>
              <a:rPr/>
              <a:t>Make sure you have completed and reviewed the Practice Problems </a:t>
            </a:r>
            <a:r>
              <a:rPr b="1"/>
              <a:t>before attempting the corresponding HW assignment and/or the Exams</a:t>
            </a:r>
            <a:r>
              <a:rPr/>
              <a:t>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Independence of Discrete Random Variables using Conditional Probability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Suppose </a:t>
                </a:r>
                <a14:m>
                  <m:oMath xmlns:m="http://schemas.openxmlformats.org/officeDocument/2006/math">
                    <m:r>
                      <m:t>X</m:t>
                    </m:r>
                  </m:oMath>
                </a14:m>
                <a:r>
                  <a:rPr/>
                  <a:t> and </a:t>
                </a:r>
                <a14:m>
                  <m:oMath xmlns:m="http://schemas.openxmlformats.org/officeDocument/2006/math">
                    <m:r>
                      <m:t>Y</m:t>
                    </m:r>
                  </m:oMath>
                </a14:m>
                <a:r>
                  <a:rPr/>
                  <a:t> are two discrete random variables.</a:t>
                </a:r>
              </a:p>
              <a:p>
                <a:pPr lvl="0"/>
                <a:r>
                  <a:rPr/>
                  <a:t>Intuitively, </a:t>
                </a:r>
                <a14:m>
                  <m:oMath xmlns:m="http://schemas.openxmlformats.org/officeDocument/2006/math">
                    <m:r>
                      <m:t>X</m:t>
                    </m:r>
                  </m:oMath>
                </a14:m>
                <a:r>
                  <a:rPr/>
                  <a:t> and </a:t>
                </a:r>
                <a14:m>
                  <m:oMath xmlns:m="http://schemas.openxmlformats.org/officeDocument/2006/math">
                    <m:r>
                      <m:t>Y</m:t>
                    </m:r>
                  </m:oMath>
                </a14:m>
                <a:r>
                  <a:rPr/>
                  <a:t> are </a:t>
                </a:r>
                <a:r>
                  <a:rPr b="1"/>
                  <a:t>independent</a:t>
                </a:r>
                <a:r>
                  <a:rPr/>
                  <a:t> if knowing the value of one random variable does not change the probability distribution of the other.</a:t>
                </a:r>
              </a:p>
              <a:p>
                <a:pPr lvl="0"/>
                <a:r>
                  <a:rPr/>
                  <a:t>Using conditional probabilities, </a:t>
                </a:r>
                <a14:m>
                  <m:oMath xmlns:m="http://schemas.openxmlformats.org/officeDocument/2006/math">
                    <m:r>
                      <m:t>X</m:t>
                    </m:r>
                  </m:oMath>
                </a14:m>
                <a:r>
                  <a:rPr/>
                  <a:t> and </a:t>
                </a:r>
                <a14:m>
                  <m:oMath xmlns:m="http://schemas.openxmlformats.org/officeDocument/2006/math">
                    <m:r>
                      <m:t>Y</m:t>
                    </m:r>
                  </m:oMath>
                </a14:m>
                <a:r>
                  <a:rPr/>
                  <a:t> are independent if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Y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y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X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for every </a:t>
                </a:r>
                <a14:m>
                  <m:oMath xmlns:m="http://schemas.openxmlformats.org/officeDocument/2006/math">
                    <m:r>
                      <m:t>x</m:t>
                    </m:r>
                  </m:oMath>
                </a14:m>
                <a:r>
                  <a:rPr/>
                  <a:t> and every </a:t>
                </a:r>
                <a14:m>
                  <m:oMath xmlns:m="http://schemas.openxmlformats.org/officeDocument/2006/math">
                    <m:r>
                      <m:t>y</m:t>
                    </m:r>
                  </m:oMath>
                </a14:m>
                <a:r>
                  <a:rPr/>
                  <a:t> such that </a:t>
                </a:r>
                <a14:m>
                  <m:oMath xmlns:m="http://schemas.openxmlformats.org/officeDocument/2006/math">
                    <m:sSub>
                      <m:e>
                        <m:r>
                          <m:t>p</m:t>
                        </m:r>
                      </m:e>
                      <m:sub>
                        <m:r>
                          <m:t>Y</m:t>
                        </m:r>
                      </m:sub>
                    </m:sSub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y</m:t>
                        </m:r>
                      </m:e>
                    </m:d>
                    <m:r>
                      <m:rPr>
                        <m:sty m:val="p"/>
                      </m:rPr>
                      <m:t>&gt;</m:t>
                    </m:r>
                    <m:r>
                      <m:t>0</m:t>
                    </m:r>
                  </m:oMath>
                </a14:m>
                <a:r>
                  <a:rPr/>
                  <a:t>.</a:t>
                </a:r>
              </a:p>
              <a:p>
                <a:pPr lvl="0"/>
                <a:r>
                  <a:rPr/>
                  <a:t>Similarly,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Y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X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y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Y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y</m:t>
                          </m:r>
                        </m:e>
                      </m:d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for every </a:t>
                </a:r>
                <a14:m>
                  <m:oMath xmlns:m="http://schemas.openxmlformats.org/officeDocument/2006/math">
                    <m:r>
                      <m:t>y</m:t>
                    </m:r>
                  </m:oMath>
                </a14:m>
                <a:r>
                  <a:rPr/>
                  <a:t> and every </a:t>
                </a:r>
                <a14:m>
                  <m:oMath xmlns:m="http://schemas.openxmlformats.org/officeDocument/2006/math">
                    <m:r>
                      <m:t>x</m:t>
                    </m:r>
                  </m:oMath>
                </a14:m>
                <a:r>
                  <a:rPr/>
                  <a:t> such that </a:t>
                </a:r>
                <a14:m>
                  <m:oMath xmlns:m="http://schemas.openxmlformats.org/officeDocument/2006/math">
                    <m:sSub>
                      <m:e>
                        <m:r>
                          <m:t>p</m:t>
                        </m:r>
                      </m:e>
                      <m:sub>
                        <m:r>
                          <m:t>X</m:t>
                        </m:r>
                      </m:sub>
                    </m:sSub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x</m:t>
                        </m:r>
                      </m:e>
                    </m:d>
                    <m:r>
                      <m:rPr>
                        <m:sty m:val="p"/>
                      </m:rPr>
                      <m:t>&gt;</m:t>
                    </m:r>
                    <m:r>
                      <m:t>0</m:t>
                    </m:r>
                  </m:oMath>
                </a14:m>
                <a:r>
                  <a:rPr/>
                  <a:t>.</a:t>
                </a:r>
              </a:p>
              <a:p>
                <a:pPr lvl="0"/>
                <a:r>
                  <a:rPr/>
                  <a:t>An equivalent, and often easier, condition is (class)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borderBox>
                        <m:e>
                          <m:sSub>
                            <m:e>
                              <m:r>
                                <m:t>p</m:t>
                              </m:r>
                            </m:e>
                            <m:sub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,</m:t>
                              </m:r>
                              <m:r>
                                <m:t>Y</m:t>
                              </m:r>
                            </m:sub>
                          </m:sSub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,</m:t>
                              </m:r>
                              <m:r>
                                <m:t>y</m:t>
                              </m:r>
                            </m:e>
                          </m:d>
                          <m:r>
                            <m:rPr>
                              <m:sty m:val="p"/>
                            </m:rPr>
                            <m:t>=</m:t>
                          </m:r>
                          <m:sSub>
                            <m:e>
                              <m:r>
                                <m:t>p</m:t>
                              </m:r>
                            </m:e>
                            <m:sub>
                              <m:r>
                                <m:t>X</m:t>
                              </m:r>
                            </m:sub>
                          </m:sSub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x</m:t>
                              </m:r>
                            </m:e>
                          </m:d>
                          <m:sSub>
                            <m:e>
                              <m:r>
                                <m:t>p</m:t>
                              </m:r>
                            </m:e>
                            <m:sub>
                              <m:r>
                                <m:t>Y</m:t>
                              </m:r>
                            </m:sub>
                          </m:sSub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y</m:t>
                              </m:r>
                            </m:e>
                          </m:d>
                        </m:e>
                      </m:borderBox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for </a:t>
                </a:r>
                <a:r>
                  <a:rPr b="1"/>
                  <a:t>every possible pair </a:t>
                </a:r>
                <a14:m>
                  <m:oMath xmlns:m="http://schemas.openxmlformats.org/officeDocument/2006/math"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x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t>y</m:t>
                        </m:r>
                      </m:e>
                    </m:d>
                  </m:oMath>
                </a14:m>
                <a:r>
                  <a:rPr/>
                  <a:t>.</a:t>
                </a:r>
              </a:p>
              <a:p>
                <a:pPr lvl="0"/>
                <a:r>
                  <a:rPr/>
                  <a:t>In terms of events, independence means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∈</m:t>
                          </m:r>
                          <m:r>
                            <m:t>A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 </m:t>
                          </m:r>
                          <m:r>
                            <m:t>Y</m:t>
                          </m:r>
                          <m:r>
                            <m:rPr>
                              <m:sty m:val="p"/>
                            </m:rPr>
                            <m:t>∈</m:t>
                          </m:r>
                          <m:r>
                            <m:t>B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∈</m:t>
                          </m:r>
                          <m:r>
                            <m:t>A</m:t>
                          </m:r>
                        </m:e>
                      </m:d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Y</m:t>
                          </m:r>
                          <m:r>
                            <m:rPr>
                              <m:sty m:val="p"/>
                            </m:rPr>
                            <m:t>∈</m:t>
                          </m:r>
                          <m:r>
                            <m:t>B</m:t>
                          </m:r>
                        </m:e>
                      </m:d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for all possible sets </a:t>
                </a:r>
                <a14:m>
                  <m:oMath xmlns:m="http://schemas.openxmlformats.org/officeDocument/2006/math">
                    <m:r>
                      <m:t>A</m:t>
                    </m:r>
                  </m:oMath>
                </a14:m>
                <a:r>
                  <a:rPr/>
                  <a:t> and </a:t>
                </a:r>
                <a14:m>
                  <m:oMath xmlns:m="http://schemas.openxmlformats.org/officeDocument/2006/math">
                    <m:r>
                      <m:t>B</m:t>
                    </m:r>
                  </m:oMath>
                </a14:m>
                <a:r>
                  <a:rPr/>
                  <a:t>.</a:t>
                </a:r>
              </a:p>
              <a:p>
                <a:pPr lvl="0"/>
                <a:r>
                  <a:rPr b="1"/>
                  <a:t>Important:</a:t>
                </a:r>
              </a:p>
              <a:p>
                <a:pPr lvl="1"/>
                <a:r>
                  <a:rPr/>
                  <a:t>To show that </a:t>
                </a:r>
                <a14:m>
                  <m:oMath xmlns:m="http://schemas.openxmlformats.org/officeDocument/2006/math">
                    <m:r>
                      <m:t>X</m:t>
                    </m:r>
                  </m:oMath>
                </a14:m>
                <a:r>
                  <a:rPr/>
                  <a:t> and </a:t>
                </a:r>
                <a14:m>
                  <m:oMath xmlns:m="http://schemas.openxmlformats.org/officeDocument/2006/math">
                    <m:r>
                      <m:t>Y</m:t>
                    </m:r>
                  </m:oMath>
                </a14:m>
                <a:r>
                  <a:rPr/>
                  <a:t> are </a:t>
                </a:r>
                <a:r>
                  <a:rPr b="1"/>
                  <a:t>not independent</a:t>
                </a:r>
                <a:r>
                  <a:rPr/>
                  <a:t>, we only need to find </a:t>
                </a:r>
                <a:r>
                  <a:rPr b="1"/>
                  <a:t>one case</a:t>
                </a:r>
                <a:r>
                  <a:rPr/>
                  <a:t> where the independence condition fails.</a:t>
                </a:r>
              </a:p>
              <a:p>
                <a:pPr lvl="1"/>
                <a:r>
                  <a:rPr/>
                  <a:t>To establish independence, the condition must hold for </a:t>
                </a:r>
                <a:r>
                  <a:rPr b="1"/>
                  <a:t>all possible values</a:t>
                </a:r>
                <a:r>
                  <a:rPr/>
                  <a:t>.</a:t>
                </a:r>
              </a:p>
            </p:txBody>
          </p:sp>
        </mc:Choice>
      </mc:AlternateContent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Independence: Supermarket Example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Recall the supermarket example:</a:t>
                </a:r>
              </a:p>
              <a:p>
                <a:pPr lvl="1"/>
                <a14:m>
                  <m:oMath xmlns:m="http://schemas.openxmlformats.org/officeDocument/2006/math">
                    <m:r>
                      <m:t>X</m:t>
                    </m:r>
                    <m:r>
                      <m:rPr>
                        <m:sty m:val="p"/>
                      </m:rPr>
                      <m:t>=</m:t>
                    </m:r>
                  </m:oMath>
                </a14:m>
                <a:r>
                  <a:rPr/>
                  <a:t> number of customers who choose counter 1.</a:t>
                </a:r>
              </a:p>
              <a:p>
                <a:pPr lvl="1"/>
                <a14:m>
                  <m:oMath xmlns:m="http://schemas.openxmlformats.org/officeDocument/2006/math">
                    <m:r>
                      <m:t>Y</m:t>
                    </m:r>
                    <m:r>
                      <m:rPr>
                        <m:sty m:val="p"/>
                      </m:rPr>
                      <m:t>=</m:t>
                    </m:r>
                  </m:oMath>
                </a14:m>
                <a:r>
                  <a:rPr/>
                  <a:t> number of customers who choose counter 2.</a:t>
                </a:r>
              </a:p>
              <a:p>
                <a:pPr lvl="0"/>
                <a:r>
                  <a:rPr/>
                  <a:t>The joint PMF and marginal PMFs are</a:t>
                </a:r>
              </a:p>
              <a:p>
                <a:pPr lvl="0"/>
                <a:r>
                  <a:rPr/>
                  <a:t>We want to determine whether </a:t>
                </a:r>
                <a14:m>
                  <m:oMath xmlns:m="http://schemas.openxmlformats.org/officeDocument/2006/math">
                    <m:r>
                      <m:t>X</m:t>
                    </m:r>
                  </m:oMath>
                </a14:m>
                <a:r>
                  <a:rPr/>
                  <a:t> and </a:t>
                </a:r>
                <a14:m>
                  <m:oMath xmlns:m="http://schemas.openxmlformats.org/officeDocument/2006/math">
                    <m:r>
                      <m:t>Y</m:t>
                    </m:r>
                  </m:oMath>
                </a14:m>
                <a:r>
                  <a:rPr/>
                  <a:t> are independent.</a:t>
                </a:r>
              </a:p>
              <a:p>
                <a:pPr lvl="0"/>
                <a:r>
                  <a:rPr/>
                  <a:t>One way is to examine the conditional distribution of </a:t>
                </a:r>
                <a14:m>
                  <m:oMath xmlns:m="http://schemas.openxmlformats.org/officeDocument/2006/math">
                    <m:r>
                      <m:t>X</m:t>
                    </m:r>
                  </m:oMath>
                </a14:m>
                <a:r>
                  <a:rPr/>
                  <a:t> given a particular value of </a:t>
                </a:r>
                <a14:m>
                  <m:oMath xmlns:m="http://schemas.openxmlformats.org/officeDocument/2006/math">
                    <m:r>
                      <m:t>Y</m:t>
                    </m:r>
                  </m:oMath>
                </a14:m>
                <a:r>
                  <a:rPr/>
                  <a:t>.</a:t>
                </a:r>
              </a:p>
              <a:p>
                <a:pPr lvl="0"/>
                <a:r>
                  <a:rPr/>
                  <a:t>Suppose we know that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Y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t>0</m:t>
                      </m:r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Then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Y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0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4</m:t>
                          </m:r>
                        </m:num>
                        <m:den>
                          <m:r>
                            <m:t>9</m:t>
                          </m:r>
                        </m:den>
                      </m:f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</p:txBody>
          </p:sp>
        </mc:Choice>
      </mc:AlternateContent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Independence: Conditional Distribution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Using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Y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0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sSub>
                            <m:e>
                              <m:r>
                                <m:t>p</m:t>
                              </m:r>
                            </m:e>
                            <m:sub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,</m:t>
                              </m:r>
                              <m:r>
                                <m:t>Y</m:t>
                              </m:r>
                            </m:sub>
                          </m:sSub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,</m:t>
                              </m:r>
                              <m:r>
                                <m:t>0</m:t>
                              </m:r>
                            </m:e>
                          </m:d>
                        </m:num>
                        <m:den>
                          <m:sSub>
                            <m:e>
                              <m:r>
                                <m:t>p</m:t>
                              </m:r>
                            </m:e>
                            <m:sub>
                              <m:r>
                                <m:t>Y</m:t>
                              </m:r>
                            </m:sub>
                          </m:sSub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0</m:t>
                              </m:r>
                            </m:e>
                          </m:d>
                        </m:den>
                      </m:f>
                      <m:r>
                        <m:rPr>
                          <m:sty m:val="p"/>
                        </m:rPr>
                        <m:t>,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we get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Y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0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0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1</m:t>
                          </m:r>
                          <m:r>
                            <m:rPr>
                              <m:sty m:val="p"/>
                            </m:rPr>
                            <m:t>/</m:t>
                          </m:r>
                          <m:r>
                            <m:t>9</m:t>
                          </m:r>
                        </m:num>
                        <m:den>
                          <m:r>
                            <m:t>4</m:t>
                          </m:r>
                          <m:r>
                            <m:rPr>
                              <m:sty m:val="p"/>
                            </m:rPr>
                            <m:t>/</m:t>
                          </m:r>
                          <m:r>
                            <m:t>9</m:t>
                          </m:r>
                        </m:den>
                      </m:f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1</m:t>
                          </m:r>
                        </m:num>
                        <m:den>
                          <m:r>
                            <m:t>4</m:t>
                          </m:r>
                        </m:den>
                      </m:f>
                      <m:r>
                        <m:rPr>
                          <m:sty m:val="p"/>
                        </m:rPr>
                        <m:t>,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Y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1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0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2</m:t>
                          </m:r>
                          <m:r>
                            <m:rPr>
                              <m:sty m:val="p"/>
                            </m:rPr>
                            <m:t>/</m:t>
                          </m:r>
                          <m:r>
                            <m:t>9</m:t>
                          </m:r>
                        </m:num>
                        <m:den>
                          <m:r>
                            <m:t>4</m:t>
                          </m:r>
                          <m:r>
                            <m:rPr>
                              <m:sty m:val="p"/>
                            </m:rPr>
                            <m:t>/</m:t>
                          </m:r>
                          <m:r>
                            <m:t>9</m:t>
                          </m:r>
                        </m:den>
                      </m:f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1</m:t>
                          </m:r>
                        </m:num>
                        <m:den>
                          <m:r>
                            <m:t>2</m:t>
                          </m:r>
                        </m:den>
                      </m:f>
                      <m:r>
                        <m:rPr>
                          <m:sty m:val="p"/>
                        </m:rPr>
                        <m:t>,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and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Y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2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0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1</m:t>
                          </m:r>
                          <m:r>
                            <m:rPr>
                              <m:sty m:val="p"/>
                            </m:rPr>
                            <m:t>/</m:t>
                          </m:r>
                          <m:r>
                            <m:t>9</m:t>
                          </m:r>
                        </m:num>
                        <m:den>
                          <m:r>
                            <m:t>4</m:t>
                          </m:r>
                          <m:r>
                            <m:rPr>
                              <m:sty m:val="p"/>
                            </m:rPr>
                            <m:t>/</m:t>
                          </m:r>
                          <m:r>
                            <m:t>9</m:t>
                          </m:r>
                        </m:den>
                      </m:f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1</m:t>
                          </m:r>
                        </m:num>
                        <m:den>
                          <m:r>
                            <m:t>4</m:t>
                          </m:r>
                        </m:den>
                      </m:f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Therefore, given </a:t>
                </a:r>
                <a14:m>
                  <m:oMath xmlns:m="http://schemas.openxmlformats.org/officeDocument/2006/math">
                    <m:r>
                      <m:t>Y</m:t>
                    </m:r>
                    <m:r>
                      <m:rPr>
                        <m:sty m:val="p"/>
                      </m:rPr>
                      <m:t>=</m:t>
                    </m:r>
                    <m:r>
                      <m:t>0</m:t>
                    </m:r>
                  </m:oMath>
                </a14:m>
                <a:r>
                  <a:rPr/>
                  <a:t>, the conditional distribution of </a:t>
                </a:r>
                <a14:m>
                  <m:oMath xmlns:m="http://schemas.openxmlformats.org/officeDocument/2006/math">
                    <m:r>
                      <m:t>X</m:t>
                    </m:r>
                  </m:oMath>
                </a14:m>
                <a:r>
                  <a:rPr/>
                  <a:t> is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f>
                            <m:fPr>
                              <m:type m:val="bar"/>
                            </m:fPr>
                            <m:num>
                              <m:r>
                                <m:t>1</m:t>
                              </m:r>
                            </m:num>
                            <m:den>
                              <m:r>
                                <m:t>4</m:t>
                              </m:r>
                            </m:den>
                          </m:f>
                          <m:r>
                            <m:rPr>
                              <m:sty m:val="p"/>
                            </m:rPr>
                            <m:t>,</m:t>
                          </m:r>
                          <m:f>
                            <m:fPr>
                              <m:type m:val="bar"/>
                            </m:fPr>
                            <m:num>
                              <m:r>
                                <m:t>1</m:t>
                              </m:r>
                            </m:num>
                            <m:den>
                              <m:r>
                                <m:t>2</m:t>
                              </m:r>
                            </m:den>
                          </m:f>
                          <m:r>
                            <m:rPr>
                              <m:sty m:val="p"/>
                            </m:rPr>
                            <m:t>,</m:t>
                          </m:r>
                          <m:f>
                            <m:fPr>
                              <m:type m:val="bar"/>
                            </m:fPr>
                            <m:num>
                              <m:r>
                                <m:t>1</m:t>
                              </m:r>
                            </m:num>
                            <m:den>
                              <m:r>
                                <m:t>4</m:t>
                              </m:r>
                            </m:den>
                          </m:f>
                        </m:e>
                      </m: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But the marginal distribution of </a:t>
                </a:r>
                <a14:m>
                  <m:oMath xmlns:m="http://schemas.openxmlformats.org/officeDocument/2006/math">
                    <m:r>
                      <m:t>X</m:t>
                    </m:r>
                  </m:oMath>
                </a14:m>
                <a:r>
                  <a:rPr/>
                  <a:t> is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f>
                            <m:fPr>
                              <m:type m:val="bar"/>
                            </m:fPr>
                            <m:num>
                              <m:r>
                                <m:t>4</m:t>
                              </m:r>
                            </m:num>
                            <m:den>
                              <m:r>
                                <m:t>9</m:t>
                              </m:r>
                            </m:den>
                          </m:f>
                          <m:r>
                            <m:rPr>
                              <m:sty m:val="p"/>
                            </m:rPr>
                            <m:t>,</m:t>
                          </m:r>
                          <m:f>
                            <m:fPr>
                              <m:type m:val="bar"/>
                            </m:fPr>
                            <m:num>
                              <m:r>
                                <m:t>4</m:t>
                              </m:r>
                            </m:num>
                            <m:den>
                              <m:r>
                                <m:t>9</m:t>
                              </m:r>
                            </m:den>
                          </m:f>
                          <m:r>
                            <m:rPr>
                              <m:sty m:val="p"/>
                            </m:rPr>
                            <m:t>,</m:t>
                          </m:r>
                          <m:f>
                            <m:fPr>
                              <m:type m:val="bar"/>
                            </m:fPr>
                            <m:num>
                              <m:r>
                                <m:t>1</m:t>
                              </m:r>
                            </m:num>
                            <m:den>
                              <m:r>
                                <m:t>9</m:t>
                              </m:r>
                            </m:den>
                          </m:f>
                        </m:e>
                      </m: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For example,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Y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0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0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1</m:t>
                          </m:r>
                        </m:num>
                        <m:den>
                          <m:r>
                            <m:t>4</m:t>
                          </m:r>
                        </m:den>
                      </m:f>
                      <m:r>
                        <m:rPr>
                          <m:sty m:val="p"/>
                        </m:rPr>
                        <m:t>≠</m:t>
                      </m:r>
                      <m:f>
                        <m:fPr>
                          <m:type m:val="bar"/>
                        </m:fPr>
                        <m:num>
                          <m:r>
                            <m:t>4</m:t>
                          </m:r>
                        </m:num>
                        <m:den>
                          <m:r>
                            <m:t>9</m:t>
                          </m:r>
                        </m:den>
                      </m:f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X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0</m:t>
                          </m:r>
                        </m:e>
                      </m: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Therefore,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borderBox>
                        <m:e>
                          <m:r>
                            <m:t>X</m:t>
                          </m:r>
                          <m:r>
                            <m:rPr>
                              <m:nor/>
                              <m:sty m:val="p"/>
                            </m:rPr>
                            <m:t> and </m:t>
                          </m:r>
                          <m:r>
                            <m:t>Y</m:t>
                          </m:r>
                          <m:r>
                            <m:rPr>
                              <m:nor/>
                              <m:sty m:val="p"/>
                            </m:rPr>
                            <m:t> are not independent.</m:t>
                          </m:r>
                        </m:e>
                      </m:borderBox>
                    </m:oMath>
                  </m:oMathPara>
                </a14:m>
              </a:p>
              <a:p>
                <a:pPr lvl="0"/>
                <a:r>
                  <a:rPr/>
                  <a:t>Knowing the value of </a:t>
                </a:r>
                <a14:m>
                  <m:oMath xmlns:m="http://schemas.openxmlformats.org/officeDocument/2006/math">
                    <m:r>
                      <m:t>Y</m:t>
                    </m:r>
                  </m:oMath>
                </a14:m>
                <a:r>
                  <a:rPr/>
                  <a:t> changes the probability distribution of </a:t>
                </a:r>
                <a14:m>
                  <m:oMath xmlns:m="http://schemas.openxmlformats.org/officeDocument/2006/math">
                    <m:r>
                      <m:t>X</m:t>
                    </m:r>
                  </m:oMath>
                </a14:m>
                <a:r>
                  <a:rPr/>
                  <a:t>.</a:t>
                </a:r>
              </a:p>
            </p:txBody>
          </p:sp>
        </mc:Choice>
      </mc:AlternateContent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Independence: A Faster Check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We can reach the same conclusion more quickly using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Y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y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X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Y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y</m:t>
                          </m:r>
                        </m:e>
                      </m: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Consider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X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t>2</m:t>
                      </m:r>
                      <m:r>
                        <m:rPr>
                          <m:sty m:val="p"/>
                        </m:rPr>
                        <m:t>,</m:t>
                      </m:r>
                      <m:r>
                        <m:t>  </m:t>
                      </m:r>
                      <m:r>
                        <m:t>Y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t>2</m:t>
                      </m:r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From the joint PMF,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Y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2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2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0</m:t>
                      </m:r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However,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X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2</m:t>
                          </m:r>
                        </m:e>
                      </m:d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Y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2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f>
                            <m:fPr>
                              <m:type m:val="bar"/>
                            </m:fPr>
                            <m:num>
                              <m:r>
                                <m:t>1</m:t>
                              </m:r>
                            </m:num>
                            <m:den>
                              <m:r>
                                <m:t>9</m:t>
                              </m:r>
                            </m:den>
                          </m:f>
                        </m:e>
                      </m:d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f>
                            <m:fPr>
                              <m:type m:val="bar"/>
                            </m:fPr>
                            <m:num>
                              <m:r>
                                <m:t>1</m:t>
                              </m:r>
                            </m:num>
                            <m:den>
                              <m:r>
                                <m:t>9</m:t>
                              </m:r>
                            </m:den>
                          </m:f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1</m:t>
                          </m:r>
                        </m:num>
                        <m:den>
                          <m:r>
                            <m:t>81</m:t>
                          </m:r>
                        </m:den>
                      </m:f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Therefore,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Y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2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2</m:t>
                          </m:r>
                        </m:e>
                      </m:d>
                      <m:r>
                        <m:rPr>
                          <m:sty m:val="p"/>
                        </m:rPr>
                        <m:t>≠</m:t>
                      </m:r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X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2</m:t>
                          </m:r>
                        </m:e>
                      </m:d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Y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2</m:t>
                          </m:r>
                        </m:e>
                      </m: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Since the independence condition fails for even one pair,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borderBox>
                        <m:e>
                          <m:r>
                            <m:t>X</m:t>
                          </m:r>
                          <m:r>
                            <m:rPr>
                              <m:nor/>
                              <m:sty m:val="p"/>
                            </m:rPr>
                            <m:t> and </m:t>
                          </m:r>
                          <m:r>
                            <m:t>Y</m:t>
                          </m:r>
                          <m:r>
                            <m:rPr>
                              <m:nor/>
                              <m:sty m:val="p"/>
                            </m:rPr>
                            <m:t> are dependent.</m:t>
                          </m:r>
                        </m:e>
                      </m:borderBox>
                    </m:oMath>
                  </m:oMathPara>
                </a14:m>
              </a:p>
              <a:p>
                <a:pPr lvl="0"/>
                <a:r>
                  <a:rPr/>
                  <a:t>This also makes intuitive sense.</a:t>
                </a:r>
              </a:p>
              <a:p>
                <a:pPr lvl="0"/>
                <a:r>
                  <a:rPr/>
                  <a:t>If </a:t>
                </a:r>
                <a14:m>
                  <m:oMath xmlns:m="http://schemas.openxmlformats.org/officeDocument/2006/math">
                    <m:r>
                      <m:t>Y</m:t>
                    </m:r>
                    <m:r>
                      <m:rPr>
                        <m:sty m:val="p"/>
                      </m:rPr>
                      <m:t>=</m:t>
                    </m:r>
                    <m:r>
                      <m:t>2</m:t>
                    </m:r>
                  </m:oMath>
                </a14:m>
                <a:r>
                  <a:rPr/>
                  <a:t>, then </a:t>
                </a:r>
                <a:r>
                  <a:rPr b="1"/>
                  <a:t>both customers chose counter 2</a:t>
                </a:r>
                <a:r>
                  <a:rPr/>
                  <a:t>.</a:t>
                </a:r>
              </a:p>
              <a:p>
                <a:pPr lvl="0"/>
                <a:r>
                  <a:rPr/>
                  <a:t>Therefore, it is impossible for either customer to have chosen counter 1, so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X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t>0</m:t>
                      </m:r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Thus, knowing </a:t>
                </a:r>
                <a14:m>
                  <m:oMath xmlns:m="http://schemas.openxmlformats.org/officeDocument/2006/math">
                    <m:r>
                      <m:t>Y</m:t>
                    </m:r>
                  </m:oMath>
                </a14:m>
                <a:r>
                  <a:rPr/>
                  <a:t> tells us something about </a:t>
                </a:r>
                <a14:m>
                  <m:oMath xmlns:m="http://schemas.openxmlformats.org/officeDocument/2006/math">
                    <m:r>
                      <m:t>X</m:t>
                    </m:r>
                  </m:oMath>
                </a14:m>
                <a:r>
                  <a:rPr/>
                  <a:t>.</a:t>
                </a:r>
              </a:p>
            </p:txBody>
          </p:sp>
        </mc:Choice>
      </mc:AlternateContent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Independence: Another Example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Suppose </a:t>
                </a:r>
                <a14:m>
                  <m:oMath xmlns:m="http://schemas.openxmlformats.org/officeDocument/2006/math">
                    <m:r>
                      <m:t>X</m:t>
                    </m:r>
                  </m:oMath>
                </a14:m>
                <a:r>
                  <a:rPr/>
                  <a:t> and </a:t>
                </a:r>
                <a14:m>
                  <m:oMath xmlns:m="http://schemas.openxmlformats.org/officeDocument/2006/math">
                    <m:r>
                      <m:t>Y</m:t>
                    </m:r>
                  </m:oMath>
                </a14:m>
                <a:r>
                  <a:rPr/>
                  <a:t> have the following joint PMF:</a:t>
                </a:r>
              </a:p>
              <a:p>
                <a:pPr lvl="0"/>
                <a:r>
                  <a:rPr/>
                  <a:t>We want to determine whether </a:t>
                </a:r>
                <a14:m>
                  <m:oMath xmlns:m="http://schemas.openxmlformats.org/officeDocument/2006/math">
                    <m:r>
                      <m:t>X</m:t>
                    </m:r>
                  </m:oMath>
                </a14:m>
                <a:r>
                  <a:rPr/>
                  <a:t> and </a:t>
                </a:r>
                <a14:m>
                  <m:oMath xmlns:m="http://schemas.openxmlformats.org/officeDocument/2006/math">
                    <m:r>
                      <m:t>Y</m:t>
                    </m:r>
                  </m:oMath>
                </a14:m>
                <a:r>
                  <a:rPr/>
                  <a:t> are independent.</a:t>
                </a:r>
              </a:p>
              <a:p>
                <a:pPr lvl="0"/>
                <a:r>
                  <a:rPr/>
                  <a:t>The easiest way is to check whether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Y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y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X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Y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y</m:t>
                          </m:r>
                        </m:e>
                      </m:d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for every possible pair </a:t>
                </a:r>
                <a14:m>
                  <m:oMath xmlns:m="http://schemas.openxmlformats.org/officeDocument/2006/math"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x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t>y</m:t>
                        </m:r>
                      </m:e>
                    </m:d>
                  </m:oMath>
                </a14:m>
                <a:r>
                  <a:rPr/>
                  <a:t>.</a:t>
                </a:r>
              </a:p>
            </p:txBody>
          </p:sp>
        </mc:Choice>
      </mc:AlternateContent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Independence: Checking the Joint PMF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For </a:t>
                </a:r>
                <a14:m>
                  <m:oMath xmlns:m="http://schemas.openxmlformats.org/officeDocument/2006/math">
                    <m:r>
                      <m:t>X</m:t>
                    </m:r>
                    <m:r>
                      <m:rPr>
                        <m:sty m:val="p"/>
                      </m:rPr>
                      <m:t>=</m:t>
                    </m:r>
                    <m:r>
                      <m:t>1</m:t>
                    </m:r>
                  </m:oMath>
                </a14:m>
                <a:r>
                  <a:rPr/>
                  <a:t>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X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1</m:t>
                          </m:r>
                        </m:e>
                      </m:d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Y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1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f>
                            <m:fPr>
                              <m:type m:val="bar"/>
                            </m:fPr>
                            <m:num>
                              <m:r>
                                <m:t>1</m:t>
                              </m:r>
                            </m:num>
                            <m:den>
                              <m:r>
                                <m:t>4</m:t>
                              </m:r>
                            </m:den>
                          </m:f>
                        </m:e>
                      </m:d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f>
                            <m:fPr>
                              <m:type m:val="bar"/>
                            </m:fPr>
                            <m:num>
                              <m:r>
                                <m:t>1</m:t>
                              </m:r>
                            </m:num>
                            <m:den>
                              <m:r>
                                <m:t>4</m:t>
                              </m:r>
                            </m:den>
                          </m:f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1</m:t>
                          </m:r>
                        </m:num>
                        <m:den>
                          <m:r>
                            <m:t>16</m:t>
                          </m:r>
                        </m:den>
                      </m:f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Y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1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1</m:t>
                          </m:r>
                        </m:e>
                      </m:d>
                      <m:r>
                        <m:rPr>
                          <m:sty m:val="p"/>
                        </m:rPr>
                        <m:t>,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X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1</m:t>
                          </m:r>
                        </m:e>
                      </m:d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Y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2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f>
                            <m:fPr>
                              <m:type m:val="bar"/>
                            </m:fPr>
                            <m:num>
                              <m:r>
                                <m:t>1</m:t>
                              </m:r>
                            </m:num>
                            <m:den>
                              <m:r>
                                <m:t>4</m:t>
                              </m:r>
                            </m:den>
                          </m:f>
                        </m:e>
                      </m:d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f>
                            <m:fPr>
                              <m:type m:val="bar"/>
                            </m:fPr>
                            <m:num>
                              <m:r>
                                <m:t>1</m:t>
                              </m:r>
                            </m:num>
                            <m:den>
                              <m:r>
                                <m:t>2</m:t>
                              </m:r>
                            </m:den>
                          </m:f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1</m:t>
                          </m:r>
                        </m:num>
                        <m:den>
                          <m:r>
                            <m:t>8</m:t>
                          </m:r>
                        </m:den>
                      </m:f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Y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1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2</m:t>
                          </m:r>
                        </m:e>
                      </m:d>
                      <m:r>
                        <m:rPr>
                          <m:sty m:val="p"/>
                        </m:rPr>
                        <m:t>,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and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X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1</m:t>
                          </m:r>
                        </m:e>
                      </m:d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Y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3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f>
                            <m:fPr>
                              <m:type m:val="bar"/>
                            </m:fPr>
                            <m:num>
                              <m:r>
                                <m:t>1</m:t>
                              </m:r>
                            </m:num>
                            <m:den>
                              <m:r>
                                <m:t>4</m:t>
                              </m:r>
                            </m:den>
                          </m:f>
                        </m:e>
                      </m:d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f>
                            <m:fPr>
                              <m:type m:val="bar"/>
                            </m:fPr>
                            <m:num>
                              <m:r>
                                <m:t>1</m:t>
                              </m:r>
                            </m:num>
                            <m:den>
                              <m:r>
                                <m:t>4</m:t>
                              </m:r>
                            </m:den>
                          </m:f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1</m:t>
                          </m:r>
                        </m:num>
                        <m:den>
                          <m:r>
                            <m:t>16</m:t>
                          </m:r>
                        </m:den>
                      </m:f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Y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1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3</m:t>
                          </m:r>
                        </m:e>
                      </m: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For </a:t>
                </a:r>
                <a14:m>
                  <m:oMath xmlns:m="http://schemas.openxmlformats.org/officeDocument/2006/math">
                    <m:r>
                      <m:t>X</m:t>
                    </m:r>
                    <m:r>
                      <m:rPr>
                        <m:sty m:val="p"/>
                      </m:rPr>
                      <m:t>=</m:t>
                    </m:r>
                    <m:r>
                      <m:t>2</m:t>
                    </m:r>
                  </m:oMath>
                </a14:m>
                <a:r>
                  <a:rPr/>
                  <a:t>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X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2</m:t>
                          </m:r>
                        </m:e>
                      </m:d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Y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1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f>
                            <m:fPr>
                              <m:type m:val="bar"/>
                            </m:fPr>
                            <m:num>
                              <m:r>
                                <m:t>3</m:t>
                              </m:r>
                            </m:num>
                            <m:den>
                              <m:r>
                                <m:t>4</m:t>
                              </m:r>
                            </m:den>
                          </m:f>
                        </m:e>
                      </m:d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f>
                            <m:fPr>
                              <m:type m:val="bar"/>
                            </m:fPr>
                            <m:num>
                              <m:r>
                                <m:t>1</m:t>
                              </m:r>
                            </m:num>
                            <m:den>
                              <m:r>
                                <m:t>4</m:t>
                              </m:r>
                            </m:den>
                          </m:f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3</m:t>
                          </m:r>
                        </m:num>
                        <m:den>
                          <m:r>
                            <m:t>16</m:t>
                          </m:r>
                        </m:den>
                      </m:f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Y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2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1</m:t>
                          </m:r>
                        </m:e>
                      </m:d>
                      <m:r>
                        <m:rPr>
                          <m:sty m:val="p"/>
                        </m:rPr>
                        <m:t>,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X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2</m:t>
                          </m:r>
                        </m:e>
                      </m:d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Y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2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f>
                            <m:fPr>
                              <m:type m:val="bar"/>
                            </m:fPr>
                            <m:num>
                              <m:r>
                                <m:t>3</m:t>
                              </m:r>
                            </m:num>
                            <m:den>
                              <m:r>
                                <m:t>4</m:t>
                              </m:r>
                            </m:den>
                          </m:f>
                        </m:e>
                      </m:d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f>
                            <m:fPr>
                              <m:type m:val="bar"/>
                            </m:fPr>
                            <m:num>
                              <m:r>
                                <m:t>1</m:t>
                              </m:r>
                            </m:num>
                            <m:den>
                              <m:r>
                                <m:t>2</m:t>
                              </m:r>
                            </m:den>
                          </m:f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3</m:t>
                          </m:r>
                        </m:num>
                        <m:den>
                          <m:r>
                            <m:t>8</m:t>
                          </m:r>
                        </m:den>
                      </m:f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Y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2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2</m:t>
                          </m:r>
                        </m:e>
                      </m:d>
                      <m:r>
                        <m:rPr>
                          <m:sty m:val="p"/>
                        </m:rPr>
                        <m:t>,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and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X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2</m:t>
                          </m:r>
                        </m:e>
                      </m:d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Y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3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f>
                            <m:fPr>
                              <m:type m:val="bar"/>
                            </m:fPr>
                            <m:num>
                              <m:r>
                                <m:t>3</m:t>
                              </m:r>
                            </m:num>
                            <m:den>
                              <m:r>
                                <m:t>4</m:t>
                              </m:r>
                            </m:den>
                          </m:f>
                        </m:e>
                      </m:d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f>
                            <m:fPr>
                              <m:type m:val="bar"/>
                            </m:fPr>
                            <m:num>
                              <m:r>
                                <m:t>1</m:t>
                              </m:r>
                            </m:num>
                            <m:den>
                              <m:r>
                                <m:t>4</m:t>
                              </m:r>
                            </m:den>
                          </m:f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3</m:t>
                          </m:r>
                        </m:num>
                        <m:den>
                          <m:r>
                            <m:t>16</m:t>
                          </m:r>
                        </m:den>
                      </m:f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Y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2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3</m:t>
                          </m:r>
                        </m:e>
                      </m: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The relationship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Y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y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X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Y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y</m:t>
                          </m:r>
                        </m:e>
                      </m:d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holds for </a:t>
                </a:r>
                <a:r>
                  <a:rPr b="1"/>
                  <a:t>every possible pair </a:t>
                </a:r>
                <a14:m>
                  <m:oMath xmlns:m="http://schemas.openxmlformats.org/officeDocument/2006/math"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x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t>y</m:t>
                        </m:r>
                      </m:e>
                    </m:d>
                  </m:oMath>
                </a14:m>
                <a:r>
                  <a:rPr/>
                  <a:t>.</a:t>
                </a:r>
              </a:p>
              <a:p>
                <a:pPr lvl="0"/>
                <a:r>
                  <a:rPr/>
                  <a:t>Therefore,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borderBox>
                        <m:e>
                          <m:r>
                            <m:t>X</m:t>
                          </m:r>
                          <m:r>
                            <m:rPr>
                              <m:nor/>
                              <m:sty m:val="p"/>
                            </m:rPr>
                            <m:t> and </m:t>
                          </m:r>
                          <m:r>
                            <m:t>Y</m:t>
                          </m:r>
                          <m:r>
                            <m:rPr>
                              <m:nor/>
                              <m:sty m:val="p"/>
                            </m:rPr>
                            <m:t> are independent.</m:t>
                          </m:r>
                        </m:e>
                      </m:borderBox>
                    </m:oMath>
                  </m:oMathPara>
                </a14:m>
              </a:p>
            </p:txBody>
          </p:sp>
        </mc:Choice>
      </mc:AlternateContent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Independence: Conditional Interpretation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We can also see the meaning of independence using conditional probabilities.</a:t>
                </a:r>
              </a:p>
              <a:p>
                <a:pPr lvl="0"/>
                <a:r>
                  <a:rPr/>
                  <a:t>Suppose we are told that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Y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t>1</m:t>
                      </m:r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Since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Y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1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1</m:t>
                          </m:r>
                        </m:num>
                        <m:den>
                          <m:r>
                            <m:t>4</m:t>
                          </m:r>
                        </m:den>
                      </m:f>
                      <m:r>
                        <m:rPr>
                          <m:sty m:val="p"/>
                        </m:rPr>
                        <m:t>,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we have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Y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1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1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sSub>
                            <m:e>
                              <m:r>
                                <m:t>p</m:t>
                              </m:r>
                            </m:e>
                            <m:sub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,</m:t>
                              </m:r>
                              <m:r>
                                <m:t>Y</m:t>
                              </m:r>
                            </m:sub>
                          </m:sSub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1</m:t>
                              </m:r>
                              <m:r>
                                <m:rPr>
                                  <m:sty m:val="p"/>
                                </m:rPr>
                                <m:t>,</m:t>
                              </m:r>
                              <m:r>
                                <m:t>1</m:t>
                              </m:r>
                            </m:e>
                          </m:d>
                        </m:num>
                        <m:den>
                          <m:sSub>
                            <m:e>
                              <m:r>
                                <m:t>p</m:t>
                              </m:r>
                            </m:e>
                            <m:sub>
                              <m:r>
                                <m:t>Y</m:t>
                              </m:r>
                            </m:sub>
                          </m:sSub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1</m:t>
                              </m:r>
                            </m:e>
                          </m:d>
                        </m:den>
                      </m:f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1</m:t>
                          </m:r>
                          <m:r>
                            <m:rPr>
                              <m:sty m:val="p"/>
                            </m:rPr>
                            <m:t>/</m:t>
                          </m:r>
                          <m:r>
                            <m:t>16</m:t>
                          </m:r>
                        </m:num>
                        <m:den>
                          <m:r>
                            <m:t>1</m:t>
                          </m:r>
                          <m:r>
                            <m:rPr>
                              <m:sty m:val="p"/>
                            </m:rPr>
                            <m:t>/</m:t>
                          </m:r>
                          <m:r>
                            <m:t>4</m:t>
                          </m:r>
                        </m:den>
                      </m:f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1</m:t>
                          </m:r>
                        </m:num>
                        <m:den>
                          <m:r>
                            <m:t>4</m:t>
                          </m:r>
                        </m:den>
                      </m:f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But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X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1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1</m:t>
                          </m:r>
                        </m:num>
                        <m:den>
                          <m:r>
                            <m:t>4</m:t>
                          </m:r>
                        </m:den>
                      </m:f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Similarly,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Y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2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1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3</m:t>
                          </m:r>
                          <m:r>
                            <m:rPr>
                              <m:sty m:val="p"/>
                            </m:rPr>
                            <m:t>/</m:t>
                          </m:r>
                          <m:r>
                            <m:t>16</m:t>
                          </m:r>
                        </m:num>
                        <m:den>
                          <m:r>
                            <m:t>1</m:t>
                          </m:r>
                          <m:r>
                            <m:rPr>
                              <m:sty m:val="p"/>
                            </m:rPr>
                            <m:t>/</m:t>
                          </m:r>
                          <m:r>
                            <m:t>4</m:t>
                          </m:r>
                        </m:den>
                      </m:f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3</m:t>
                          </m:r>
                        </m:num>
                        <m:den>
                          <m:r>
                            <m:t>4</m:t>
                          </m:r>
                        </m:den>
                      </m:f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X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2</m:t>
                          </m:r>
                        </m:e>
                      </m: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Thus, knowing that </a:t>
                </a:r>
                <a14:m>
                  <m:oMath xmlns:m="http://schemas.openxmlformats.org/officeDocument/2006/math">
                    <m:r>
                      <m:t>Y</m:t>
                    </m:r>
                    <m:r>
                      <m:rPr>
                        <m:sty m:val="p"/>
                      </m:rPr>
                      <m:t>=</m:t>
                    </m:r>
                    <m:r>
                      <m:t>1</m:t>
                    </m:r>
                  </m:oMath>
                </a14:m>
                <a:r>
                  <a:rPr/>
                  <a:t> does </a:t>
                </a:r>
                <a:r>
                  <a:rPr b="1"/>
                  <a:t>not change the distribution of </a:t>
                </a:r>
                <a14:m>
                  <m:oMath xmlns:m="http://schemas.openxmlformats.org/officeDocument/2006/math">
                    <m:r>
                      <m:t>X</m:t>
                    </m:r>
                  </m:oMath>
                </a14:m>
                <a:r>
                  <a:rPr/>
                  <a:t>.</a:t>
                </a:r>
              </a:p>
              <a:p>
                <a:pPr lvl="0"/>
                <a:r>
                  <a:rPr/>
                  <a:t>This is the intuitive meaning of independence.</a:t>
                </a:r>
              </a:p>
              <a:p>
                <a:pPr lvl="0"/>
                <a:r>
                  <a:rPr/>
                  <a:t>We already established independence by verifying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Y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y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X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Y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y</m:t>
                          </m:r>
                        </m:e>
                      </m:d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for every possible pair.</a:t>
                </a:r>
              </a:p>
            </p:txBody>
          </p:sp>
        </mc:Choice>
      </mc:AlternateContent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Independence: Events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Independence also applies to events involving </a:t>
                </a:r>
                <a14:m>
                  <m:oMath xmlns:m="http://schemas.openxmlformats.org/officeDocument/2006/math">
                    <m:r>
                      <m:t>X</m:t>
                    </m:r>
                  </m:oMath>
                </a14:m>
                <a:r>
                  <a:rPr/>
                  <a:t> and </a:t>
                </a:r>
                <a14:m>
                  <m:oMath xmlns:m="http://schemas.openxmlformats.org/officeDocument/2006/math">
                    <m:r>
                      <m:t>Y</m:t>
                    </m:r>
                  </m:oMath>
                </a14:m>
                <a:r>
                  <a:rPr/>
                  <a:t>.</a:t>
                </a:r>
              </a:p>
              <a:p>
                <a:pPr lvl="0"/>
                <a:r>
                  <a:rPr/>
                  <a:t>Consider the events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A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{</m:t>
                      </m:r>
                      <m:r>
                        <m:t>X</m:t>
                      </m:r>
                      <m:r>
                        <m:rPr>
                          <m:sty m:val="p"/>
                        </m:rPr>
                        <m:t>&gt;</m:t>
                      </m:r>
                      <m:r>
                        <m:t>1</m:t>
                      </m:r>
                      <m:r>
                        <m:rPr>
                          <m:sty m:val="p"/>
                        </m:rPr>
                        <m:t>}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and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B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{</m:t>
                      </m:r>
                      <m:r>
                        <m:t>Y</m:t>
                      </m:r>
                      <m:r>
                        <m:rPr>
                          <m:sty m:val="p"/>
                        </m:rPr>
                        <m:t>&lt;</m:t>
                      </m:r>
                      <m:r>
                        <m:t>3</m:t>
                      </m:r>
                      <m:r>
                        <m:rPr>
                          <m:sty m:val="p"/>
                        </m:rPr>
                        <m:t>}</m:t>
                      </m:r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First,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&gt;</m:t>
                          </m:r>
                          <m:r>
                            <m:t>1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 </m:t>
                          </m:r>
                          <m:r>
                            <m:t>Y</m:t>
                          </m:r>
                          <m:r>
                            <m:rPr>
                              <m:sty m:val="p"/>
                            </m:rPr>
                            <m:t>&lt;</m:t>
                          </m:r>
                          <m:r>
                            <m:t>3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Y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2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1</m:t>
                          </m:r>
                        </m:e>
                      </m:d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Y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2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2</m:t>
                          </m:r>
                        </m:e>
                      </m: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Therefore,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&gt;</m:t>
                          </m:r>
                          <m:r>
                            <m:t>1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 </m:t>
                          </m:r>
                          <m:r>
                            <m:t>Y</m:t>
                          </m:r>
                          <m:r>
                            <m:rPr>
                              <m:sty m:val="p"/>
                            </m:rPr>
                            <m:t>&lt;</m:t>
                          </m:r>
                          <m:r>
                            <m:t>3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3</m:t>
                          </m:r>
                        </m:num>
                        <m:den>
                          <m:r>
                            <m:t>16</m:t>
                          </m:r>
                        </m:den>
                      </m:f>
                      <m:r>
                        <m:rPr>
                          <m:sty m:val="p"/>
                        </m:rPr>
                        <m:t>+</m:t>
                      </m:r>
                      <m:f>
                        <m:fPr>
                          <m:type m:val="bar"/>
                        </m:fPr>
                        <m:num>
                          <m:r>
                            <m:t>3</m:t>
                          </m:r>
                        </m:num>
                        <m:den>
                          <m:r>
                            <m:t>8</m:t>
                          </m:r>
                        </m:den>
                      </m:f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9</m:t>
                          </m:r>
                        </m:num>
                        <m:den>
                          <m:r>
                            <m:t>16</m:t>
                          </m:r>
                        </m:den>
                      </m:f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Also,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&gt;</m:t>
                          </m:r>
                          <m:r>
                            <m:t>1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X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2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3</m:t>
                          </m:r>
                        </m:num>
                        <m:den>
                          <m:r>
                            <m:t>4</m:t>
                          </m:r>
                        </m:den>
                      </m:f>
                      <m:r>
                        <m:rPr>
                          <m:sty m:val="p"/>
                        </m:rPr>
                        <m:t>,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and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Y</m:t>
                          </m:r>
                          <m:r>
                            <m:rPr>
                              <m:sty m:val="p"/>
                            </m:rPr>
                            <m:t>&lt;</m:t>
                          </m:r>
                          <m:r>
                            <m:t>3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Y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1</m:t>
                          </m:r>
                        </m:e>
                      </m:d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Y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2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1</m:t>
                          </m:r>
                        </m:num>
                        <m:den>
                          <m:r>
                            <m:t>4</m:t>
                          </m:r>
                        </m:den>
                      </m:f>
                      <m:r>
                        <m:rPr>
                          <m:sty m:val="p"/>
                        </m:rPr>
                        <m:t>+</m:t>
                      </m:r>
                      <m:f>
                        <m:fPr>
                          <m:type m:val="bar"/>
                        </m:fPr>
                        <m:num>
                          <m:r>
                            <m:t>1</m:t>
                          </m:r>
                        </m:num>
                        <m:den>
                          <m:r>
                            <m:t>2</m:t>
                          </m:r>
                        </m:den>
                      </m:f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3</m:t>
                          </m:r>
                        </m:num>
                        <m:den>
                          <m:r>
                            <m:t>4</m:t>
                          </m:r>
                        </m:den>
                      </m:f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Therefore,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&gt;</m:t>
                          </m:r>
                          <m:r>
                            <m:t>1</m:t>
                          </m:r>
                        </m:e>
                      </m:d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Y</m:t>
                          </m:r>
                          <m:r>
                            <m:rPr>
                              <m:sty m:val="p"/>
                            </m:rPr>
                            <m:t>&lt;</m:t>
                          </m:r>
                          <m:r>
                            <m:t>3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f>
                            <m:fPr>
                              <m:type m:val="bar"/>
                            </m:fPr>
                            <m:num>
                              <m:r>
                                <m:t>3</m:t>
                              </m:r>
                            </m:num>
                            <m:den>
                              <m:r>
                                <m:t>4</m:t>
                              </m:r>
                            </m:den>
                          </m:f>
                        </m:e>
                      </m:d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f>
                            <m:fPr>
                              <m:type m:val="bar"/>
                            </m:fPr>
                            <m:num>
                              <m:r>
                                <m:t>3</m:t>
                              </m:r>
                            </m:num>
                            <m:den>
                              <m:r>
                                <m:t>4</m:t>
                              </m:r>
                            </m:den>
                          </m:f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9</m:t>
                          </m:r>
                        </m:num>
                        <m:den>
                          <m:r>
                            <m:t>16</m:t>
                          </m:r>
                        </m:den>
                      </m:f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Hence,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&gt;</m:t>
                          </m:r>
                          <m:r>
                            <m:t>1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 </m:t>
                          </m:r>
                          <m:r>
                            <m:t>Y</m:t>
                          </m:r>
                          <m:r>
                            <m:rPr>
                              <m:sty m:val="p"/>
                            </m:rPr>
                            <m:t>&lt;</m:t>
                          </m:r>
                          <m:r>
                            <m:t>3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&gt;</m:t>
                          </m:r>
                          <m:r>
                            <m:t>1</m:t>
                          </m:r>
                        </m:e>
                      </m:d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Y</m:t>
                          </m:r>
                          <m:r>
                            <m:rPr>
                              <m:sty m:val="p"/>
                            </m:rPr>
                            <m:t>&lt;</m:t>
                          </m:r>
                          <m:r>
                            <m:t>3</m:t>
                          </m:r>
                        </m:e>
                      </m: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This is consistent with the fact that </a:t>
                </a:r>
                <a14:m>
                  <m:oMath xmlns:m="http://schemas.openxmlformats.org/officeDocument/2006/math">
                    <m:r>
                      <m:t>X</m:t>
                    </m:r>
                  </m:oMath>
                </a14:m>
                <a:r>
                  <a:rPr/>
                  <a:t> and </a:t>
                </a:r>
                <a14:m>
                  <m:oMath xmlns:m="http://schemas.openxmlformats.org/officeDocument/2006/math">
                    <m:r>
                      <m:t>Y</m:t>
                    </m:r>
                  </m:oMath>
                </a14:m>
                <a:r>
                  <a:rPr/>
                  <a:t> are independent.</a:t>
                </a:r>
              </a:p>
              <a:p>
                <a:pPr lvl="0"/>
                <a:r>
                  <a:rPr b="1"/>
                  <a:t>Remember:</a:t>
                </a:r>
                <a:r>
                  <a:rPr/>
                  <a:t> checking only one pair of events is not enough by itself to establish independence. Independence requires the relationship to hold for all relevant values or events.</a:t>
                </a:r>
              </a:p>
            </p:txBody>
          </p:sp>
        </mc:Choice>
      </mc:AlternateContent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Expected Value of a Function of Two Random Variables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Let </a:t>
                </a:r>
                <a14:m>
                  <m:oMath xmlns:m="http://schemas.openxmlformats.org/officeDocument/2006/math">
                    <m:r>
                      <m:t>X</m:t>
                    </m:r>
                  </m:oMath>
                </a14:m>
                <a:r>
                  <a:rPr/>
                  <a:t> and </a:t>
                </a:r>
                <a14:m>
                  <m:oMath xmlns:m="http://schemas.openxmlformats.org/officeDocument/2006/math">
                    <m:r>
                      <m:t>Y</m:t>
                    </m:r>
                  </m:oMath>
                </a14:m>
                <a:r>
                  <a:rPr/>
                  <a:t> be two discrete random variables with joint PMF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y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 </m:t>
                          </m:r>
                          <m:r>
                            <m:t>Y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y</m:t>
                          </m:r>
                        </m:e>
                      </m: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If </a:t>
                </a:r>
                <a14:m>
                  <m:oMath xmlns:m="http://schemas.openxmlformats.org/officeDocument/2006/math">
                    <m:r>
                      <m:t>g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X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t>Y</m:t>
                        </m:r>
                      </m:e>
                    </m:d>
                  </m:oMath>
                </a14:m>
                <a:r>
                  <a:rPr/>
                  <a:t> is a function of </a:t>
                </a:r>
                <a14:m>
                  <m:oMath xmlns:m="http://schemas.openxmlformats.org/officeDocument/2006/math">
                    <m:r>
                      <m:t>X</m:t>
                    </m:r>
                  </m:oMath>
                </a14:m>
                <a:r>
                  <a:rPr/>
                  <a:t> and </a:t>
                </a:r>
                <a14:m>
                  <m:oMath xmlns:m="http://schemas.openxmlformats.org/officeDocument/2006/math">
                    <m:r>
                      <m:t>Y</m:t>
                    </m:r>
                  </m:oMath>
                </a14:m>
                <a:r>
                  <a:rPr/>
                  <a:t>, then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borderBox>
                        <m:e>
                          <m:r>
                            <m:t>E</m:t>
                          </m:r>
                          <m:d>
                            <m:dPr>
                              <m:begChr m:val="["/>
                              <m:sepChr m:val=""/>
                              <m:endChr m:val="]"/>
                              <m:grow/>
                            </m:dPr>
                            <m:e>
                              <m:r>
                                <m:t>g</m:t>
                              </m:r>
                              <m:d>
                                <m:dPr>
                                  <m:begChr m:val="("/>
                                  <m:sepChr m:val=""/>
                                  <m:endChr m:val=")"/>
                                  <m:grow/>
                                </m:dPr>
                                <m:e>
                                  <m:r>
                                    <m:t>X</m:t>
                                  </m:r>
                                  <m:r>
                                    <m:rPr>
                                      <m:sty m:val="p"/>
                                    </m:rPr>
                                    <m:t>,</m:t>
                                  </m:r>
                                  <m:r>
                                    <m:t>Y</m:t>
                                  </m:r>
                                </m:e>
                              </m:d>
                            </m:e>
                          </m:d>
                          <m:r>
                            <m:rPr>
                              <m:sty m:val="p"/>
                            </m:rPr>
                            <m:t>=</m:t>
                          </m:r>
                          <m:nary>
                            <m:naryPr>
                              <m:chr m:val="∑"/>
                              <m:limLoc m:val="undOvr"/>
                              <m:subHide m:val="off"/>
                              <m:supHide m:val="on"/>
                            </m:naryPr>
                            <m:sub>
                              <m:r>
                                <m:t>x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nary>
                                <m:naryPr>
                                  <m:chr m:val="∑"/>
                                  <m:limLoc m:val="undOvr"/>
                                  <m:subHide m:val="off"/>
                                  <m:supHide m:val="on"/>
                                </m:naryPr>
                                <m:sub>
                                  <m:r>
                                    <m:t>y</m:t>
                                  </m:r>
                                </m:sub>
                                <m:sup>
                                  <m:r>
                                    <m:t>​</m:t>
                                  </m:r>
                                </m:sup>
                                <m:e>
                                  <m:r>
                                    <m:t>g</m:t>
                                  </m:r>
                                </m:e>
                              </m:nary>
                            </m:e>
                          </m:nary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,</m:t>
                              </m:r>
                              <m:r>
                                <m:t>y</m:t>
                              </m:r>
                            </m:e>
                          </m:d>
                          <m:r>
                            <m:t>p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,</m:t>
                              </m:r>
                              <m:r>
                                <m:t>y</m:t>
                              </m:r>
                            </m:e>
                          </m:d>
                        </m:e>
                      </m:borderBox>
                    </m:oMath>
                  </m:oMathPara>
                </a14:m>
              </a:p>
              <a:p>
                <a:pPr lvl="0"/>
                <a:r>
                  <a:rPr/>
                  <a:t>In words, multiply each possible value of </a:t>
                </a:r>
                <a14:m>
                  <m:oMath xmlns:m="http://schemas.openxmlformats.org/officeDocument/2006/math">
                    <m:r>
                      <m:t>g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x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t>y</m:t>
                        </m:r>
                      </m:e>
                    </m:d>
                  </m:oMath>
                </a14:m>
                <a:r>
                  <a:rPr/>
                  <a:t> by the probability associated with </a:t>
                </a:r>
                <a14:m>
                  <m:oMath xmlns:m="http://schemas.openxmlformats.org/officeDocument/2006/math"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x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t>y</m:t>
                        </m:r>
                      </m:e>
                    </m:d>
                  </m:oMath>
                </a14:m>
                <a:r>
                  <a:rPr/>
                  <a:t>, and then add over all possible pairs.</a:t>
                </a:r>
              </a:p>
              <a:p>
                <a:pPr lvl="0"/>
                <a:r>
                  <a:rPr/>
                  <a:t>A particularly important case is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g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Y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X</m:t>
                      </m:r>
                      <m:r>
                        <m:t>Y</m:t>
                      </m:r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Therefore,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borderBox>
                        <m:e>
                          <m:r>
                            <m:t>E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X</m:t>
                              </m:r>
                              <m:r>
                                <m:t>Y</m:t>
                              </m:r>
                            </m:e>
                          </m:d>
                          <m:r>
                            <m:rPr>
                              <m:sty m:val="p"/>
                            </m:rPr>
                            <m:t>=</m:t>
                          </m:r>
                          <m:nary>
                            <m:naryPr>
                              <m:chr m:val="∑"/>
                              <m:limLoc m:val="undOvr"/>
                              <m:subHide m:val="off"/>
                              <m:supHide m:val="on"/>
                            </m:naryPr>
                            <m:sub>
                              <m:r>
                                <m:t>x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nary>
                                <m:naryPr>
                                  <m:chr m:val="∑"/>
                                  <m:limLoc m:val="undOvr"/>
                                  <m:subHide m:val="off"/>
                                  <m:supHide m:val="on"/>
                                </m:naryPr>
                                <m:sub>
                                  <m:r>
                                    <m:t>y</m:t>
                                  </m:r>
                                </m:sub>
                                <m:sup>
                                  <m:r>
                                    <m:t>​</m:t>
                                  </m:r>
                                </m:sup>
                                <m:e>
                                  <m:r>
                                    <m:t>x</m:t>
                                  </m:r>
                                </m:e>
                              </m:nary>
                            </m:e>
                          </m:nary>
                          <m:r>
                            <m:t>y</m:t>
                          </m:r>
                          <m:r>
                            <m:t> </m:t>
                          </m:r>
                          <m:r>
                            <m:t>p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,</m:t>
                              </m:r>
                              <m:r>
                                <m:t>y</m:t>
                              </m:r>
                            </m:e>
                          </m:d>
                        </m:e>
                      </m:borderBox>
                    </m:oMath>
                  </m:oMathPara>
                </a14:m>
              </a:p>
            </p:txBody>
          </p:sp>
        </mc:Choice>
      </mc:AlternateContent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Expected Values: Supermarket Example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Recall the supermarket example:</a:t>
                </a:r>
              </a:p>
              <a:p>
                <a:pPr lvl="1"/>
                <a14:m>
                  <m:oMath xmlns:m="http://schemas.openxmlformats.org/officeDocument/2006/math">
                    <m:r>
                      <m:t>X</m:t>
                    </m:r>
                    <m:r>
                      <m:rPr>
                        <m:sty m:val="p"/>
                      </m:rPr>
                      <m:t>=</m:t>
                    </m:r>
                  </m:oMath>
                </a14:m>
                <a:r>
                  <a:rPr/>
                  <a:t> number of customers who choose counter 1.</a:t>
                </a:r>
              </a:p>
              <a:p>
                <a:pPr lvl="1"/>
                <a14:m>
                  <m:oMath xmlns:m="http://schemas.openxmlformats.org/officeDocument/2006/math">
                    <m:r>
                      <m:t>Y</m:t>
                    </m:r>
                    <m:r>
                      <m:rPr>
                        <m:sty m:val="p"/>
                      </m:rPr>
                      <m:t>=</m:t>
                    </m:r>
                  </m:oMath>
                </a14:m>
                <a:r>
                  <a:rPr/>
                  <a:t> number of customers who choose counter 2.</a:t>
                </a:r>
              </a:p>
              <a:p>
                <a:pPr lvl="0"/>
                <a:r>
                  <a:rPr/>
                  <a:t>The joint PMF and marginal PMFs are</a:t>
                </a:r>
              </a:p>
              <a:p>
                <a:pPr lvl="0"/>
                <a:r>
                  <a:rPr/>
                  <a:t>First, find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E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  <m:r>
                            <m:t>Y</m:t>
                          </m:r>
                        </m:e>
                      </m: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Using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E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  <m:r>
                            <m:t>Y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nary>
                        <m:naryPr>
                          <m:chr m:val="∑"/>
                          <m:limLoc m:val="undOvr"/>
                          <m:subHide m:val="off"/>
                          <m:supHide m:val="on"/>
                        </m:naryPr>
                        <m:sub>
                          <m:r>
                            <m:t>x</m:t>
                          </m:r>
                        </m:sub>
                        <m:sup>
                          <m:r>
                            <m:t>​</m:t>
                          </m:r>
                        </m:sup>
                        <m:e>
                          <m:nary>
                            <m:naryPr>
                              <m:chr m:val="∑"/>
                              <m:limLoc m:val="undOvr"/>
                              <m:subHide m:val="off"/>
                              <m:supHide m:val="on"/>
                            </m:naryPr>
                            <m:sub>
                              <m:r>
                                <m:t>y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r>
                                <m:t>x</m:t>
                              </m:r>
                            </m:e>
                          </m:nary>
                        </m:e>
                      </m:nary>
                      <m:r>
                        <m:t>y</m:t>
                      </m:r>
                      <m:r>
                        <m:t> </m:t>
                      </m:r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y</m:t>
                          </m:r>
                        </m:e>
                      </m:d>
                      <m:r>
                        <m:rPr>
                          <m:sty m:val="p"/>
                        </m:rPr>
                        <m:t>,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we examine each possible pair </a:t>
                </a:r>
                <a14:m>
                  <m:oMath xmlns:m="http://schemas.openxmlformats.org/officeDocument/2006/math"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x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t>y</m:t>
                        </m:r>
                      </m:e>
                    </m:d>
                  </m:oMath>
                </a14:m>
                <a:r>
                  <a:rPr/>
                  <a:t>.</a:t>
                </a:r>
              </a:p>
              <a:p>
                <a:pPr lvl="0"/>
                <a:r>
                  <a:rPr/>
                  <a:t>Whenever </a:t>
                </a:r>
                <a14:m>
                  <m:oMath xmlns:m="http://schemas.openxmlformats.org/officeDocument/2006/math">
                    <m:r>
                      <m:t>x</m:t>
                    </m:r>
                    <m:r>
                      <m:rPr>
                        <m:sty m:val="p"/>
                      </m:rPr>
                      <m:t>=</m:t>
                    </m:r>
                    <m:r>
                      <m:t>0</m:t>
                    </m:r>
                  </m:oMath>
                </a14:m>
                <a:r>
                  <a:rPr/>
                  <a:t> or </a:t>
                </a:r>
                <a14:m>
                  <m:oMath xmlns:m="http://schemas.openxmlformats.org/officeDocument/2006/math">
                    <m:r>
                      <m:t>y</m:t>
                    </m:r>
                    <m:r>
                      <m:rPr>
                        <m:sty m:val="p"/>
                      </m:rPr>
                      <m:t>=</m:t>
                    </m:r>
                    <m:r>
                      <m:t>0</m:t>
                    </m:r>
                  </m:oMath>
                </a14:m>
                <a:r>
                  <a:rPr/>
                  <a:t>, the product </a:t>
                </a:r>
                <a14:m>
                  <m:oMath xmlns:m="http://schemas.openxmlformats.org/officeDocument/2006/math">
                    <m:r>
                      <m:t>x</m:t>
                    </m:r>
                    <m:r>
                      <m:t>y</m:t>
                    </m:r>
                    <m:r>
                      <m:rPr>
                        <m:sty m:val="p"/>
                      </m:rPr>
                      <m:t>=</m:t>
                    </m:r>
                    <m:r>
                      <m:t>0</m:t>
                    </m:r>
                  </m:oMath>
                </a14:m>
                <a:r>
                  <a:rPr/>
                  <a:t>.</a:t>
                </a:r>
              </a:p>
              <a:p>
                <a:pPr lvl="0"/>
                <a:r>
                  <a:rPr/>
                  <a:t>Also,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1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2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2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1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2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2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0</m:t>
                      </m:r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Therefore, the only nonzero contribution comes from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Y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1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1</m:t>
                          </m:r>
                        </m:e>
                      </m: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</p:txBody>
          </p:sp>
        </mc:Choice>
      </mc:AlternateContent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2" name="Title Placeholder 1"/>
              <p:cNvSpPr>
                <a:spLocks noGrp="1"/>
              </p:cNvSpPr>
              <p:nvPr>
                <p:ph type="title"/>
              </p:nvPr>
            </p:nvSpPr>
            <p:spPr bwMode="auto">
              <a:xfrm>
                <a:off x="433680" y="423297"/>
                <a:ext cx="8229600" cy="784602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</p:spPr>
            <p:txBody>
              <a:bodyPr/>
              <a:lstStyle/>
              <a:p>
                <a:pPr lvl="0" indent="0" marL="0">
                  <a:buNone/>
                </a:pPr>
                <a:r>
                  <a:rPr/>
                  <a:t>Expected Values: Calculating </a:t>
                </a:r>
                <a14:m>
                  <m:oMath xmlns:m="http://schemas.openxmlformats.org/officeDocument/2006/math">
                    <m:r>
                      <m:t>E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X</m:t>
                        </m:r>
                        <m:r>
                          <m:t>Y</m:t>
                        </m:r>
                      </m:e>
                    </m:d>
                  </m:oMath>
                </a14:m>
              </a:p>
            </p:txBody>
          </p:sp>
        </mc:Choice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Thus,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m>
                        <m:mPr>
                          <m:baseJc m:val="center"/>
                          <m:plcHide m:val="on"/>
                          <m:mcs>
                            <m:mc>
                              <m:mcPr>
                                <m:mcJc m:val="right"/>
                                <m:count m:val="1"/>
                              </m:mcPr>
                            </m:mc>
                            <m:mc>
                              <m:mcPr>
                                <m:mcJc m:val="left"/>
                                <m:count m:val="1"/>
                              </m:mcPr>
                            </m:mc>
                          </m:mcs>
                        </m:mPr>
                        <m:mr>
                          <m:e>
                            <m:r>
                              <m:t>E</m:t>
                            </m:r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X</m:t>
                                </m:r>
                                <m:r>
                                  <m:t>Y</m:t>
                                </m:r>
                              </m:e>
                            </m:d>
                          </m:e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0</m:t>
                                </m:r>
                              </m:e>
                            </m:d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0</m:t>
                                </m:r>
                              </m:e>
                            </m:d>
                            <m:f>
                              <m:fPr>
                                <m:type m:val="bar"/>
                              </m:fPr>
                              <m:num>
                                <m:r>
                                  <m:t>1</m:t>
                                </m:r>
                              </m:num>
                              <m:den>
                                <m:r>
                                  <m:t>9</m:t>
                                </m:r>
                              </m:den>
                            </m:f>
                            <m:r>
                              <m:rPr>
                                <m:sty m:val="p"/>
                              </m:rPr>
                              <m:t>+</m:t>
                            </m:r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0</m:t>
                                </m:r>
                              </m:e>
                            </m:d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1</m:t>
                                </m:r>
                              </m:e>
                            </m:d>
                            <m:f>
                              <m:fPr>
                                <m:type m:val="bar"/>
                              </m:fPr>
                              <m:num>
                                <m:r>
                                  <m:t>2</m:t>
                                </m:r>
                              </m:num>
                              <m:den>
                                <m:r>
                                  <m:t>9</m:t>
                                </m:r>
                              </m:den>
                            </m:f>
                            <m:r>
                              <m:rPr>
                                <m:sty m:val="p"/>
                              </m:rPr>
                              <m:t>+</m:t>
                            </m:r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0</m:t>
                                </m:r>
                              </m:e>
                            </m:d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2</m:t>
                                </m:r>
                              </m:e>
                            </m:d>
                            <m:f>
                              <m:fPr>
                                <m:type m:val="bar"/>
                              </m:fPr>
                              <m:num>
                                <m:r>
                                  <m:t>1</m:t>
                                </m:r>
                              </m:num>
                              <m:den>
                                <m:r>
                                  <m:t>9</m:t>
                                </m:r>
                              </m:den>
                            </m:f>
                          </m:e>
                        </m:mr>
                        <m:mr>
                          <m:e/>
                          <m:e>
                            <m:r>
                              <m:t> </m:t>
                            </m:r>
                            <m:r>
                              <m:rPr>
                                <m:sty m:val="p"/>
                              </m:rPr>
                              <m:t>+</m:t>
                            </m:r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1</m:t>
                                </m:r>
                              </m:e>
                            </m:d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0</m:t>
                                </m:r>
                              </m:e>
                            </m:d>
                            <m:f>
                              <m:fPr>
                                <m:type m:val="bar"/>
                              </m:fPr>
                              <m:num>
                                <m:r>
                                  <m:t>2</m:t>
                                </m:r>
                              </m:num>
                              <m:den>
                                <m:r>
                                  <m:t>9</m:t>
                                </m:r>
                              </m:den>
                            </m:f>
                            <m:r>
                              <m:rPr>
                                <m:sty m:val="p"/>
                              </m:rPr>
                              <m:t>+</m:t>
                            </m:r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1</m:t>
                                </m:r>
                              </m:e>
                            </m:d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1</m:t>
                                </m:r>
                              </m:e>
                            </m:d>
                            <m:f>
                              <m:fPr>
                                <m:type m:val="bar"/>
                              </m:fPr>
                              <m:num>
                                <m:r>
                                  <m:t>2</m:t>
                                </m:r>
                              </m:num>
                              <m:den>
                                <m:r>
                                  <m:t>9</m:t>
                                </m:r>
                              </m:den>
                            </m:f>
                            <m:r>
                              <m:rPr>
                                <m:sty m:val="p"/>
                              </m:rPr>
                              <m:t>+</m:t>
                            </m:r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1</m:t>
                                </m:r>
                              </m:e>
                            </m:d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2</m:t>
                                </m:r>
                              </m:e>
                            </m:d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0</m:t>
                                </m:r>
                              </m:e>
                            </m:d>
                          </m:e>
                        </m:mr>
                        <m:mr>
                          <m:e/>
                          <m:e>
                            <m:r>
                              <m:t> </m:t>
                            </m:r>
                            <m:r>
                              <m:rPr>
                                <m:sty m:val="p"/>
                              </m:rPr>
                              <m:t>+</m:t>
                            </m:r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2</m:t>
                                </m:r>
                              </m:e>
                            </m:d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0</m:t>
                                </m:r>
                              </m:e>
                            </m:d>
                            <m:f>
                              <m:fPr>
                                <m:type m:val="bar"/>
                              </m:fPr>
                              <m:num>
                                <m:r>
                                  <m:t>1</m:t>
                                </m:r>
                              </m:num>
                              <m:den>
                                <m:r>
                                  <m:t>9</m:t>
                                </m:r>
                              </m:den>
                            </m:f>
                            <m:r>
                              <m:rPr>
                                <m:sty m:val="p"/>
                              </m:rPr>
                              <m:t>+</m:t>
                            </m:r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2</m:t>
                                </m:r>
                              </m:e>
                            </m:d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1</m:t>
                                </m:r>
                              </m:e>
                            </m:d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0</m:t>
                                </m:r>
                              </m:e>
                            </m:d>
                            <m:r>
                              <m:rPr>
                                <m:sty m:val="p"/>
                              </m:rPr>
                              <m:t>+</m:t>
                            </m:r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2</m:t>
                                </m:r>
                              </m:e>
                            </m:d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2</m:t>
                                </m:r>
                              </m:e>
                            </m:d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0</m:t>
                                </m:r>
                              </m:e>
                            </m:d>
                            <m:r>
                              <m:rPr>
                                <m:sty m:val="p"/>
                              </m:rPr>
                              <m:t>.</m:t>
                            </m:r>
                          </m:e>
                        </m:mr>
                      </m:m>
                    </m:oMath>
                  </m:oMathPara>
                </a14:m>
              </a:p>
              <a:p>
                <a:pPr lvl="0"/>
                <a:r>
                  <a:rPr/>
                  <a:t>Therefore,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E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  <m:r>
                            <m:t>Y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1</m:t>
                          </m:r>
                        </m:e>
                      </m:d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1</m:t>
                          </m:r>
                        </m:e>
                      </m:d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f>
                            <m:fPr>
                              <m:type m:val="bar"/>
                            </m:fPr>
                            <m:num>
                              <m:r>
                                <m:t>2</m:t>
                              </m:r>
                            </m:num>
                            <m:den>
                              <m:r>
                                <m:t>9</m:t>
                              </m:r>
                            </m:den>
                          </m:f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borderBox>
                        <m:e>
                          <m:f>
                            <m:fPr>
                              <m:type m:val="bar"/>
                            </m:fPr>
                            <m:num>
                              <m:r>
                                <m:t>2</m:t>
                              </m:r>
                            </m:num>
                            <m:den>
                              <m:r>
                                <m:t>9</m:t>
                              </m:r>
                            </m:den>
                          </m:f>
                        </m:e>
                      </m:borderBox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</p:txBody>
          </p:sp>
        </mc:Choice>
      </mc:AlternateContent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2" name="Title Placeholder 1"/>
              <p:cNvSpPr>
                <a:spLocks noGrp="1"/>
              </p:cNvSpPr>
              <p:nvPr>
                <p:ph type="title"/>
              </p:nvPr>
            </p:nvSpPr>
            <p:spPr bwMode="auto">
              <a:xfrm>
                <a:off x="433680" y="423297"/>
                <a:ext cx="8229600" cy="784602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</p:spPr>
            <p:txBody>
              <a:bodyPr/>
              <a:lstStyle/>
              <a:p>
                <a:pPr lvl="0" indent="0" marL="0">
                  <a:buNone/>
                </a:pPr>
                <a:r>
                  <a:rPr/>
                  <a:t>Expected Values: Calculating </a:t>
                </a:r>
                <a14:m>
                  <m:oMath xmlns:m="http://schemas.openxmlformats.org/officeDocument/2006/math">
                    <m:r>
                      <m:t>E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X</m:t>
                        </m:r>
                      </m:e>
                    </m:d>
                  </m:oMath>
                </a14:m>
              </a:p>
            </p:txBody>
          </p:sp>
        </mc:Choice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We can calculate </a:t>
                </a:r>
                <a14:m>
                  <m:oMath xmlns:m="http://schemas.openxmlformats.org/officeDocument/2006/math">
                    <m:r>
                      <m:t>E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X</m:t>
                        </m:r>
                      </m:e>
                    </m:d>
                  </m:oMath>
                </a14:m>
                <a:r>
                  <a:rPr/>
                  <a:t> directly from the </a:t>
                </a:r>
                <a:r>
                  <a:rPr b="1"/>
                  <a:t>marginal PMF of </a:t>
                </a:r>
                <a14:m>
                  <m:oMath xmlns:m="http://schemas.openxmlformats.org/officeDocument/2006/math">
                    <m:r>
                      <m:t>X</m:t>
                    </m:r>
                  </m:oMath>
                </a14:m>
                <a:r>
                  <a:rPr/>
                  <a:t>.</a:t>
                </a:r>
              </a:p>
              <a:p>
                <a:pPr lvl="0"/>
                <a:r>
                  <a:rPr/>
                  <a:t>Recall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X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0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4</m:t>
                          </m:r>
                        </m:num>
                        <m:den>
                          <m:r>
                            <m:t>9</m:t>
                          </m:r>
                        </m:den>
                      </m:f>
                      <m:r>
                        <m:rPr>
                          <m:sty m:val="p"/>
                        </m:rPr>
                        <m:t>,</m:t>
                      </m:r>
                      <m:r>
                        <m:t>  </m:t>
                      </m:r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X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1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4</m:t>
                          </m:r>
                        </m:num>
                        <m:den>
                          <m:r>
                            <m:t>9</m:t>
                          </m:r>
                        </m:den>
                      </m:f>
                      <m:r>
                        <m:rPr>
                          <m:sty m:val="p"/>
                        </m:rPr>
                        <m:t>,</m:t>
                      </m:r>
                      <m:r>
                        <m:t>  </m:t>
                      </m:r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X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2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1</m:t>
                          </m:r>
                        </m:num>
                        <m:den>
                          <m:r>
                            <m:t>9</m:t>
                          </m:r>
                        </m:den>
                      </m:f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Therefore,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m>
                        <m:mPr>
                          <m:baseJc m:val="center"/>
                          <m:plcHide m:val="on"/>
                          <m:mcs>
                            <m:mc>
                              <m:mcPr>
                                <m:mcJc m:val="right"/>
                                <m:count m:val="1"/>
                              </m:mcPr>
                            </m:mc>
                            <m:mc>
                              <m:mcPr>
                                <m:mcJc m:val="left"/>
                                <m:count m:val="1"/>
                              </m:mcPr>
                            </m:mc>
                          </m:mcs>
                        </m:mPr>
                        <m:mr>
                          <m:e>
                            <m:r>
                              <m:t>E</m:t>
                            </m:r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X</m:t>
                                </m:r>
                              </m:e>
                            </m:d>
                          </m:e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nary>
                              <m:naryPr>
                                <m:chr m:val="∑"/>
                                <m:limLoc m:val="undOvr"/>
                                <m:subHide m:val="off"/>
                                <m:supHide m:val="on"/>
                              </m:naryPr>
                              <m:sub>
                                <m:r>
                                  <m:t>x</m:t>
                                </m:r>
                              </m:sub>
                              <m:sup>
                                <m:r>
                                  <m:t>​</m:t>
                                </m:r>
                              </m:sup>
                              <m:e>
                                <m:r>
                                  <m:t>x</m:t>
                                </m:r>
                              </m:e>
                            </m:nary>
                            <m:r>
                              <m:t> </m:t>
                            </m:r>
                            <m:sSub>
                              <m:e>
                                <m:r>
                                  <m:t>p</m:t>
                                </m:r>
                              </m:e>
                              <m:sub>
                                <m:r>
                                  <m:t>X</m:t>
                                </m:r>
                              </m:sub>
                            </m:sSub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x</m:t>
                                </m:r>
                              </m:e>
                            </m:d>
                          </m:e>
                        </m:mr>
                        <m:mr>
                          <m:e/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r>
                              <m:t>0</m:t>
                            </m:r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f>
                                  <m:fPr>
                                    <m:type m:val="bar"/>
                                  </m:fPr>
                                  <m:num>
                                    <m:r>
                                      <m:t>4</m:t>
                                    </m:r>
                                  </m:num>
                                  <m:den>
                                    <m:r>
                                      <m:t>9</m:t>
                                    </m:r>
                                  </m:den>
                                </m:f>
                              </m:e>
                            </m:d>
                            <m:r>
                              <m:rPr>
                                <m:sty m:val="p"/>
                              </m:rPr>
                              <m:t>+</m:t>
                            </m:r>
                            <m:r>
                              <m:t>1</m:t>
                            </m:r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f>
                                  <m:fPr>
                                    <m:type m:val="bar"/>
                                  </m:fPr>
                                  <m:num>
                                    <m:r>
                                      <m:t>4</m:t>
                                    </m:r>
                                  </m:num>
                                  <m:den>
                                    <m:r>
                                      <m:t>9</m:t>
                                    </m:r>
                                  </m:den>
                                </m:f>
                              </m:e>
                            </m:d>
                            <m:r>
                              <m:rPr>
                                <m:sty m:val="p"/>
                              </m:rPr>
                              <m:t>+</m:t>
                            </m:r>
                            <m:r>
                              <m:t>2</m:t>
                            </m:r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f>
                                  <m:fPr>
                                    <m:type m:val="bar"/>
                                  </m:fPr>
                                  <m:num>
                                    <m:r>
                                      <m:t>1</m:t>
                                    </m:r>
                                  </m:num>
                                  <m:den>
                                    <m:r>
                                      <m:t>9</m:t>
                                    </m:r>
                                  </m:den>
                                </m:f>
                              </m:e>
                            </m:d>
                          </m:e>
                        </m:mr>
                        <m:mr>
                          <m:e/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f>
                              <m:fPr>
                                <m:type m:val="bar"/>
                              </m:fPr>
                              <m:num>
                                <m:r>
                                  <m:t>6</m:t>
                                </m:r>
                              </m:num>
                              <m:den>
                                <m:r>
                                  <m:t>9</m:t>
                                </m:r>
                              </m:den>
                            </m:f>
                            <m:r>
                              <m:rPr>
                                <m:sty m:val="p"/>
                              </m:rPr>
                              <m:t>=</m:t>
                            </m:r>
                            <m:borderBox>
                              <m:e>
                                <m:f>
                                  <m:fPr>
                                    <m:type m:val="bar"/>
                                  </m:fPr>
                                  <m:num>
                                    <m:r>
                                      <m:t>2</m:t>
                                    </m:r>
                                  </m:num>
                                  <m:den>
                                    <m:r>
                                      <m:t>3</m:t>
                                    </m:r>
                                  </m:den>
                                </m:f>
                              </m:e>
                            </m:borderBox>
                            <m:r>
                              <m:rPr>
                                <m:sty m:val="p"/>
                              </m:rPr>
                              <m:t>.</m:t>
                            </m:r>
                          </m:e>
                        </m:mr>
                      </m:m>
                    </m:oMath>
                  </m:oMathPara>
                </a14:m>
              </a:p>
              <a:p>
                <a:pPr lvl="0"/>
                <a:r>
                  <a:rPr/>
                  <a:t>By symmetry,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E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Y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2</m:t>
                          </m:r>
                        </m:num>
                        <m:den>
                          <m:r>
                            <m:t>3</m:t>
                          </m:r>
                        </m:den>
                      </m:f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We could also calculate </a:t>
                </a:r>
                <a14:m>
                  <m:oMath xmlns:m="http://schemas.openxmlformats.org/officeDocument/2006/math">
                    <m:r>
                      <m:t>E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X</m:t>
                        </m:r>
                      </m:e>
                    </m:d>
                  </m:oMath>
                </a14:m>
                <a:r>
                  <a:rPr/>
                  <a:t> from the joint PMF: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E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nary>
                        <m:naryPr>
                          <m:chr m:val="∑"/>
                          <m:limLoc m:val="undOvr"/>
                          <m:subHide m:val="off"/>
                          <m:supHide m:val="on"/>
                        </m:naryPr>
                        <m:sub>
                          <m:r>
                            <m:t>x</m:t>
                          </m:r>
                        </m:sub>
                        <m:sup>
                          <m:r>
                            <m:t>​</m:t>
                          </m:r>
                        </m:sup>
                        <m:e>
                          <m:nary>
                            <m:naryPr>
                              <m:chr m:val="∑"/>
                              <m:limLoc m:val="undOvr"/>
                              <m:subHide m:val="off"/>
                              <m:supHide m:val="on"/>
                            </m:naryPr>
                            <m:sub>
                              <m:r>
                                <m:t>y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r>
                                <m:t>x</m:t>
                              </m:r>
                            </m:e>
                          </m:nary>
                        </m:e>
                      </m:nary>
                      <m:r>
                        <m:t> </m:t>
                      </m:r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y</m:t>
                          </m:r>
                        </m:e>
                      </m:d>
                      <m:r>
                        <m:rPr>
                          <m:sty m:val="p"/>
                        </m:rPr>
                        <m:t>,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but using the marginal PMF is usually simpler.</a:t>
                </a:r>
              </a:p>
            </p:txBody>
          </p:sp>
        </mc:Choice>
      </mc:AlternateContent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Properties of Expected Values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 b="1"/>
                  <a:t>Property 1: Expected value of a constant</a:t>
                </a:r>
              </a:p>
              <a:p>
                <a:pPr lvl="0"/>
                <a:r>
                  <a:rPr/>
                  <a:t>If </a:t>
                </a:r>
                <a14:m>
                  <m:oMath xmlns:m="http://schemas.openxmlformats.org/officeDocument/2006/math">
                    <m:r>
                      <m:t>c</m:t>
                    </m:r>
                  </m:oMath>
                </a14:m>
                <a:r>
                  <a:rPr/>
                  <a:t> is a constant, then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borderBox>
                        <m:e>
                          <m:r>
                            <m:t>E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c</m:t>
                              </m:r>
                            </m:e>
                          </m:d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c</m:t>
                          </m:r>
                          <m:r>
                            <m:rPr>
                              <m:sty m:val="p"/>
                            </m:rPr>
                            <m:t>.</m:t>
                          </m:r>
                        </m:e>
                      </m:borderBox>
                    </m:oMath>
                  </m:oMathPara>
                </a14:m>
              </a:p>
              <a:p>
                <a:pPr lvl="0"/>
                <a:r>
                  <a:rPr/>
                  <a:t>A constant does not vary, so its average value is simply the constant itself.</a:t>
                </a:r>
              </a:p>
              <a:p>
                <a:pPr lvl="0"/>
                <a:r>
                  <a:rPr b="1"/>
                  <a:t>Property 2: Multiplying by a constant</a:t>
                </a:r>
              </a:p>
              <a:p>
                <a:pPr lvl="0"/>
                <a:r>
                  <a:rPr/>
                  <a:t>Let </a:t>
                </a:r>
                <a14:m>
                  <m:oMath xmlns:m="http://schemas.openxmlformats.org/officeDocument/2006/math">
                    <m:r>
                      <m:t>g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X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t>Y</m:t>
                        </m:r>
                      </m:e>
                    </m:d>
                  </m:oMath>
                </a14:m>
                <a:r>
                  <a:rPr/>
                  <a:t> be any function of the random variables </a:t>
                </a:r>
                <a14:m>
                  <m:oMath xmlns:m="http://schemas.openxmlformats.org/officeDocument/2006/math">
                    <m:r>
                      <m:t>X</m:t>
                    </m:r>
                  </m:oMath>
                </a14:m>
                <a:r>
                  <a:rPr/>
                  <a:t> and </a:t>
                </a:r>
                <a14:m>
                  <m:oMath xmlns:m="http://schemas.openxmlformats.org/officeDocument/2006/math">
                    <m:r>
                      <m:t>Y</m:t>
                    </m:r>
                  </m:oMath>
                </a14:m>
                <a:r>
                  <a:rPr/>
                  <a:t>, and let </a:t>
                </a:r>
                <a14:m>
                  <m:oMath xmlns:m="http://schemas.openxmlformats.org/officeDocument/2006/math">
                    <m:r>
                      <m:t>c</m:t>
                    </m:r>
                  </m:oMath>
                </a14:m>
                <a:r>
                  <a:rPr/>
                  <a:t> be a constant.</a:t>
                </a:r>
              </a:p>
              <a:p>
                <a:pPr lvl="0"/>
                <a:r>
                  <a:rPr/>
                  <a:t>Then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borderBox>
                        <m:e>
                          <m:r>
                            <m:t>E</m:t>
                          </m:r>
                          <m:d>
                            <m:dPr>
                              <m:begChr m:val="["/>
                              <m:sepChr m:val=""/>
                              <m:endChr m:val="]"/>
                              <m:grow/>
                            </m:dPr>
                            <m:e>
                              <m:r>
                                <m:t>c</m:t>
                              </m:r>
                              <m:r>
                                <m:t> </m:t>
                              </m:r>
                              <m:r>
                                <m:t>g</m:t>
                              </m:r>
                              <m:d>
                                <m:dPr>
                                  <m:begChr m:val="("/>
                                  <m:sepChr m:val=""/>
                                  <m:endChr m:val=")"/>
                                  <m:grow/>
                                </m:dPr>
                                <m:e>
                                  <m:r>
                                    <m:t>X</m:t>
                                  </m:r>
                                  <m:r>
                                    <m:rPr>
                                      <m:sty m:val="p"/>
                                    </m:rPr>
                                    <m:t>,</m:t>
                                  </m:r>
                                  <m:r>
                                    <m:t>Y</m:t>
                                  </m:r>
                                </m:e>
                              </m:d>
                            </m:e>
                          </m:d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c</m:t>
                          </m:r>
                          <m:r>
                            <m:t>E</m:t>
                          </m:r>
                          <m:d>
                            <m:dPr>
                              <m:begChr m:val="["/>
                              <m:sepChr m:val=""/>
                              <m:endChr m:val="]"/>
                              <m:grow/>
                            </m:dPr>
                            <m:e>
                              <m:r>
                                <m:t>g</m:t>
                              </m:r>
                              <m:d>
                                <m:dPr>
                                  <m:begChr m:val="("/>
                                  <m:sepChr m:val=""/>
                                  <m:endChr m:val=")"/>
                                  <m:grow/>
                                </m:dPr>
                                <m:e>
                                  <m:r>
                                    <m:t>X</m:t>
                                  </m:r>
                                  <m:r>
                                    <m:rPr>
                                      <m:sty m:val="p"/>
                                    </m:rPr>
                                    <m:t>,</m:t>
                                  </m:r>
                                  <m:r>
                                    <m:t>Y</m:t>
                                  </m:r>
                                </m:e>
                              </m:d>
                            </m:e>
                          </m:d>
                          <m:r>
                            <m:rPr>
                              <m:sty m:val="p"/>
                            </m:rPr>
                            <m:t>.</m:t>
                          </m:r>
                        </m:e>
                      </m:borderBox>
                    </m:oMath>
                  </m:oMathPara>
                </a14:m>
              </a:p>
              <a:p>
                <a:pPr lvl="0"/>
                <a:r>
                  <a:rPr/>
                  <a:t>The constant can be taken outside the expected value.</a:t>
                </a:r>
              </a:p>
            </p:txBody>
          </p:sp>
        </mc:Choice>
      </mc:AlternateContent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Properties of Expected Values: Example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From the supermarket example, we found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E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  <m:r>
                            <m:t>Y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2</m:t>
                          </m:r>
                        </m:num>
                        <m:den>
                          <m:r>
                            <m:t>9</m:t>
                          </m:r>
                        </m:den>
                      </m:f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Find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E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4</m:t>
                          </m:r>
                          <m:r>
                            <m:t>X</m:t>
                          </m:r>
                          <m:r>
                            <m:t>Y</m:t>
                          </m:r>
                        </m:e>
                      </m: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Using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E</m:t>
                      </m:r>
                      <m:d>
                        <m:dPr>
                          <m:begChr m:val="["/>
                          <m:sepChr m:val=""/>
                          <m:endChr m:val="]"/>
                          <m:grow/>
                        </m:dPr>
                        <m:e>
                          <m:r>
                            <m:t>c</m:t>
                          </m:r>
                          <m:r>
                            <m:t> </m:t>
                          </m:r>
                          <m:r>
                            <m:t>g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,</m:t>
                              </m:r>
                              <m:r>
                                <m:t>Y</m:t>
                              </m:r>
                            </m:e>
                          </m:d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c</m:t>
                      </m:r>
                      <m:r>
                        <m:t>E</m:t>
                      </m:r>
                      <m:d>
                        <m:dPr>
                          <m:begChr m:val="["/>
                          <m:sepChr m:val=""/>
                          <m:endChr m:val="]"/>
                          <m:grow/>
                        </m:dPr>
                        <m:e>
                          <m:r>
                            <m:t>g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,</m:t>
                              </m:r>
                              <m:r>
                                <m:t>Y</m:t>
                              </m:r>
                            </m:e>
                          </m:d>
                        </m:e>
                      </m:d>
                      <m:r>
                        <m:rPr>
                          <m:sty m:val="p"/>
                        </m:rPr>
                        <m:t>,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we obtain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m>
                        <m:mPr>
                          <m:baseJc m:val="center"/>
                          <m:plcHide m:val="on"/>
                          <m:mcs>
                            <m:mc>
                              <m:mcPr>
                                <m:mcJc m:val="right"/>
                                <m:count m:val="1"/>
                              </m:mcPr>
                            </m:mc>
                            <m:mc>
                              <m:mcPr>
                                <m:mcJc m:val="left"/>
                                <m:count m:val="1"/>
                              </m:mcPr>
                            </m:mc>
                          </m:mcs>
                        </m:mPr>
                        <m:mr>
                          <m:e>
                            <m:r>
                              <m:t>E</m:t>
                            </m:r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4</m:t>
                                </m:r>
                                <m:r>
                                  <m:t>X</m:t>
                                </m:r>
                                <m:r>
                                  <m:t>Y</m:t>
                                </m:r>
                              </m:e>
                            </m:d>
                          </m:e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r>
                              <m:t>4</m:t>
                            </m:r>
                            <m:r>
                              <m:t>E</m:t>
                            </m:r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X</m:t>
                                </m:r>
                                <m:r>
                                  <m:t>Y</m:t>
                                </m:r>
                              </m:e>
                            </m:d>
                          </m:e>
                        </m:mr>
                        <m:mr>
                          <m:e/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r>
                              <m:t>4</m:t>
                            </m:r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f>
                                  <m:fPr>
                                    <m:type m:val="bar"/>
                                  </m:fPr>
                                  <m:num>
                                    <m:r>
                                      <m:t>2</m:t>
                                    </m:r>
                                  </m:num>
                                  <m:den>
                                    <m:r>
                                      <m:t>9</m:t>
                                    </m:r>
                                  </m:den>
                                </m:f>
                              </m:e>
                            </m:d>
                          </m:e>
                        </m:mr>
                        <m:mr>
                          <m:e/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borderBox>
                              <m:e>
                                <m:f>
                                  <m:fPr>
                                    <m:type m:val="bar"/>
                                  </m:fPr>
                                  <m:num>
                                    <m:r>
                                      <m:t>8</m:t>
                                    </m:r>
                                  </m:num>
                                  <m:den>
                                    <m:r>
                                      <m:t>9</m:t>
                                    </m:r>
                                  </m:den>
                                </m:f>
                              </m:e>
                            </m:borderBox>
                            <m:r>
                              <m:rPr>
                                <m:sty m:val="p"/>
                              </m:rPr>
                              <m:t>.</m:t>
                            </m:r>
                          </m:e>
                        </m:mr>
                      </m:m>
                    </m:oMath>
                  </m:oMathPara>
                </a14:m>
              </a:p>
              <a:p>
                <a:pPr lvl="0"/>
                <a:r>
                  <a:rPr/>
                  <a:t>We do </a:t>
                </a:r>
                <a:r>
                  <a:rPr b="1"/>
                  <a:t>not</a:t>
                </a:r>
                <a:r>
                  <a:rPr/>
                  <a:t> need to calculate the entire sum again.</a:t>
                </a:r>
              </a:p>
            </p:txBody>
          </p:sp>
        </mc:Choice>
      </mc:AlternateContent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Expected Values and Independence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Suppose </a:t>
                </a:r>
                <a14:m>
                  <m:oMath xmlns:m="http://schemas.openxmlformats.org/officeDocument/2006/math">
                    <m:r>
                      <m:t>X</m:t>
                    </m:r>
                  </m:oMath>
                </a14:m>
                <a:r>
                  <a:rPr/>
                  <a:t> and </a:t>
                </a:r>
                <a14:m>
                  <m:oMath xmlns:m="http://schemas.openxmlformats.org/officeDocument/2006/math">
                    <m:r>
                      <m:t>Y</m:t>
                    </m:r>
                  </m:oMath>
                </a14:m>
                <a:r>
                  <a:rPr/>
                  <a:t> are </a:t>
                </a:r>
                <a:r>
                  <a:rPr b="1"/>
                  <a:t>independent</a:t>
                </a:r>
                <a:r>
                  <a:rPr/>
                  <a:t> random variables.</a:t>
                </a:r>
              </a:p>
              <a:p>
                <a:pPr lvl="0"/>
                <a:r>
                  <a:rPr/>
                  <a:t>Let </a:t>
                </a:r>
                <a14:m>
                  <m:oMath xmlns:m="http://schemas.openxmlformats.org/officeDocument/2006/math">
                    <m:r>
                      <m:t>g</m:t>
                    </m:r>
                  </m:oMath>
                </a14:m>
                <a:r>
                  <a:rPr/>
                  <a:t> be a function of </a:t>
                </a:r>
                <a14:m>
                  <m:oMath xmlns:m="http://schemas.openxmlformats.org/officeDocument/2006/math">
                    <m:r>
                      <m:t>X</m:t>
                    </m:r>
                  </m:oMath>
                </a14:m>
                <a:r>
                  <a:rPr/>
                  <a:t> and </a:t>
                </a:r>
                <a14:m>
                  <m:oMath xmlns:m="http://schemas.openxmlformats.org/officeDocument/2006/math">
                    <m:r>
                      <m:t>h</m:t>
                    </m:r>
                  </m:oMath>
                </a14:m>
                <a:r>
                  <a:rPr/>
                  <a:t> be a function of </a:t>
                </a:r>
                <a14:m>
                  <m:oMath xmlns:m="http://schemas.openxmlformats.org/officeDocument/2006/math">
                    <m:r>
                      <m:t>Y</m:t>
                    </m:r>
                  </m:oMath>
                </a14:m>
                <a:r>
                  <a:rPr/>
                  <a:t>.</a:t>
                </a:r>
              </a:p>
              <a:p>
                <a:pPr lvl="0"/>
                <a:r>
                  <a:rPr/>
                  <a:t>Then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borderBox>
                        <m:e>
                          <m:r>
                            <m:t>E</m:t>
                          </m:r>
                          <m:d>
                            <m:dPr>
                              <m:begChr m:val="["/>
                              <m:sepChr m:val=""/>
                              <m:endChr m:val="]"/>
                              <m:grow/>
                            </m:dPr>
                            <m:e>
                              <m:r>
                                <m:t>g</m:t>
                              </m:r>
                              <m:d>
                                <m:dPr>
                                  <m:begChr m:val="("/>
                                  <m:sepChr m:val=""/>
                                  <m:endChr m:val=")"/>
                                  <m:grow/>
                                </m:dPr>
                                <m:e>
                                  <m:r>
                                    <m:t>X</m:t>
                                  </m:r>
                                </m:e>
                              </m:d>
                              <m:r>
                                <m:t>h</m:t>
                              </m:r>
                              <m:d>
                                <m:dPr>
                                  <m:begChr m:val="("/>
                                  <m:sepChr m:val=""/>
                                  <m:endChr m:val=")"/>
                                  <m:grow/>
                                </m:dPr>
                                <m:e>
                                  <m:r>
                                    <m:t>Y</m:t>
                                  </m:r>
                                </m:e>
                              </m:d>
                            </m:e>
                          </m:d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E</m:t>
                          </m:r>
                          <m:d>
                            <m:dPr>
                              <m:begChr m:val="["/>
                              <m:sepChr m:val=""/>
                              <m:endChr m:val="]"/>
                              <m:grow/>
                            </m:dPr>
                            <m:e>
                              <m:r>
                                <m:t>g</m:t>
                              </m:r>
                              <m:d>
                                <m:dPr>
                                  <m:begChr m:val="("/>
                                  <m:sepChr m:val=""/>
                                  <m:endChr m:val=")"/>
                                  <m:grow/>
                                </m:dPr>
                                <m:e>
                                  <m:r>
                                    <m:t>X</m:t>
                                  </m:r>
                                </m:e>
                              </m:d>
                            </m:e>
                          </m:d>
                          <m:r>
                            <m:t>E</m:t>
                          </m:r>
                          <m:d>
                            <m:dPr>
                              <m:begChr m:val="["/>
                              <m:sepChr m:val=""/>
                              <m:endChr m:val="]"/>
                              <m:grow/>
                            </m:dPr>
                            <m:e>
                              <m:r>
                                <m:t>h</m:t>
                              </m:r>
                              <m:d>
                                <m:dPr>
                                  <m:begChr m:val="("/>
                                  <m:sepChr m:val=""/>
                                  <m:endChr m:val=")"/>
                                  <m:grow/>
                                </m:dPr>
                                <m:e>
                                  <m:r>
                                    <m:t>Y</m:t>
                                  </m:r>
                                </m:e>
                              </m:d>
                            </m:e>
                          </m:d>
                          <m:r>
                            <m:rPr>
                              <m:sty m:val="p"/>
                            </m:rPr>
                            <m:t>.</m:t>
                          </m:r>
                        </m:e>
                      </m:borderBox>
                    </m:oMath>
                  </m:oMathPara>
                </a14:m>
              </a:p>
              <a:p>
                <a:pPr lvl="0"/>
                <a:r>
                  <a:rPr/>
                  <a:t>A particularly important special case occurs when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g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X</m:t>
                      </m:r>
                      <m:r>
                        <m:t>  </m:t>
                      </m:r>
                      <m:r>
                        <m:rPr>
                          <m:nor/>
                          <m:sty m:val="p"/>
                        </m:rPr>
                        <m:t>and</m:t>
                      </m:r>
                      <m:r>
                        <m:t>  </m:t>
                      </m:r>
                      <m:r>
                        <m:t>h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Y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Y</m:t>
                      </m:r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Therefore, if </a:t>
                </a:r>
                <a14:m>
                  <m:oMath xmlns:m="http://schemas.openxmlformats.org/officeDocument/2006/math">
                    <m:r>
                      <m:t>X</m:t>
                    </m:r>
                  </m:oMath>
                </a14:m>
                <a:r>
                  <a:rPr/>
                  <a:t> and </a:t>
                </a:r>
                <a14:m>
                  <m:oMath xmlns:m="http://schemas.openxmlformats.org/officeDocument/2006/math">
                    <m:r>
                      <m:t>Y</m:t>
                    </m:r>
                  </m:oMath>
                </a14:m>
                <a:r>
                  <a:rPr/>
                  <a:t> are independent,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borderBox>
                        <m:e>
                          <m:r>
                            <m:t>E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X</m:t>
                              </m:r>
                              <m:r>
                                <m:t>Y</m:t>
                              </m:r>
                            </m:e>
                          </m:d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E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X</m:t>
                              </m:r>
                            </m:e>
                          </m:d>
                          <m:r>
                            <m:t>E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Y</m:t>
                              </m:r>
                            </m:e>
                          </m:d>
                          <m:r>
                            <m:rPr>
                              <m:sty m:val="p"/>
                            </m:rPr>
                            <m:t>.</m:t>
                          </m:r>
                        </m:e>
                      </m:borderBox>
                    </m:oMath>
                  </m:oMathPara>
                </a14:m>
              </a:p>
            </p:txBody>
          </p:sp>
        </mc:Choice>
      </mc:AlternateContent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Expected Values and Independence: Important Note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Independence gives us the implication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X</m:t>
                      </m:r>
                      <m:r>
                        <m:rPr>
                          <m:nor/>
                          <m:sty m:val="p"/>
                        </m:rPr>
                        <m:t> and </m:t>
                      </m:r>
                      <m:r>
                        <m:t>Y</m:t>
                      </m:r>
                      <m:r>
                        <m:rPr>
                          <m:nor/>
                          <m:sty m:val="p"/>
                        </m:rPr>
                        <m:t> independent</m:t>
                      </m:r>
                      <m:r>
                        <m:t> </m:t>
                      </m:r>
                      <m:r>
                        <m:rPr>
                          <m:sty m:val="p"/>
                        </m:rPr>
                        <m:t>⇒</m:t>
                      </m:r>
                      <m:r>
                        <m:t> </m:t>
                      </m:r>
                      <m:r>
                        <m:t>E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  <m:r>
                            <m:t>Y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E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t>E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Y</m:t>
                          </m:r>
                        </m:e>
                      </m: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Therefore, if we find that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E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  <m:r>
                            <m:t>Y</m:t>
                          </m:r>
                        </m:e>
                      </m:d>
                      <m:r>
                        <m:rPr>
                          <m:sty m:val="p"/>
                        </m:rPr>
                        <m:t>≠</m:t>
                      </m:r>
                      <m:r>
                        <m:t>E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t>E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Y</m:t>
                          </m:r>
                        </m:e>
                      </m:d>
                      <m:r>
                        <m:rPr>
                          <m:sty m:val="p"/>
                        </m:rPr>
                        <m:t>,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then </a:t>
                </a:r>
                <a14:m>
                  <m:oMath xmlns:m="http://schemas.openxmlformats.org/officeDocument/2006/math">
                    <m:r>
                      <m:t>X</m:t>
                    </m:r>
                  </m:oMath>
                </a14:m>
                <a:r>
                  <a:rPr/>
                  <a:t> and </a:t>
                </a:r>
                <a14:m>
                  <m:oMath xmlns:m="http://schemas.openxmlformats.org/officeDocument/2006/math">
                    <m:r>
                      <m:t>Y</m:t>
                    </m:r>
                  </m:oMath>
                </a14:m>
                <a:r>
                  <a:rPr/>
                  <a:t> </a:t>
                </a:r>
                <a:r>
                  <a:rPr b="1"/>
                  <a:t>cannot be independent</a:t>
                </a:r>
                <a:r>
                  <a:rPr/>
                  <a:t>.</a:t>
                </a:r>
              </a:p>
              <a:p>
                <a:pPr lvl="0"/>
                <a:r>
                  <a:rPr/>
                  <a:t>However, the reverse is not generally true.</a:t>
                </a:r>
              </a:p>
              <a:p>
                <a:pPr lvl="0"/>
                <a:r>
                  <a:rPr/>
                  <a:t>It is possible for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E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  <m:r>
                            <m:t>Y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E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t>E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Y</m:t>
                          </m:r>
                        </m:e>
                      </m:d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even when </a:t>
                </a:r>
                <a14:m>
                  <m:oMath xmlns:m="http://schemas.openxmlformats.org/officeDocument/2006/math">
                    <m:r>
                      <m:t>X</m:t>
                    </m:r>
                  </m:oMath>
                </a14:m>
                <a:r>
                  <a:rPr/>
                  <a:t> and </a:t>
                </a:r>
                <a14:m>
                  <m:oMath xmlns:m="http://schemas.openxmlformats.org/officeDocument/2006/math">
                    <m:r>
                      <m:t>Y</m:t>
                    </m:r>
                  </m:oMath>
                </a14:m>
                <a:r>
                  <a:rPr/>
                  <a:t> are </a:t>
                </a:r>
                <a:r>
                  <a:rPr b="1"/>
                  <a:t>not independent</a:t>
                </a:r>
                <a:r>
                  <a:rPr/>
                  <a:t>.</a:t>
                </a:r>
              </a:p>
              <a:p>
                <a:pPr lvl="0"/>
                <a:r>
                  <a:rPr/>
                  <a:t>Therefore,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E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  <m:r>
                            <m:t>Y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E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t>E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Y</m:t>
                          </m:r>
                        </m:e>
                      </m:d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by itself is </a:t>
                </a:r>
                <a:r>
                  <a:rPr b="1"/>
                  <a:t>not enough to prove independence</a:t>
                </a:r>
                <a:r>
                  <a:rPr/>
                  <a:t>.</a:t>
                </a:r>
              </a:p>
            </p:txBody>
          </p:sp>
        </mc:Choice>
      </mc:AlternateContent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Expected Values and Independence: Supermarket Example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For the supermarket example, we found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E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  <m:r>
                            <m:t>Y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2</m:t>
                          </m:r>
                        </m:num>
                        <m:den>
                          <m:r>
                            <m:t>9</m:t>
                          </m:r>
                        </m:den>
                      </m:f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We also found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E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E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Y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2</m:t>
                          </m:r>
                        </m:num>
                        <m:den>
                          <m:r>
                            <m:t>3</m:t>
                          </m:r>
                        </m:den>
                      </m:f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Therefore,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E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t>E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Y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f>
                            <m:fPr>
                              <m:type m:val="bar"/>
                            </m:fPr>
                            <m:num>
                              <m:r>
                                <m:t>2</m:t>
                              </m:r>
                            </m:num>
                            <m:den>
                              <m:r>
                                <m:t>3</m:t>
                              </m:r>
                            </m:den>
                          </m:f>
                        </m:e>
                      </m:d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f>
                            <m:fPr>
                              <m:type m:val="bar"/>
                            </m:fPr>
                            <m:num>
                              <m:r>
                                <m:t>2</m:t>
                              </m:r>
                            </m:num>
                            <m:den>
                              <m:r>
                                <m:t>3</m:t>
                              </m:r>
                            </m:den>
                          </m:f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4</m:t>
                          </m:r>
                        </m:num>
                        <m:den>
                          <m:r>
                            <m:t>9</m:t>
                          </m:r>
                        </m:den>
                      </m:f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But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f>
                        <m:fPr>
                          <m:type m:val="bar"/>
                        </m:fPr>
                        <m:num>
                          <m:r>
                            <m:t>2</m:t>
                          </m:r>
                        </m:num>
                        <m:den>
                          <m:r>
                            <m:t>9</m:t>
                          </m:r>
                        </m:den>
                      </m:f>
                      <m:r>
                        <m:rPr>
                          <m:sty m:val="p"/>
                        </m:rPr>
                        <m:t>≠</m:t>
                      </m:r>
                      <m:f>
                        <m:fPr>
                          <m:type m:val="bar"/>
                        </m:fPr>
                        <m:num>
                          <m:r>
                            <m:t>4</m:t>
                          </m:r>
                        </m:num>
                        <m:den>
                          <m:r>
                            <m:t>9</m:t>
                          </m:r>
                        </m:den>
                      </m:f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Hence,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E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  <m:r>
                            <m:t>Y</m:t>
                          </m:r>
                        </m:e>
                      </m:d>
                      <m:r>
                        <m:rPr>
                          <m:sty m:val="p"/>
                        </m:rPr>
                        <m:t>≠</m:t>
                      </m:r>
                      <m:r>
                        <m:t>E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t>E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Y</m:t>
                          </m:r>
                        </m:e>
                      </m: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Therefore,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borderBox>
                        <m:e>
                          <m:r>
                            <m:t>X</m:t>
                          </m:r>
                          <m:r>
                            <m:rPr>
                              <m:nor/>
                              <m:sty m:val="p"/>
                            </m:rPr>
                            <m:t> and </m:t>
                          </m:r>
                          <m:r>
                            <m:t>Y</m:t>
                          </m:r>
                          <m:r>
                            <m:rPr>
                              <m:nor/>
                              <m:sty m:val="p"/>
                            </m:rPr>
                            <m:t> are not independent.</m:t>
                          </m:r>
                        </m:e>
                      </m:borderBox>
                    </m:oMath>
                  </m:oMathPara>
                </a14:m>
              </a:p>
              <a:p>
                <a:pPr lvl="0"/>
                <a:r>
                  <a:rPr/>
                  <a:t>This agrees with what we already found from the joint PMF and conditional probabilities.</a:t>
                </a:r>
              </a:p>
            </p:txBody>
          </p:sp>
        </mc:Choice>
      </mc:AlternateContent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theme/theme1.xml><?xml version="1.0" encoding="utf-8"?>
<a:theme xmlns:a="http://schemas.openxmlformats.org/drawingml/2006/main" name="CWRU Master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Case Option 1.pot</Template>
  <TotalTime>9492</TotalTime>
  <Words>84</Words>
  <Application>Microsoft Macintosh PowerPoint</Application>
  <PresentationFormat>On-screen Show (4:3)</PresentationFormat>
  <Paragraphs>11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6" baseType="lpstr">
      <vt:lpstr>Arial</vt:lpstr>
      <vt:lpstr>Calibri</vt:lpstr>
      <vt:lpstr>TitilliumMaps26L 500 wt</vt:lpstr>
      <vt:lpstr>TitilliumMaps26L 999 wt</vt:lpstr>
      <vt:lpstr>CWRU Master</vt:lpstr>
      <vt:lpstr>Random Variable</vt:lpstr>
    </vt:vector>
  </TitlesOfParts>
  <Company>L.A. graphics, Inc.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Unit A: Joint Probability Distribution</dc:title>
  <dc:creator/>
  <cp:keywords/>
  <dcterms:created xsi:type="dcterms:W3CDTF">2026-10-21T16:43:53Z</dcterms:created>
  <dcterms:modified xsi:type="dcterms:W3CDTF">2026-10-21T16:43:53Z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editor">
    <vt:lpwstr>source</vt:lpwstr>
  </property>
  <property fmtid="{D5CDD505-2E9C-101B-9397-08002B2CF9AE}" pid="4" name="header-includes">
    <vt:lpwstr/>
  </property>
  <property fmtid="{D5CDD505-2E9C-101B-9397-08002B2CF9AE}" pid="5" name="include-after">
    <vt:lpwstr/>
  </property>
  <property fmtid="{D5CDD505-2E9C-101B-9397-08002B2CF9AE}" pid="6" name="include-before">
    <vt:lpwstr/>
  </property>
  <property fmtid="{D5CDD505-2E9C-101B-9397-08002B2CF9AE}" pid="7" name="labels">
    <vt:lpwstr/>
  </property>
  <property fmtid="{D5CDD505-2E9C-101B-9397-08002B2CF9AE}" pid="8" name="subtitle">
    <vt:lpwstr>Instructor: Dr. Md Mutasim Billah</vt:lpwstr>
  </property>
  <property fmtid="{D5CDD505-2E9C-101B-9397-08002B2CF9AE}" pid="9" name="toc-title">
    <vt:lpwstr>Table of contents</vt:lpwstr>
  </property>
</Properties>
</file>