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8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17" Type="http://schemas.openxmlformats.org/officeDocument/2006/relationships/theme" Target="theme/theme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4-Discrete.pdf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04 Handout: Probability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04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 The solutions are provided in Canvas.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Discrete Random Variable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class lecture notes</a:t>
            </a:r>
          </a:p>
          <a:p>
            <a:pPr lvl="0"/>
            <a:r>
              <a:rPr/>
              <a:t>I usually post the class notes on Canvas by the end of the day. If you don’t see it, shoot me an email next 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Expected Value of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be constants.</a:t>
                </a:r>
              </a:p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Start from the definition of expected value: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inside the summation: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a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b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b</m:t>
                    </m:r>
                  </m:oMath>
                </a14:m>
                <a:r>
                  <a:rPr/>
                  <a:t> are constants, they can be taken outside the summations: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a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Variance of a Discrete Random Variable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Recall that the variance of 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can write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μ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Expand the squared term: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2</m:t>
                          </m:r>
                          <m:r>
                            <m:t>μ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sSup>
                            <m:e>
                              <m:r>
                                <m:t>μ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Distribute </a:t>
                </a:r>
                <a14:m>
                  <m:oMath xmlns:m="http://schemas.openxmlformats.org/officeDocument/2006/math"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Recall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x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r>
                        <m:t>2</m:t>
                      </m:r>
                      <m:r>
                        <m:t>μ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μ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−</m:t>
                      </m:r>
                      <m:sSup>
                        <m:e>
                          <m:r>
                            <m:t>μ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X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obtain the useful variance formula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E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p>
                                <m:e>
                                  <m:r>
                                    <m:t>X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p>
                            <m:e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borderBox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Proof: Variance of a Linear Transformation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We want to show that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By the definition of variance,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+</m:t>
                                  </m:r>
                                  <m:r>
                                    <m:t>b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Using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a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we get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b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Simplifying,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a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Factor out </a:t>
                </a:r>
                <a14:m>
                  <m:oMath xmlns:m="http://schemas.openxmlformats.org/officeDocument/2006/math">
                    <m:r>
                      <m:t>a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a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E</m:t>
                                  </m:r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X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Since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a constant,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But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∑</m:t>
                      </m:r>
                      <m:sSup>
                        <m:e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E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X</m:t>
                                  </m:r>
                                </m:e>
                              </m:d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Hence,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borderBox>
                        <m:e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b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sSup>
                            <m:e>
                              <m:r>
                                <m:t>a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borderBox>
                    </m:oMath>
                  </m:oMathPara>
                </a14:m>
              </a:p>
              <a:p>
                <a:pPr lvl="0"/>
                <a:r>
                  <a:rPr/>
                  <a:t>The other two properties are special cases: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, 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when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Simulating Roulette!</a:t>
            </a:r>
          </a:p>
        </p:txBody>
      </p:sp>
      <p:pic>
        <p:nvPicPr>
          <p:cNvPr descr="../images/roulet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7780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One Player - 250 Games.</a:t>
            </a:r>
          </a:p>
        </p:txBody>
      </p:sp>
      <p:pic>
        <p:nvPicPr>
          <p:cNvPr descr="../images/roulette-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36800" y="1778000"/>
            <a:ext cx="41656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33400" y="4927600"/>
            <a:ext cx="7772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Ten Players - 250 Games.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Bernoulli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Idea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Bernoulli experiment</a:t>
                </a:r>
                <a:r>
                  <a:rPr/>
                  <a:t> has exactly two possible outcomes.</a:t>
                </a:r>
              </a:p>
              <a:p>
                <a:pPr lvl="0"/>
                <a:r>
                  <a:rPr/>
                  <a:t>One outcome is called </a:t>
                </a:r>
                <a:r>
                  <a:rPr b="1"/>
                  <a:t>success</a:t>
                </a:r>
                <a:r>
                  <a:rPr/>
                  <a:t>, and the other is called </a:t>
                </a:r>
                <a:r>
                  <a:rPr b="1"/>
                  <a:t>failure</a:t>
                </a:r>
                <a:r>
                  <a:rPr/>
                  <a:t>.</a:t>
                </a:r>
              </a:p>
              <a:p>
                <a:pPr lvl="1"/>
                <a:r>
                  <a:rPr/>
                  <a:t>For example, we can define “rolling a six”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1"/>
                <a:r>
                  <a:rPr/>
                  <a:t>We can define “an item is defective” as a </a:t>
                </a:r>
                <a:r>
                  <a:rPr b="1"/>
                  <a:t>success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Let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be the probability that the experiment results in a success.</a:t>
                </a:r>
              </a:p>
              <a:p>
                <a:pPr lvl="0"/>
                <a:r>
                  <a:rPr/>
                  <a:t>Define the discrete random variable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success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experiment is a failure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Formula</a:t>
                </a:r>
              </a:p>
              <a:p>
                <a:pPr lvl="0"/>
                <a:r>
                  <a:rPr/>
                  <a:t>A discrete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has the </a:t>
                </a:r>
                <a:r>
                  <a:rPr b="1"/>
                  <a:t>Bernoulli distribution</a:t>
                </a:r>
                <a:r>
                  <a:rPr/>
                  <a:t> with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(A parameter is a fixed number that describes or controls a probability distribution) if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probability mass function (PMF) of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p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t>x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Equivalently,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p</m:t>
                          </m:r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parameter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can be any number between </a:t>
                </a:r>
                <a14:m>
                  <m:oMath xmlns:m="http://schemas.openxmlformats.org/officeDocument/2006/math">
                    <m:r>
                      <m:t>0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mean and variance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</a:t>
                </a:r>
              </a:p>
              <a:p>
                <a:pPr lvl="0"/>
                <a:r>
                  <a:rPr/>
                  <a:t>A sequence of </a:t>
                </a:r>
                <a:r>
                  <a:rPr b="1"/>
                  <a:t>independent Bernoulli experiments</a:t>
                </a:r>
                <a:r>
                  <a:rPr/>
                  <a:t> with the same probability of success </a:t>
                </a:r>
                <a14:m>
                  <m:oMath xmlns:m="http://schemas.openxmlformats.org/officeDocument/2006/math">
                    <m:r>
                      <m:t>p</m:t>
                    </m:r>
                  </m:oMath>
                </a14:m>
                <a:r>
                  <a:rPr/>
                  <a:t> is called a sequence of </a:t>
                </a:r>
                <a:r>
                  <a:rPr b="1"/>
                  <a:t>Bernoulli trials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Examples:</a:t>
                </a:r>
              </a:p>
              <a:p>
                <a:pPr lvl="1"/>
                <a:r>
                  <a:rPr/>
                  <a:t>Tossing a coin 10 times.</a:t>
                </a:r>
              </a:p>
              <a:p>
                <a:pPr lvl="1"/>
                <a:r>
                  <a:rPr/>
                  <a:t>Rolling a die 8 times and recording each time whether we get a six.</a:t>
                </a:r>
              </a:p>
              <a:p>
                <a:pPr lvl="1"/>
                <a:r>
                  <a:rPr/>
                  <a:t>Inspecting 50 manufactured items for defects.</a:t>
                </a:r>
              </a:p>
              <a:p>
                <a:pPr lvl="0"/>
                <a:r>
                  <a:rPr/>
                  <a:t>With Bernoulli trials, we are usually interested in the </a:t>
                </a:r>
                <a:r>
                  <a:rPr b="1"/>
                  <a:t>total number of successes</a:t>
                </a:r>
                <a:r>
                  <a:rPr/>
                  <a:t>.</a:t>
                </a:r>
              </a:p>
              <a:p>
                <a:pPr lvl="0"/>
                <a:r>
                  <a:rPr/>
                  <a:t>For example:</a:t>
                </a:r>
              </a:p>
              <a:p>
                <a:pPr lvl="1"/>
                <a:r>
                  <a:rPr/>
                  <a:t>Out of 10 tosses, how many heads did we get?</a:t>
                </a:r>
              </a:p>
              <a:p>
                <a:pPr lvl="1"/>
                <a:r>
                  <a:rPr/>
                  <a:t>How many sixes did we get in 8 rolls of a die?</a:t>
                </a:r>
              </a:p>
              <a:p>
                <a:pPr lvl="1"/>
                <a:r>
                  <a:rPr/>
                  <a:t>Out of 50 manufactured items, how many are defective?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Example</a:t>
                </a:r>
              </a:p>
              <a:p>
                <a:pPr lvl="0"/>
                <a:r>
                  <a:rPr/>
                  <a:t>Suppose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items are manufactured </a:t>
                </a:r>
                <a:r>
                  <a:rPr b="1"/>
                  <a:t>independently</a:t>
                </a:r>
                <a:r>
                  <a:rPr/>
                  <a:t> of each other.</a:t>
                </a:r>
              </a:p>
              <a:p>
                <a:pPr lvl="0"/>
                <a:r>
                  <a:rPr/>
                  <a:t>Define:</a:t>
                </a:r>
              </a:p>
              <a:p>
                <a:pPr lvl="1"/>
                <a14:m>
                  <m:oMath xmlns:m="http://schemas.openxmlformats.org/officeDocument/2006/math">
                    <m:r>
                      <m:t>B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success (defect)</a:t>
                </a:r>
              </a:p>
              <a:p>
                <a:pPr lvl="1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</m:oMath>
                </a14:m>
                <a:r>
                  <a:rPr/>
                  <a:t> failure (no defect)</a:t>
                </a:r>
              </a:p>
              <a:p>
                <a:pPr lvl="0"/>
                <a:r>
                  <a:rPr/>
                  <a:t>Suppose the probability of a defect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0.05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if the </m:t>
                                </m:r>
                                <m:r>
                                  <m:t>i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th item is defective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  <m:r>
                                  <m:rPr>
                                    <m:sty m:val="p"/>
                                  </m:rPr>
                                  <m:t>,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otherwise</m:t>
                                </m:r>
                                <m:r>
                                  <m:rPr>
                                    <m:sty m:val="p"/>
                                  </m:rPr>
                                  <m:t>.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Let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total number of defects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3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4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5</m:t>
                          </m:r>
                        </m:sub>
                      </m:sSub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possible values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are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2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3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4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}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Possible Outcomes</a:t>
                </a:r>
              </a:p>
              <a:p>
                <a:pPr lvl="0"/>
                <a:r>
                  <a:rPr/>
                  <a:t>The table below shows all possible outcomes of the five Bernoulli trials and the corresponding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Probability of an Outcome</a:t>
                </a:r>
              </a:p>
              <a:p>
                <a:pPr lvl="0"/>
                <a:r>
                  <a:rPr/>
                  <a:t>The Bernoulli random variables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are </a:t>
                </a:r>
                <a:r>
                  <a:rPr b="1"/>
                  <a:t>independent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 using basic probability rules we get,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A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  <m:r>
                                  <m:t>A</m:t>
                                </m:r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and </m:t>
                                </m:r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3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4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0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sSub>
                                  <m:e>
                                    <m:r>
                                      <m:t>X</m:t>
                                    </m:r>
                                  </m:e>
                                  <m:sub>
                                    <m:r>
                                      <m:t>5</m:t>
                                    </m:r>
                                  </m:sub>
                                </m:sSub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1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0.95</m:t>
                                </m:r>
                              </m:e>
                            </m:d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0.05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sSup>
                              <m:e>
                                <m:r>
                                  <m:t>0.05</m:t>
                                </m:r>
                              </m:e>
                              <m:sup>
                                <m:r>
                                  <m:t>2</m:t>
                                </m:r>
                              </m:sup>
                            </m:sSup>
                            <m:sSup>
                              <m:e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0.95</m:t>
                                    </m:r>
                                  </m:e>
                                </m:d>
                              </m:e>
                              <m:sup>
                                <m:r>
                                  <m:t>3</m:t>
                                </m:r>
                              </m:sup>
                            </m:sSup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/>
                <a:r>
                  <a:rPr/>
                  <a:t>Similarly,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A</m:t>
                          </m:r>
                          <m:r>
                            <m:t>B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Thus, the probability of </a:t>
                </a:r>
                <a:r>
                  <a:rPr b="1"/>
                  <a:t>each particular outcome containing exactly 2 defects</a:t>
                </a:r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Trials: Number of Outcomes</a:t>
                </a:r>
              </a:p>
              <a:p>
                <a:pPr lvl="0"/>
                <a:r>
                  <a:rPr/>
                  <a:t>We want to find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Each particular outcome containing exactly 2 defects has probability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number of outcomes with 2 defects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sSup>
                        <m:e>
                          <m:r>
                            <m:t>0.05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How many different outcomes of 5 items contain exactly 2 defects?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num>
                        <m:den>
                          <m:r>
                            <m:t>2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  <m:r>
                            <m:t>3</m:t>
                          </m:r>
                          <m:r>
                            <m:rPr>
                              <m:sty m:val="p"/>
                            </m:rPr>
                            <m:t>!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2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Bernoulli Trials Leading to ?</a:t>
                </a:r>
              </a:p>
              <a:p>
                <a:pPr lvl="0"/>
                <a:r>
                  <a:rPr/>
                  <a:t>We can group all possible outcomes of the Bernoulli trials according to the value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The probability mass function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2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3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10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3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4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5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4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1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5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0</m:t>
                          </m:r>
                        </m:sup>
                      </m:sSup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Therefore, the PMF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can be written as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noBar"/>
                            </m:fPr>
                            <m:num>
                              <m:r>
                                <m:t>5</m:t>
                              </m:r>
                            </m:num>
                            <m:den>
                              <m:r>
                                <m:t>x</m:t>
                              </m:r>
                            </m:den>
                          </m:f>
                        </m:e>
                      </m:d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0.05</m:t>
                              </m:r>
                            </m:e>
                          </m:d>
                        </m:e>
                        <m:sup>
                          <m:r>
                            <m:t>x</m:t>
                          </m:r>
                        </m:sup>
                      </m:sSup>
                      <m:sSup>
                        <m:e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0.95</m:t>
                              </m:r>
                            </m:e>
                          </m:d>
                        </m:e>
                        <m:sup>
                          <m:r>
                            <m:t>5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x</m:t>
                          </m:r>
                        </m:sup>
                      </m:sSup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5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distribution of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is called the </a:t>
                </a:r>
                <a:r>
                  <a:rPr b="1"/>
                  <a:t>Binomial distribution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9" end="2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0" end="3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1" end="3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2" end="3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3" end="3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4" end="3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5" end="3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6" end="3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7" end="3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8" end="3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0" end="4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1" end="4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2" end="4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3" end="4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4" end="4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6" end="4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8" end="4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0" end="5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2" end="5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5" end="5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7" end="5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8" end="5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3" fill="hold">
                      <p:stCondLst>
                        <p:cond delay="indefinite"/>
                      </p:stCondLst>
                      <p:childTnLst>
                        <p:par>
                          <p:cTn id="144" fill="hold">
                            <p:stCondLst>
                              <p:cond delay="0"/>
                            </p:stCondLst>
                            <p:childTnLst>
                              <p:par>
                                <p:cTn id="1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0" end="6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7" fill="hold">
                      <p:stCondLst>
                        <p:cond delay="indefinite"/>
                      </p:stCondLst>
                      <p:childTnLst>
                        <p:par>
                          <p:cTn id="148" fill="hold">
                            <p:stCondLst>
                              <p:cond delay="0"/>
                            </p:stCondLst>
                            <p:childTnLst>
                              <p:par>
                                <p:cTn id="1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2" end="6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1" fill="hold">
                      <p:stCondLst>
                        <p:cond delay="indefinite"/>
                      </p:stCondLst>
                      <p:childTnLst>
                        <p:par>
                          <p:cTn id="152" fill="hold">
                            <p:stCondLst>
                              <p:cond delay="0"/>
                            </p:stCondLst>
                            <p:childTnLst>
                              <p:par>
                                <p:cTn id="1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5" end="6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5" fill="hold">
                      <p:stCondLst>
                        <p:cond delay="indefinite"/>
                      </p:stCondLst>
                      <p:childTnLst>
                        <p:par>
                          <p:cTn id="156" fill="hold">
                            <p:stCondLst>
                              <p:cond delay="0"/>
                            </p:stCondLst>
                            <p:childTnLst>
                              <p:par>
                                <p:cTn id="1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7" end="6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9" fill="hold">
                      <p:stCondLst>
                        <p:cond delay="indefinite"/>
                      </p:stCondLst>
                      <p:childTnLst>
                        <p:par>
                          <p:cTn id="160" fill="hold">
                            <p:stCondLst>
                              <p:cond delay="0"/>
                            </p:stCondLst>
                            <p:childTnLst>
                              <p:par>
                                <p:cTn id="1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9" end="6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3" fill="hold">
                      <p:stCondLst>
                        <p:cond delay="indefinite"/>
                      </p:stCondLst>
                      <p:childTnLst>
                        <p:par>
                          <p:cTn id="164" fill="hold">
                            <p:stCondLst>
                              <p:cond delay="0"/>
                            </p:stCondLst>
                            <p:childTnLst>
                              <p:par>
                                <p:cTn id="1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1" end="7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3" end="7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6" end="7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7" end="7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5" end="8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7" end="8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A set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 contains:</a:t>
                </a:r>
              </a:p>
              <a:p>
                <a:pPr lvl="1"/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successes</a:t>
                </a:r>
              </a:p>
              <a:p>
                <a:pPr lvl="1"/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K</m:t>
                    </m:r>
                  </m:oMath>
                </a14:m>
                <a:r>
                  <a:rPr/>
                  <a:t> objects classified as </a:t>
                </a:r>
                <a:r>
                  <a:rPr b="1"/>
                  <a:t>failures</a:t>
                </a:r>
              </a:p>
              <a:p>
                <a:pPr lvl="0"/>
                <a:r>
                  <a:rPr/>
                  <a:t>A sample of size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is selected randomly </a:t>
                </a:r>
                <a:r>
                  <a:rPr b="1"/>
                  <a:t>without replacement</a:t>
                </a:r>
                <a:r>
                  <a:rPr/>
                  <a:t> from the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objects, where </a:t>
                </a:r>
                <a14:m>
                  <m:oMath xmlns:m="http://schemas.openxmlformats.org/officeDocument/2006/math">
                    <m:r>
                      <m:t>K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N</m:t>
                    </m:r>
                  </m:oMath>
                </a14:m>
                <a:r>
                  <a:rPr/>
                  <a:t>.</a:t>
                </a:r>
              </a:p>
              <a:p>
                <a:pPr lvl="0"/>
                <a:r>
                  <a:rPr/>
                  <a:t>Let the random variable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denote the </a:t>
                </a:r>
                <a:r>
                  <a:rPr b="1"/>
                  <a:t>number of successes in the sample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Then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probability mass function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K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x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noBar"/>
                                </m:fPr>
                                <m:num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</m:den>
                              </m:f>
                            </m:e>
                          </m:d>
                        </m:den>
                      </m:f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x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max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0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min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n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Hypergeometric Mean and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If </a:t>
                </a: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a hypergeometric random variable with parameters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, and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, then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μ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E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and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σ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1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p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n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K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The quantity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n</m:t>
                          </m:r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is called the </a:t>
                </a:r>
                <a:r>
                  <a:rPr b="1"/>
                  <a:t>finite population correction factor</a:t>
                </a:r>
                <a:r>
                  <a:rPr/>
                  <a:t>.</a:t>
                </a:r>
              </a:p>
              <a:p>
                <a:pPr lvl="0"/>
                <a:r>
                  <a:rPr/>
                  <a:t>Therefore,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σ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r>
                            <m:t>n</m:t>
                          </m:r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1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p</m:t>
                              </m:r>
                            </m:e>
                          </m:d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n</m:t>
                                  </m:r>
                                </m:num>
                                <m:den>
                                  <m:r>
                                    <m:t>N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1</m:t>
                                  </m:r>
                                </m:den>
                              </m:f>
                            </m:e>
                          </m:d>
                        </m:e>
                      </m:ra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/>
                <a:r>
                  <a:rPr/>
                  <a:t>As the sampling fraction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</m:oMath>
                </a14:m>
                <a:r>
                  <a:rPr/>
                  <a:t> becomes small, the hypergeometric variance approaches the corresponding </a:t>
                </a:r>
                <a:r>
                  <a:rPr b="1"/>
                  <a:t>binomial variance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04: Discrete Random Variable</dc:title>
  <dc:creator/>
  <cp:keywords/>
  <dcterms:created xsi:type="dcterms:W3CDTF">2026-10-23T17:30:46Z</dcterms:created>
  <dcterms:modified xsi:type="dcterms:W3CDTF">2026-10-23T17:30:46Z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Dr. Md Mutasim Billah</vt:lpwstr>
  </property>
  <property fmtid="{D5CDD505-2E9C-101B-9397-08002B2CF9AE}" pid="9" name="toc-title">
    <vt:lpwstr>Table of contents</vt:lpwstr>
  </property>
</Properties>
</file>