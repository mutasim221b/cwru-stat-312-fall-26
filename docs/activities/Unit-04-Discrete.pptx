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8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17" Type="http://schemas.openxmlformats.org/officeDocument/2006/relationships/theme" Target="theme/theme1.xml" /><Relationship Id="rId16" Type="http://schemas.openxmlformats.org/officeDocument/2006/relationships/viewProps" Target="viewProps.xml" /><Relationship Id="rId15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4-Discrete.pdf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04 Handout: Probability</a:t>
            </a:r>
            <a:r>
              <a:rPr/>
              <a:t> before class and bring it with you.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04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 The solutions are provided in Canvas.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Discrete Random Variable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class lecture notes</a:t>
            </a:r>
          </a:p>
          <a:p>
            <a:pPr lvl="0"/>
            <a:r>
              <a:rPr/>
              <a:t>I usually post the class notes on Canvas by the end of the day. If you don’t see it, shoot me an email next day!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Proof: Expected Value of Linear Transformation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 be constants.</a:t>
                </a:r>
              </a:p>
              <a:p>
                <a:pPr lvl="0"/>
                <a:r>
                  <a:rPr/>
                  <a:t>We want to show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Start from the definition of expected value: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Distribute inside the summation: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a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b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 are constants, they can be taken outside the summations: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Recall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Hence,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b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a</m:t>
                          </m:r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Variance of a Discrete Random Variable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Recall that the variance of a discrete random variable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μ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can write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μ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Expand the squared term: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p>
                            <m:e>
                              <m:r>
                                <m:t>x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2</m:t>
                          </m:r>
                          <m:r>
                            <m:t>μ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sSup>
                            <m:e>
                              <m:r>
                                <m:t>μ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Distribute </a:t>
                </a:r>
                <a14:m>
                  <m:oMath xmlns:m="http://schemas.openxmlformats.org/officeDocument/2006/math">
                    <m:r>
                      <m:t>f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2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sSup>
                        <m:e>
                          <m:r>
                            <m:t>μ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∑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Recall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2</m:t>
                      </m:r>
                      <m:r>
                        <m:t>μ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μ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sSup>
                        <m:e>
                          <m:r>
                            <m:t>μ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Hence,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sSup>
                        <m:e>
                          <m:r>
                            <m:t>μ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p>
                            <m:e>
                              <m:r>
                                <m:t>X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obtain the useful variance formula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d>
                          <m:r>
                            <m:rPr>
                              <m:sty m:val="p"/>
                            </m:rPr>
                            <m:t>−</m:t>
                          </m:r>
                          <m:sSup>
                            <m:e>
                              <m:d>
                                <m:dPr>
                                  <m:begChr m:val="["/>
                                  <m:sepChr m:val=""/>
                                  <m:endChr m:val="]"/>
                                  <m:grow/>
                                </m:dPr>
                                <m:e>
                                  <m:r>
                                    <m:t>E</m:t>
                                  </m:r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X</m:t>
                                      </m:r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Proof: Variance of a Linear Transformation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We want to show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By the definition of variance,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a</m:t>
                                  </m:r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b</m:t>
                                  </m:r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a</m:t>
                                  </m:r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b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Using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get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b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a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b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Simplifying,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a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Factor out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a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E</m:t>
                                  </m:r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X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 </a:t>
                </a:r>
                <a14:m>
                  <m:oMath xmlns:m="http://schemas.openxmlformats.org/officeDocument/2006/math">
                    <m:sSup>
                      <m:e>
                        <m:r>
                          <m:t>a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is a constant,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But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Hence,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b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sSup>
                            <m:e>
                              <m:r>
                                <m:t>a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  <m:r>
                            <m:t>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The other two properties are special cases: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when </a:t>
                </a:r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, 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when </a:t>
                </a: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Simulating Roulette!</a:t>
            </a:r>
          </a:p>
        </p:txBody>
      </p:sp>
      <p:pic>
        <p:nvPicPr>
          <p:cNvPr descr="../images/roulett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24100" y="17780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533400" y="4927600"/>
            <a:ext cx="7772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One Player - 250 Games.</a:t>
            </a:r>
          </a:p>
        </p:txBody>
      </p:sp>
      <p:pic>
        <p:nvPicPr>
          <p:cNvPr descr="../images/roulette-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336800" y="1778000"/>
            <a:ext cx="41656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533400" y="4927600"/>
            <a:ext cx="7772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Ten Players - 250 Games.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Bernoulli 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Idea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Bernoulli experiment</a:t>
                </a:r>
                <a:r>
                  <a:rPr/>
                  <a:t> has exactly two possible outcomes.</a:t>
                </a:r>
              </a:p>
              <a:p>
                <a:pPr lvl="0"/>
                <a:r>
                  <a:rPr/>
                  <a:t>One outcome is called </a:t>
                </a:r>
                <a:r>
                  <a:rPr b="1"/>
                  <a:t>success</a:t>
                </a:r>
                <a:r>
                  <a:rPr/>
                  <a:t>, and the other is called </a:t>
                </a:r>
                <a:r>
                  <a:rPr b="1"/>
                  <a:t>failure</a:t>
                </a:r>
                <a:r>
                  <a:rPr/>
                  <a:t>.</a:t>
                </a:r>
              </a:p>
              <a:p>
                <a:pPr lvl="1"/>
                <a:r>
                  <a:rPr/>
                  <a:t>For example, we can define “rolling a six” as a </a:t>
                </a:r>
                <a:r>
                  <a:rPr b="1"/>
                  <a:t>success</a:t>
                </a:r>
                <a:r>
                  <a:rPr/>
                  <a:t>.</a:t>
                </a:r>
              </a:p>
              <a:p>
                <a:pPr lvl="1"/>
                <a:r>
                  <a:rPr/>
                  <a:t>We can define “an item is defective” as a </a:t>
                </a:r>
                <a:r>
                  <a:rPr b="1"/>
                  <a:t>success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be the probability that the experiment results in a success.</a:t>
                </a:r>
              </a:p>
              <a:p>
                <a:pPr lvl="0"/>
                <a:r>
                  <a:rPr/>
                  <a:t>Define the discrete random variable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if the experiment is a success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if the experiment is a failure</m:t>
                                </m:r>
                                <m:r>
                                  <m:rPr>
                                    <m:sty m:val="p"/>
                                  </m:rPr>
                                  <m:t>.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the probability mass function (PMF)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p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</m:mr>
                            <m:m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p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sty m:val="p"/>
                                  </m:rPr>
                                  <m:t>.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Formula</a:t>
                </a:r>
              </a:p>
              <a:p>
                <a:pPr lvl="0"/>
                <a:r>
                  <a:rPr/>
                  <a:t>A discrete random variable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has the </a:t>
                </a:r>
                <a:r>
                  <a:rPr b="1"/>
                  <a:t>Bernoulli distribution</a:t>
                </a:r>
                <a:r>
                  <a:rPr/>
                  <a:t> with parameter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(A parameter is a fixed number that describes or controls a probability distribution) if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probability mass function (PMF)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p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</m:mr>
                            <m:m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p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sty m:val="p"/>
                                  </m:rPr>
                                  <m:t>.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Equivalently,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p</m:t>
                          </m:r>
                        </m:e>
                        <m:sup>
                          <m:r>
                            <m:t>x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p</m:t>
                              </m:r>
                            </m:e>
                          </m:d>
                        </m:e>
                        <m:sup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x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parameter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can be any number between </a:t>
                </a:r>
                <a14:m>
                  <m:oMath xmlns:m="http://schemas.openxmlformats.org/officeDocument/2006/math">
                    <m:r>
                      <m:t>0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The mean and variance are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</a:t>
                </a:r>
              </a:p>
              <a:p>
                <a:pPr lvl="0"/>
                <a:r>
                  <a:rPr/>
                  <a:t>A sequence of </a:t>
                </a:r>
                <a:r>
                  <a:rPr b="1"/>
                  <a:t>independent Bernoulli experiments</a:t>
                </a:r>
                <a:r>
                  <a:rPr/>
                  <a:t> with the same probability of success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is called a sequence of </a:t>
                </a:r>
                <a:r>
                  <a:rPr b="1"/>
                  <a:t>Bernoulli trials</a:t>
                </a:r>
                <a:r>
                  <a:rPr/>
                  <a:t>.</a:t>
                </a:r>
              </a:p>
              <a:p>
                <a:pPr lvl="0"/>
                <a:r>
                  <a:rPr b="1"/>
                  <a:t>Examples:</a:t>
                </a:r>
              </a:p>
              <a:p>
                <a:pPr lvl="1"/>
                <a:r>
                  <a:rPr/>
                  <a:t>Tossing a coin 10 times.</a:t>
                </a:r>
              </a:p>
              <a:p>
                <a:pPr lvl="1"/>
                <a:r>
                  <a:rPr/>
                  <a:t>Rolling a die 8 times and recording each time whether we get a six.</a:t>
                </a:r>
              </a:p>
              <a:p>
                <a:pPr lvl="1"/>
                <a:r>
                  <a:rPr/>
                  <a:t>Inspecting 50 manufactured items for defects.</a:t>
                </a:r>
              </a:p>
              <a:p>
                <a:pPr lvl="0"/>
                <a:r>
                  <a:rPr/>
                  <a:t>With Bernoulli trials, we are usually interested in the </a:t>
                </a:r>
                <a:r>
                  <a:rPr b="1"/>
                  <a:t>total number of successes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For example:</a:t>
                </a:r>
              </a:p>
              <a:p>
                <a:pPr lvl="1"/>
                <a:r>
                  <a:rPr/>
                  <a:t>Out of 10 tosses, how many heads did we get?</a:t>
                </a:r>
              </a:p>
              <a:p>
                <a:pPr lvl="1"/>
                <a:r>
                  <a:rPr/>
                  <a:t>How many sixes did we get in 8 rolls of a die?</a:t>
                </a:r>
              </a:p>
              <a:p>
                <a:pPr lvl="1"/>
                <a:r>
                  <a:rPr/>
                  <a:t>Out of 50 manufactured items, how many are defective?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Trials: Example</a:t>
                </a:r>
              </a:p>
              <a:p>
                <a:pPr lvl="0"/>
                <a:r>
                  <a:rPr/>
                  <a:t>Suppose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=</m:t>
                    </m:r>
                    <m:r>
                      <m:t>5</m:t>
                    </m:r>
                  </m:oMath>
                </a14:m>
                <a:r>
                  <a:rPr/>
                  <a:t> items are manufactured </a:t>
                </a:r>
                <a:r>
                  <a:rPr b="1"/>
                  <a:t>independently</a:t>
                </a:r>
                <a:r>
                  <a:rPr/>
                  <a:t> of each other.</a:t>
                </a:r>
              </a:p>
              <a:p>
                <a:pPr lvl="0"/>
                <a:r>
                  <a:rPr/>
                  <a:t>Define:</a:t>
                </a:r>
              </a:p>
              <a:p>
                <a:pPr lvl="1"/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success (defect)</a:t>
                </a:r>
              </a:p>
              <a:p>
                <a:pPr lvl="1"/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failure (no defect)</a:t>
                </a:r>
              </a:p>
              <a:p>
                <a:pPr lvl="0"/>
                <a:r>
                  <a:rPr/>
                  <a:t>Suppose the probability of a defect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0.05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Let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if the </m:t>
                                </m:r>
                                <m:r>
                                  <m:t>i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th item is defective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otherwise</m:t>
                                </m:r>
                                <m:r>
                                  <m:rPr>
                                    <m:sty m:val="p"/>
                                  </m:rPr>
                                  <m:t>.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Let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total number of defects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4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5</m:t>
                          </m:r>
                        </m:sub>
                      </m:sSub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possible values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{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2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3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4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5</m:t>
                      </m:r>
                      <m:r>
                        <m:rPr>
                          <m:sty m:val="p"/>
                        </m:rPr>
                        <m:t>}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Trials: Possible Outcomes</a:t>
                </a:r>
              </a:p>
              <a:p>
                <a:pPr lvl="0"/>
                <a:r>
                  <a:rPr/>
                  <a:t>The table below shows all possible outcomes of the five Bernoulli trials and the corresponding value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Trials: Probability of an Outcome</a:t>
                </a:r>
              </a:p>
              <a:p>
                <a:pPr lvl="0"/>
                <a:r>
                  <a:rPr/>
                  <a:t>The Bernoulli random variables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are </a:t>
                </a:r>
                <a:r>
                  <a:rPr b="1"/>
                  <a:t>independent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Therefore, using basic probability rules we get,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A</m:t>
                                </m:r>
                                <m:r>
                                  <m:t>A</m:t>
                                </m:r>
                                <m:r>
                                  <m:t>B</m:t>
                                </m:r>
                                <m:r>
                                  <m:t>A</m:t>
                                </m:r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and </m:t>
                                </m:r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and </m:t>
                                </m:r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3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and </m:t>
                                </m:r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4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and </m:t>
                                </m:r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5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3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4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5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0.95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0.95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0.05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0.95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0.05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sSup>
                              <m:e>
                                <m:r>
                                  <m:t>0.05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  <m:sSup>
                              <m:e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</m:dPr>
                                  <m:e>
                                    <m:r>
                                      <m:t>0.95</m:t>
                                    </m:r>
                                  </m:e>
                                </m:d>
                              </m:e>
                              <m:sup>
                                <m:r>
                                  <m:t>3</m:t>
                                </m:r>
                              </m:sup>
                            </m:sSup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/>
                <a:r>
                  <a:rPr/>
                  <a:t>Similarly,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B</m:t>
                          </m:r>
                          <m:r>
                            <m:t>A</m:t>
                          </m:r>
                          <m:r>
                            <m:t>A</m:t>
                          </m:r>
                          <m:r>
                            <m:t>A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0.05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Thus, the probability of </a:t>
                </a:r>
                <a:r>
                  <a:rPr b="1"/>
                  <a:t>each particular outcome containing exactly 2 defects</a:t>
                </a:r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0.05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Trials: Number of Outcomes</a:t>
                </a:r>
              </a:p>
              <a:p>
                <a:pPr lvl="0"/>
                <a:r>
                  <a:rPr/>
                  <a:t>We want to find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Each particular outcome containing exactly 2 defects has probability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0.05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rPr>
                              <m:nor/>
                              <m:sty m:val="p"/>
                            </m:rPr>
                            <m:t>number of outcomes with 2 defects</m:t>
                          </m:r>
                        </m:e>
                      </m:d>
                      <m:r>
                        <m:rPr>
                          <m:sty m:val="p"/>
                        </m:rPr>
                        <m:t>×</m:t>
                      </m:r>
                      <m:sSup>
                        <m:e>
                          <m:r>
                            <m:t>0.05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How many different outcomes of 5 items contain exactly 2 defects?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noBar"/>
                            </m:fPr>
                            <m:num>
                              <m:r>
                                <m:t>5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5</m:t>
                          </m:r>
                          <m:r>
                            <m:rPr>
                              <m:sty m:val="p"/>
                            </m:rPr>
                            <m:t>!</m:t>
                          </m:r>
                        </m:num>
                        <m:den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!</m:t>
                          </m:r>
                          <m:r>
                            <m:t>3</m:t>
                          </m:r>
                          <m:r>
                            <m:rPr>
                              <m:sty m:val="p"/>
                            </m:rPr>
                            <m:t>!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10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noBar"/>
                            </m:fPr>
                            <m:num>
                              <m:r>
                                <m:t>5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</m:e>
                      </m:d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 Leading to ?</a:t>
                </a:r>
              </a:p>
              <a:p>
                <a:pPr lvl="0"/>
                <a:r>
                  <a:rPr/>
                  <a:t>We can group all possible outcomes of the Bernoulli trials according to the value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The probability mass function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0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5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5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1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4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10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10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4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5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4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1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5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5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0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the PMF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can be written as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noBar"/>
                            </m:fPr>
                            <m:num>
                              <m:r>
                                <m:t>5</m:t>
                              </m:r>
                            </m:num>
                            <m:den>
                              <m:r>
                                <m:t>x</m:t>
                              </m:r>
                            </m:den>
                          </m:f>
                        </m:e>
                      </m:d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x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5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x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5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distribution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is called the </a:t>
                </a:r>
                <a:r>
                  <a:rPr b="1"/>
                  <a:t>Binomial distribution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9" end="2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0" end="3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1" end="3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2" end="3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3" end="3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4" end="3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5" end="3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6" end="3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7" end="3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8" end="3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0" end="4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1" end="4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2" end="4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3" end="4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4" end="4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6" end="4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8" end="4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0" end="5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2" end="5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indefinite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5" end="5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5" fill="hold">
                      <p:stCondLst>
                        <p:cond delay="indefinite"/>
                      </p:stCondLst>
                      <p:childTnLst>
                        <p:par>
                          <p:cTn id="136" fill="hold">
                            <p:stCondLst>
                              <p:cond delay="0"/>
                            </p:stCondLst>
                            <p:childTnLst>
                              <p:par>
                                <p:cTn id="1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7" end="5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>
                      <p:stCondLst>
                        <p:cond delay="indefinite"/>
                      </p:stCondLst>
                      <p:childTnLst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8" end="5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3" fill="hold">
                      <p:stCondLst>
                        <p:cond delay="indefinite"/>
                      </p:stCondLst>
                      <p:childTnLst>
                        <p:par>
                          <p:cTn id="144" fill="hold">
                            <p:stCondLst>
                              <p:cond delay="0"/>
                            </p:stCondLst>
                            <p:childTnLst>
                              <p:par>
                                <p:cTn id="1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0" end="6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7" fill="hold">
                      <p:stCondLst>
                        <p:cond delay="indefinite"/>
                      </p:stCondLst>
                      <p:childTnLst>
                        <p:par>
                          <p:cTn id="148" fill="hold">
                            <p:stCondLst>
                              <p:cond delay="0"/>
                            </p:stCondLst>
                            <p:childTnLst>
                              <p:par>
                                <p:cTn id="1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2" end="6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1" fill="hold">
                      <p:stCondLst>
                        <p:cond delay="indefinite"/>
                      </p:stCondLst>
                      <p:childTnLst>
                        <p:par>
                          <p:cTn id="152" fill="hold">
                            <p:stCondLst>
                              <p:cond delay="0"/>
                            </p:stCondLst>
                            <p:childTnLst>
                              <p:par>
                                <p:cTn id="1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5" end="6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5" fill="hold">
                      <p:stCondLst>
                        <p:cond delay="indefinite"/>
                      </p:stCondLst>
                      <p:childTnLst>
                        <p:par>
                          <p:cTn id="156" fill="hold">
                            <p:stCondLst>
                              <p:cond delay="0"/>
                            </p:stCondLst>
                            <p:childTnLst>
                              <p:par>
                                <p:cTn id="1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7" end="6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9" fill="hold">
                      <p:stCondLst>
                        <p:cond delay="indefinite"/>
                      </p:stCondLst>
                      <p:childTnLst>
                        <p:par>
                          <p:cTn id="160" fill="hold">
                            <p:stCondLst>
                              <p:cond delay="0"/>
                            </p:stCondLst>
                            <p:childTnLst>
                              <p:par>
                                <p:cTn id="1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9" end="6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3" fill="hold">
                      <p:stCondLst>
                        <p:cond delay="indefinite"/>
                      </p:stCondLst>
                      <p:childTnLst>
                        <p:par>
                          <p:cTn id="164" fill="hold">
                            <p:stCondLst>
                              <p:cond delay="0"/>
                            </p:stCondLst>
                            <p:childTnLst>
                              <p:par>
                                <p:cTn id="1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1" end="7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7" fill="hold">
                      <p:stCondLst>
                        <p:cond delay="indefinite"/>
                      </p:stCondLst>
                      <p:childTnLst>
                        <p:par>
                          <p:cTn id="168" fill="hold">
                            <p:stCondLst>
                              <p:cond delay="0"/>
                            </p:stCondLst>
                            <p:childTnLst>
                              <p:par>
                                <p:cTn id="1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3" end="7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1" fill="hold">
                      <p:stCondLst>
                        <p:cond delay="indefinite"/>
                      </p:stCondLst>
                      <p:childTnLst>
                        <p:par>
                          <p:cTn id="172" fill="hold">
                            <p:stCondLst>
                              <p:cond delay="0"/>
                            </p:stCondLst>
                            <p:childTnLst>
                              <p:par>
                                <p:cTn id="1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6" end="7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5" fill="hold">
                      <p:stCondLst>
                        <p:cond delay="indefinite"/>
                      </p:stCondLst>
                      <p:childTnLst>
                        <p:par>
                          <p:cTn id="176" fill="hold">
                            <p:stCondLst>
                              <p:cond delay="0"/>
                            </p:stCondLst>
                            <p:childTnLst>
                              <p:par>
                                <p:cTn id="1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7" end="7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9" fill="hold">
                      <p:stCondLst>
                        <p:cond delay="indefinite"/>
                      </p:stCondLst>
                      <p:childTnLst>
                        <p:par>
                          <p:cTn id="180" fill="hold">
                            <p:stCondLst>
                              <p:cond delay="0"/>
                            </p:stCondLst>
                            <p:childTnLst>
                              <p:par>
                                <p:cTn id="1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5" end="8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3" fill="hold">
                      <p:stCondLst>
                        <p:cond delay="indefinite"/>
                      </p:stCondLst>
                      <p:childTnLst>
                        <p:par>
                          <p:cTn id="184" fill="hold">
                            <p:stCondLst>
                              <p:cond delay="0"/>
                            </p:stCondLst>
                            <p:childTnLst>
                              <p:par>
                                <p:cTn id="1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7" end="8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Hypergeometric 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A set of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objects contains:</a:t>
                </a:r>
              </a:p>
              <a:p>
                <a:pPr lvl="1"/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objects classified as </a:t>
                </a:r>
                <a:r>
                  <a:rPr b="1"/>
                  <a:t>successes</a:t>
                </a:r>
              </a:p>
              <a:p>
                <a:pPr lvl="1"/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K</m:t>
                    </m:r>
                  </m:oMath>
                </a14:m>
                <a:r>
                  <a:rPr/>
                  <a:t> objects classified as </a:t>
                </a:r>
                <a:r>
                  <a:rPr b="1"/>
                  <a:t>failures</a:t>
                </a:r>
              </a:p>
              <a:p>
                <a:pPr lvl="0"/>
                <a:r>
                  <a:rPr/>
                  <a:t>A sample of size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selected randomly </a:t>
                </a:r>
                <a:r>
                  <a:rPr b="1"/>
                  <a:t>without replacement</a:t>
                </a:r>
                <a:r>
                  <a:rPr/>
                  <a:t> from the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objects, where </a:t>
                </a:r>
                <a14:m>
                  <m:oMath xmlns:m="http://schemas.openxmlformats.org/officeDocument/2006/math">
                    <m:r>
                      <m:t>K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N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N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Let the random variable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denote the </a:t>
                </a:r>
                <a:r>
                  <a:rPr b="1"/>
                  <a:t>number of successes in the sample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Then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 a hypergeometric random variable with probability mass function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noBar"/>
                                </m:fPr>
                                <m:num>
                                  <m:r>
                                    <m:t>K</m:t>
                                  </m:r>
                                </m:num>
                                <m:den>
                                  <m:r>
                                    <m:t>x</m:t>
                                  </m:r>
                                </m:den>
                              </m:f>
                            </m:e>
                          </m:d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noBar"/>
                                </m:fPr>
                                <m:num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K</m:t>
                                  </m:r>
                                </m:num>
                                <m:den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x</m:t>
                                  </m:r>
                                </m:den>
                              </m:f>
                            </m:e>
                          </m:d>
                        </m:num>
                        <m:den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noBar"/>
                                </m:fPr>
                                <m:num>
                                  <m:r>
                                    <m:t>N</m:t>
                                  </m:r>
                                </m:num>
                                <m:den>
                                  <m:r>
                                    <m:t>n</m:t>
                                  </m:r>
                                </m:den>
                              </m:f>
                            </m:e>
                          </m:d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max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N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min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Hypergeometric Mean and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 a hypergeometric random variable with parameters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, and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, 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μ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σ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n</m:t>
                              </m:r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K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quantity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n</m:t>
                          </m:r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is called the </a:t>
                </a:r>
                <a:r>
                  <a:rPr b="1"/>
                  <a:t>finite population correction factor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σ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r>
                            <m:t>n</m:t>
                          </m:r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p</m:t>
                              </m:r>
                            </m:e>
                          </m:d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n</m:t>
                                  </m:r>
                                </m:num>
                                <m:den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1</m:t>
                                  </m:r>
                                </m:den>
                              </m:f>
                            </m:e>
                          </m:d>
                        </m:e>
                      </m:ra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As the sampling fraction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/</m:t>
                    </m:r>
                    <m:r>
                      <m:t>N</m:t>
                    </m:r>
                  </m:oMath>
                </a14:m>
                <a:r>
                  <a:rPr/>
                  <a:t> becomes small, the hypergeometric variance approaches the corresponding </a:t>
                </a:r>
                <a:r>
                  <a:rPr b="1"/>
                  <a:t>binomial variance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04: Discrete Random Variable</dc:title>
  <dc:creator/>
  <cp:keywords/>
  <dcterms:created xsi:type="dcterms:W3CDTF">2026-10-15T14:48:00Z</dcterms:created>
  <dcterms:modified xsi:type="dcterms:W3CDTF">2026-10-15T14:48:00Z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