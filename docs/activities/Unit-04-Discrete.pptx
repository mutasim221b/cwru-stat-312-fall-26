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7" Type="http://schemas.openxmlformats.org/officeDocument/2006/relationships/theme" Target="theme/theme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4-Discrete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04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04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Discrete Random Variable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Expected Value of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be constants.</a:t>
                </a:r>
              </a:p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Start from the definition of expected value: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inside the summation: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a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b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are constants, they can be taken outside the summations: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a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Variance of a Discrete Random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that the variance of 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can write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Expand the squared term: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2</m:t>
                          </m:r>
                          <m:r>
                            <m:t>μ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μ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μ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 the useful variance formula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Variance of a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By the definition of variance,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b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Simplifying,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Factor out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constant,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a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other two properties are special cases: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Simulating Roulette!</a:t>
            </a:r>
          </a:p>
        </p:txBody>
      </p:sp>
      <p:pic>
        <p:nvPicPr>
          <p:cNvPr descr="../images/roulet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7780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One Player - 250 Games.</a:t>
            </a:r>
          </a:p>
        </p:txBody>
      </p:sp>
      <p:pic>
        <p:nvPicPr>
          <p:cNvPr descr="../images/roulette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36800" y="1778000"/>
            <a:ext cx="41656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Ten Players - 250 Games.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Bernoulli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Idea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Bernoulli experiment</a:t>
                </a:r>
                <a:r>
                  <a:rPr/>
                  <a:t> has exactly two possible outcomes.</a:t>
                </a:r>
              </a:p>
              <a:p>
                <a:pPr lvl="0"/>
                <a:r>
                  <a:rPr/>
                  <a:t>One outcome is called </a:t>
                </a:r>
                <a:r>
                  <a:rPr b="1"/>
                  <a:t>success</a:t>
                </a:r>
                <a:r>
                  <a:rPr/>
                  <a:t>, and the other is called </a:t>
                </a:r>
                <a:r>
                  <a:rPr b="1"/>
                  <a:t>failure</a:t>
                </a:r>
                <a:r>
                  <a:rPr/>
                  <a:t>.</a:t>
                </a:r>
              </a:p>
              <a:p>
                <a:pPr lvl="1"/>
                <a:r>
                  <a:rPr/>
                  <a:t>For example, we can define “rolling a six”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can define “an item is defective”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be the probability that the experiment results in a success.</a:t>
                </a:r>
              </a:p>
              <a:p>
                <a:pPr lvl="0"/>
                <a:r>
                  <a:rPr/>
                  <a:t>Define the discrete random variable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success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failure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Formula</a:t>
                </a:r>
              </a:p>
              <a:p>
                <a:pPr lvl="0"/>
                <a:r>
                  <a:rPr/>
                  <a:t>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the </a:t>
                </a:r>
                <a:r>
                  <a:rPr b="1"/>
                  <a:t>Bernoulli distribution</a:t>
                </a:r>
                <a:r>
                  <a:rPr/>
                  <a:t> with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(A parameter is a fixed number that describes or controls a probability distribution)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Equivalently,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p</m:t>
                          </m:r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can be any number between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mean and variance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</a:t>
                </a:r>
              </a:p>
              <a:p>
                <a:pPr lvl="0"/>
                <a:r>
                  <a:rPr/>
                  <a:t>A sequence of </a:t>
                </a:r>
                <a:r>
                  <a:rPr b="1"/>
                  <a:t>independent Bernoulli experiments</a:t>
                </a:r>
                <a:r>
                  <a:rPr/>
                  <a:t> with the same probability of success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called a sequence of </a:t>
                </a:r>
                <a:r>
                  <a:rPr b="1"/>
                  <a:t>Bernoulli trials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Tossing a coin 10 times.</a:t>
                </a:r>
              </a:p>
              <a:p>
                <a:pPr lvl="1"/>
                <a:r>
                  <a:rPr/>
                  <a:t>Rolling a die 8 times and recording each time whether we get a six.</a:t>
                </a:r>
              </a:p>
              <a:p>
                <a:pPr lvl="1"/>
                <a:r>
                  <a:rPr/>
                  <a:t>Inspecting 50 manufactured items for defects.</a:t>
                </a:r>
              </a:p>
              <a:p>
                <a:pPr lvl="0"/>
                <a:r>
                  <a:rPr/>
                  <a:t>With Bernoulli trials, we are usually interested in the </a:t>
                </a:r>
                <a:r>
                  <a:rPr b="1"/>
                  <a:t>total number of successes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example:</a:t>
                </a:r>
              </a:p>
              <a:p>
                <a:pPr lvl="1"/>
                <a:r>
                  <a:rPr/>
                  <a:t>Out of 10 tosses, how many heads did we get?</a:t>
                </a:r>
              </a:p>
              <a:p>
                <a:pPr lvl="1"/>
                <a:r>
                  <a:rPr/>
                  <a:t>How many sixes did we get in 8 rolls of a die?</a:t>
                </a:r>
              </a:p>
              <a:p>
                <a:pPr lvl="1"/>
                <a:r>
                  <a:rPr/>
                  <a:t>Out of 50 manufactured items, how many are defective?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Example</a:t>
                </a:r>
              </a:p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items are manufactured </a:t>
                </a:r>
                <a:r>
                  <a:rPr b="1"/>
                  <a:t>independently</a:t>
                </a:r>
                <a:r>
                  <a:rPr/>
                  <a:t> of each other.</a:t>
                </a:r>
              </a:p>
              <a:p>
                <a:pPr lvl="0"/>
                <a:r>
                  <a:rPr/>
                  <a:t>Define: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success (defect)</a:t>
                </a:r>
              </a:p>
              <a:p>
                <a:pPr lvl="1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failure (no defect)</a:t>
                </a:r>
              </a:p>
              <a:p>
                <a:pPr lvl="0"/>
                <a:r>
                  <a:rPr/>
                  <a:t>Suppose the probability of a defect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0.05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</m:t>
                                </m:r>
                                <m:r>
                                  <m:t>i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th item is defective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total number of defects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possible values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4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Possible Outcomes</a:t>
                </a:r>
              </a:p>
              <a:p>
                <a:pPr lvl="0"/>
                <a:r>
                  <a:rPr/>
                  <a:t>The table below shows all possible outcomes of the five Bernoulli trials and the corresponding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Probability of an Outcome</a:t>
                </a:r>
              </a:p>
              <a:p>
                <a:pPr lvl="0"/>
                <a:r>
                  <a:rPr/>
                  <a:t>The Bernoulli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using basic probability rules we get,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A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sSup>
                              <m:e>
                                <m:r>
                                  <m:t>0.05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0.95</m:t>
                                    </m:r>
                                  </m:e>
                                </m:d>
                              </m:e>
                              <m:sup>
                                <m:r>
                                  <m:t>3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the probability of </a:t>
                </a:r>
                <a:r>
                  <a:rPr b="1"/>
                  <a:t>each particular outcome containing exactly 2 defects</a:t>
                </a:r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Number of Outcomes</a:t>
                </a:r>
              </a:p>
              <a:p>
                <a:pPr lvl="0"/>
                <a:r>
                  <a:rPr/>
                  <a:t>We want to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Each particular outcome containing exactly 2 defects has probability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number of outcomes with 2 defects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many different outcomes of 5 items contain exactly 2 defects?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num>
                        <m:den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 Leading to ?</a:t>
                </a:r>
              </a:p>
              <a:p>
                <a:pPr lvl="0"/>
                <a:r>
                  <a:rPr/>
                  <a:t>We can group all possible outcomes of the Bernoulli trials according to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probability mass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5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PMF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x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distribution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 called the </a:t>
                </a:r>
                <a:r>
                  <a:rPr b="1"/>
                  <a:t>Binomial distribution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4" end="3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5" end="3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6" end="3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1" end="4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2" end="4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3" end="4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4" end="4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0" end="5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8" end="5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0" end="6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2" end="6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5" end="6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7" end="6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9" end="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1" end="7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3" end="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6" end="7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7" end="7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5" end="8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7" end="8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 contains:</a:t>
                </a:r>
              </a:p>
              <a:p>
                <a:pPr lvl="1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failures</a:t>
                </a:r>
              </a:p>
              <a:p>
                <a:pPr lvl="0"/>
                <a:r>
                  <a:rPr/>
                  <a:t>A sample of size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selected randomly </a:t>
                </a:r>
                <a:r>
                  <a:rPr b="1"/>
                  <a:t>without replacement</a:t>
                </a:r>
                <a:r>
                  <a:rPr/>
                  <a:t> from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objects, where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Let the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denote the </a:t>
                </a:r>
                <a:r>
                  <a:rPr b="1"/>
                  <a:t>number of successes in the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probability mass function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min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parameters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μ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n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K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quantity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called the </a:t>
                </a:r>
                <a:r>
                  <a:rPr b="1"/>
                  <a:t>finite population correction factor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σ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 the sampling fraction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 becomes small, the hypergeometric variance approaches the corresponding </a:t>
                </a:r>
                <a:r>
                  <a:rPr b="1"/>
                  <a:t>binomial variance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04: Discrete Random Variable</dc:title>
  <dc:creator/>
  <cp:keywords/>
  <dcterms:created xsi:type="dcterms:W3CDTF">2026-10-28T11:37:03Z</dcterms:created>
  <dcterms:modified xsi:type="dcterms:W3CDTF">2026-10-28T11:37:03Z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