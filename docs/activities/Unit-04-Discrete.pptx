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3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12" Type="http://schemas.openxmlformats.org/officeDocument/2006/relationships/theme" Target="theme/theme1.xml" /><Relationship Id="rId11" Type="http://schemas.openxmlformats.org/officeDocument/2006/relationships/viewProps" Target="viewProps.xml" /><Relationship Id="rId10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4-Discrete.pdf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04 Handout: Probability</a:t>
            </a:r>
            <a:r>
              <a:rPr/>
              <a:t> before class and bring it with you.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03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 The solutions are provided in Canvas.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Probability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class lecture notes</a:t>
            </a:r>
          </a:p>
          <a:p>
            <a:pPr lvl="0"/>
            <a:r>
              <a:rPr/>
              <a:t>I usually post the class notes on Canvas by the end of the day. If you don’t see it, shoot me an email next day!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Hypergeometric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A set of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objects contains:</a:t>
                </a:r>
              </a:p>
              <a:p>
                <a:pPr lvl="1"/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objects classified as </a:t>
                </a:r>
                <a:r>
                  <a:rPr b="1"/>
                  <a:t>successes</a:t>
                </a:r>
              </a:p>
              <a:p>
                <a:pPr lvl="1"/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K</m:t>
                    </m:r>
                  </m:oMath>
                </a14:m>
                <a:r>
                  <a:rPr/>
                  <a:t> objects classified as </a:t>
                </a:r>
                <a:r>
                  <a:rPr b="1"/>
                  <a:t>failures</a:t>
                </a:r>
              </a:p>
              <a:p>
                <a:pPr lvl="0"/>
                <a:r>
                  <a:rPr/>
                  <a:t>A sample of size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selected randomly </a:t>
                </a:r>
                <a:r>
                  <a:rPr b="1"/>
                  <a:t>without replacement</a:t>
                </a:r>
                <a:r>
                  <a:rPr/>
                  <a:t> from the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objects, where </a:t>
                </a:r>
                <a14:m>
                  <m:oMath xmlns:m="http://schemas.openxmlformats.org/officeDocument/2006/math">
                    <m:r>
                      <m:t>K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N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N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Let the random variable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denote the </a:t>
                </a:r>
                <a:r>
                  <a:rPr b="1"/>
                  <a:t>number of successes in the sample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Then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 a hypergeometric random variable with probability mass function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noBar"/>
                                </m:fPr>
                                <m:num>
                                  <m:r>
                                    <m:t>K</m:t>
                                  </m:r>
                                </m:num>
                                <m:den>
                                  <m:r>
                                    <m:t>x</m:t>
                                  </m:r>
                                </m:den>
                              </m:f>
                            </m:e>
                          </m:d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noBar"/>
                                </m:fPr>
                                <m:num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K</m:t>
                                  </m:r>
                                </m:num>
                                <m:den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x</m:t>
                                  </m:r>
                                </m:den>
                              </m:f>
                            </m:e>
                          </m:d>
                        </m:num>
                        <m:den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noBar"/>
                                </m:fPr>
                                <m:num>
                                  <m:r>
                                    <m:t>N</m:t>
                                  </m:r>
                                </m:num>
                                <m:den>
                                  <m:r>
                                    <m:t>n</m:t>
                                  </m:r>
                                </m:den>
                              </m:f>
                            </m:e>
                          </m:d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max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N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min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Hypergeometric Mean and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 a hypergeometric random variable with parameters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, and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, 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μ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σ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n</m:t>
                              </m:r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K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quantity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n</m:t>
                          </m:r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is called the </a:t>
                </a:r>
                <a:r>
                  <a:rPr b="1"/>
                  <a:t>finite population correction factor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σ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r>
                            <m:t>n</m:t>
                          </m:r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p</m:t>
                              </m:r>
                            </m:e>
                          </m:d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n</m:t>
                                  </m:r>
                                </m:num>
                                <m:den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1</m:t>
                                  </m:r>
                                </m:den>
                              </m:f>
                            </m:e>
                          </m:d>
                        </m:e>
                      </m:ra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As the sampling fraction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/</m:t>
                    </m:r>
                    <m:r>
                      <m:t>N</m:t>
                    </m:r>
                  </m:oMath>
                </a14:m>
                <a:r>
                  <a:rPr/>
                  <a:t> becomes small, the hypergeometric variance approaches the corresponding </a:t>
                </a:r>
                <a:r>
                  <a:rPr b="1"/>
                  <a:t>binomial variance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04: Discrete Random Variable</dc:title>
  <dc:creator/>
  <cp:keywords/>
  <dcterms:created xsi:type="dcterms:W3CDTF">2026-09-14T12:15:06Z</dcterms:created>
  <dcterms:modified xsi:type="dcterms:W3CDTF">2026-09-14T12:15:06Z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