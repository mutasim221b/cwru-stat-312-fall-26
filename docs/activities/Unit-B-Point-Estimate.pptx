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2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1" Type="http://schemas.openxmlformats.org/officeDocument/2006/relationships/theme" Target="theme/theme1.xml" /><Relationship Id="rId20" Type="http://schemas.openxmlformats.org/officeDocument/2006/relationships/viewProps" Target="viewProps.xml" /><Relationship Id="rId19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Statistical Inference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Models and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Statistical models describe populations using probability distributions, represented by probability density functions (PDFs) or probability mass functions (PMFs).</a:t>
                </a:r>
              </a:p>
              <a:p>
                <a:pPr lvl="0"/>
                <a:r>
                  <a:rPr/>
                  <a:t>These distributions usually depend on unknown </a:t>
                </a:r>
                <a:r>
                  <a:rPr b="1"/>
                  <a:t>parameters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use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as a general symbol for a parameter.</a:t>
                </a:r>
              </a:p>
              <a:p>
                <a:pPr lvl="0"/>
                <a:r>
                  <a:rPr/>
                  <a:t>Examples:</a:t>
                </a:r>
              </a:p>
              <a:p>
                <a:pPr lvl="1"/>
                <a:r>
                  <a:rPr/>
                  <a:t>The lifetime of a string of Christmas lights follows an exponential distribution,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The average amount in 63 poured drinks is approximately normally distributed with mean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The number of people with a disease among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independently sampled people follows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Binomial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, where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the population prevalence.</a:t>
                </a:r>
              </a:p>
              <a:p>
                <a:pPr lvl="0"/>
                <a:r>
                  <a:rPr/>
                  <a:t>In practice, the value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unknown.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Learning from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Our observed data come from a </a:t>
                </a:r>
                <a:r>
                  <a:rPr b="1"/>
                  <a:t>random sample</a:t>
                </a:r>
                <a:r>
                  <a:rPr/>
                  <a:t> of the population.</a:t>
                </a:r>
              </a:p>
              <a:p>
                <a:pPr lvl="0"/>
                <a:r>
                  <a:rPr/>
                  <a:t>Given the observed data, what can we say about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We model the sample as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use their observed values to draw conclusions about the unknown population parameter.</a:t>
                </a:r>
              </a:p>
              <a:p>
                <a:pPr lvl="0"/>
                <a:r>
                  <a:rPr b="1"/>
                  <a:t>Example:</a:t>
                </a:r>
                <a:r>
                  <a:rPr/>
                  <a:t> Five strings of Christmas lights from the same manufacturer lasted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21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103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76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88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96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days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Assuming that their lifetimes are independent and follow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, with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representing the failure rate, what do these data tell us about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Estimating Disease Prevalence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take a random sample of </a:t>
                </a:r>
                <a:r>
                  <a:rPr b="1"/>
                  <a:t>100 people</a:t>
                </a:r>
                <a:r>
                  <a:rPr/>
                  <a:t> and test each person for a disease. </a:t>
                </a:r>
                <a:r>
                  <a:rPr b="1"/>
                  <a:t>Three people</a:t>
                </a:r>
                <a:r>
                  <a:rPr/>
                  <a:t> have the disease.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denote the prevalence of the disease in the population.</a:t>
                </a:r>
              </a:p>
              <a:p>
                <a:pPr lvl="0" indent="0" marL="0">
                  <a:buNone/>
                </a:pPr>
                <a:r>
                  <a:rPr/>
                  <a:t>The sample proportion gives the estimate (point estimate)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100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0.03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certain are we about this estimate?</a:t>
                </a:r>
              </a:p>
              <a:p>
                <a:pPr lvl="0"/>
                <a:r>
                  <a:rPr/>
                  <a:t>Can we be confident that the population prevalence is greater than </a:t>
                </a:r>
                <a:r>
                  <a:rPr b="1"/>
                  <a:t>2%</a:t>
                </a:r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Estimation and Decisions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Estimation:</a:t>
                </a:r>
                <a:r>
                  <a:rPr/>
                  <a:t> Estimate an unknown population parameter.</a:t>
                </a:r>
              </a:p>
              <a:p>
                <a:pPr lvl="1"/>
                <a:r>
                  <a:rPr/>
                  <a:t>For example, we estimated disease prevalence as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 </a:t>
                </a:r>
                <a:r>
                  <a:rPr b="1"/>
                  <a:t>point estimate</a:t>
                </a:r>
                <a:r>
                  <a:rPr/>
                  <a:t> provides a single numerical value.</a:t>
                </a:r>
              </a:p>
              <a:p>
                <a:pPr lvl="1"/>
                <a:r>
                  <a:rPr/>
                  <a:t>An </a:t>
                </a:r>
                <a:r>
                  <a:rPr b="1"/>
                  <a:t>interval estimate</a:t>
                </a:r>
                <a:r>
                  <a:rPr/>
                  <a:t> provides a range of plausible values.</a:t>
                </a:r>
              </a:p>
              <a:p>
                <a:pPr lvl="0"/>
                <a:r>
                  <a:rPr b="1"/>
                  <a:t>Making decisions:</a:t>
                </a:r>
                <a:r>
                  <a:rPr/>
                  <a:t> Use hypothesis testing and decision theory.</a:t>
                </a:r>
              </a:p>
              <a:p>
                <a:pPr lvl="1"/>
                <a:r>
                  <a:rPr/>
                  <a:t>Suppose the state will launch a costly public health campaign if the disease affects </a:t>
                </a:r>
                <a:r>
                  <a:rPr b="1"/>
                  <a:t>2% or more</a:t>
                </a:r>
                <a:r>
                  <a:rPr/>
                  <a:t> of the population.</a:t>
                </a:r>
              </a:p>
              <a:p>
                <a:pPr lvl="1"/>
                <a:r>
                  <a:rPr/>
                  <a:t>Do the data provide sufficient evidence that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greater than </a:t>
                </a:r>
                <a14:m>
                  <m:oMath xmlns:m="http://schemas.openxmlformats.org/officeDocument/2006/math">
                    <m:r>
                      <m:t>0.02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pic>
        <p:nvPicPr>
          <p:cNvPr descr="Unit-B-Point-Estimate_files/figure-pptx/population-sample-infere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778000"/>
            <a:ext cx="69723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Probability:</a:t>
            </a:r>
            <a:r>
              <a:rPr/>
              <a:t> Start with a population model and study possible sample outcomes.</a:t>
            </a:r>
          </a:p>
          <a:p>
            <a:pPr lvl="0"/>
            <a:r>
              <a:rPr b="1"/>
              <a:t>Inference:</a:t>
            </a:r>
            <a:r>
              <a:rPr/>
              <a:t> Start with sample data and learn about unknown population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Point Estimation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often want to estimate an unknown </a:t>
                </a:r>
                <a:r>
                  <a:rPr b="1"/>
                  <a:t>population parameter</a:t>
                </a:r>
                <a:r>
                  <a:rPr/>
                  <a:t> using the results of a </a:t>
                </a:r>
                <a:r>
                  <a:rPr b="1"/>
                  <a:t>random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Examples of population parameters include:</a:t>
                </a:r>
              </a:p>
              <a:p>
                <a:pPr lvl="1"/>
                <a:r>
                  <a:rPr/>
                  <a:t>Population mean: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  <a:p>
                <a:pPr lvl="1"/>
                <a:r>
                  <a:rPr/>
                  <a:t>Population proportion: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</a:p>
              <a:p>
                <a:pPr lvl="1"/>
                <a:r>
                  <a:rPr/>
                  <a:t>Population standard deviation: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</a:p>
              <a:p>
                <a:pPr lvl="0"/>
                <a:r>
                  <a:rPr/>
                  <a:t>A statistic calculated from the sample provides an estimate of the corresponding population parameter.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Point Estimation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denote an unknown population parameter.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point estimator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a statistic used to estimate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point estimate</a:t>
                </a:r>
                <a:r>
                  <a:rPr/>
                  <a:t> is the observed numerical value of that statistic for a particular sample.</a:t>
                </a:r>
              </a:p>
              <a:p>
                <a:pPr lvl="0"/>
                <a:r>
                  <a:rPr/>
                  <a:t>The point estimate is regarded as a plausible value of the unknown parameter.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Placeholder 1" /><p:cNvSpPr><a:spLocks noGrp="1" /></p:cNvSpPr><p:nvPr><p:ph type="title" /></p:nvPr></p:nvSpPr><p:spPr bwMode="auto"><a:xfrm><a:off x="433680" y="423297" /><a:ext cx="8229600" cy="784602" /></a:xfrm><a:prstGeom prst="rect"><a:avLst /></a:prstGeom><a:noFill /><a:ln w="9525"><a:noFill /><a:miter lim="800000" /><a:headEnd /><a:tailEnd /></a:ln></p:spPr><p:txBody><a:bodyPr /><a:lstStyle /><a:p><a:pPr lvl="0" indent="0" marL="0"><a:buNone /></a:pPr><a:r><a:rPr /><a:t>Parameters, Point Estimators, and Point Estimates</a:t></a:r></a:p></p:txBody></p:sp><p:graphicFrame><p:nvGraphicFramePr><p:cNvPr id="6" name="Content Placeholder 5" /><p:cNvGraphicFramePr><a:graphicFrameLocks noGrp="1" /></p:cNvGraphicFramePr><p:nvPr><p:ph idx="1" /></p:nvPr></p:nvGraphicFramePr><p:xfrm><a:off x="533400" y="1778000" /><a:ext cx="7772400" cy="3657600" /></p:xfrm><a:graphic><a:graphicData uri="http://schemas.openxmlformats.org/drawingml/2006/table"><a:tbl><a:tblPr firstRow="1" bandRow="1"><a:tableStyleId>{5C22544A-7EE6-4342-B048-85BDC9FD1C3A}</a:tableStyleId></a:tblPr><a:tblGrid><a:gridCol w="2590800" /><a:gridCol w="2590800" /><a:gridCol w="2590800" /></a:tblGrid><a:tr h="0"><a:tc><a:txBody><a:bodyPr /><a:lstStyle /><a:p><a:pPr lvl="0" indent="0" marL="0" algn="l"><a:buNone /></a:pPr><a:r><a:rPr /><a:t>Population parameter</a:t></a:r></a:p></a:txBody><a:tcPr /></a:tc><a:tc><a:txBody><a:bodyPr /><a:lstStyle /><a:p><a:pPr lvl="0" indent="0" marL="0" algn="l"><a:buNone /></a:pPr><a:r><a:rPr /><a:t>Point estimator</a:t></a:r></a:p></a:txBody><a:tcPr /></a:tc><a:tc><a:txBody><a:bodyPr /><a:lstStyle /><a:p><a:pPr lvl="0" indent="0" marL="0" algn="l"><a:buNone /></a:pPr><a:r><a:rPr /><a:t>Observed point estimate</a:t></a:r></a:p></a:txBody><a:tcPr /></a:tc></a:tr><a:tr h="0"><a:tc><a:txBody><a:bodyPr /><a:lstStyle /><a:p><a:pPr lvl="0" indent="0" marL="0" algn="l"><a:buNone /></a:pPr><a:r><a:rPr /><a:t>Mean </a:t></a:r><a14:m><m:oMath xmlns:m="http://schemas.openxmlformats.org/officeDocument/2006/math"><m:r><m:t>μ</m:t></m:r></m:oMath></a14:m></a:p></a:txBody></a:tc><a:tc><a:txBody><a:bodyPr /><a:lstStyle /><a:p><a:pPr lvl="0" indent="0" marL="0" algn="l"><a:buNone /></a:pPr><a14:m><m:oMath xmlns:m="http://schemas.openxmlformats.org/officeDocument/2006/math"><m:bar><m:barPr><m:pos m:val="top" /></m:barPr><m:e><m:r><m:t>X</m:t></m:r></m:e></m:bar></m:oMath></a14:m></a:p></a:txBody></a:tc><a:tc><a:txBody><a:bodyPr /><a:lstStyle /><a:p><a:pPr lvl="0" indent="0" marL="0" algn="l"><a:buNone /></a:pPr><a14:m><m:oMath xmlns:m="http://schemas.openxmlformats.org/officeDocument/2006/math"><m:bar><m:barPr><m:pos m:val="top" /></m:barPr><m:e><m:r><m:t>x</m:t></m:r></m:e></m:bar></m:oMath></a14:m></a:p></a:txBody></a:tc></a:tr><a:tr h="0"><a:tc><a:txBody><a:bodyPr /><a:lstStyle /><a:p><a:pPr lvl="0" indent="0" marL="0" algn="l"><a:buNone /></a:pPr><a:r><a:rPr /><a:t>Proportion </a:t></a: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acc><m:accPr><m:chr m:val="̂" /></m:accPr><m:e><m:r><m:t>p</m:t></m:r></m:e></m:acc><m:r><m:rPr><m:sty m:val="p" /></m:rPr><m:t>=</m:t></m:r><m:r><m:t>X</m:t></m:r><m:r><m:rPr><m:sty m:val="p" /></m:rPr><m:t>/</m:t></m:r><m:r><m:t>n</m:t></m:r></m:oMath></a14:m></a:p></a:txBody></a:tc><a:tc><a:txBody><a:bodyPr /><a:lstStyle /><a:p><a:pPr lvl="0" indent="0" marL="0" algn="l"><a:buNone /></a:pPr><a14:m><m:oMath xmlns:m="http://schemas.openxmlformats.org/officeDocument/2006/math"><m:acc><m:accPr><m:chr m:val="̂" /></m:accPr><m:e><m:r><m:t>p</m:t></m:r></m:e></m:acc><m:r><m:rPr><m:sty m:val="p" /></m:rPr><m:t>=</m:t></m:r><m:r><m:t>x</m:t></m:r><m:r><m:rPr><m:sty m:val="p" /></m:rPr><m:t>/</m:t></m:r><m:r><m:t>n</m:t></m:r></m:oMath></a14:m></a:p></a:txBody></a:tc></a:tr><a:tr h="0"><a:tc><a:txBody><a:bodyPr /><a:lstStyle /><a:p><a:pPr lvl="0" indent="0" marL="0" algn="l"><a:buNone /></a:pPr><a:r><a:rPr /><a:t>Standard deviation </a:t></a:r><a14:m><m:oMath xmlns:m="http://schemas.openxmlformats.org/officeDocument/2006/math"><m:r><m:t>σ</m:t></m:r></m:oMath></a14:m></a:p></a:txBody></a:tc><a:tc><a:txBody><a:bodyPr /><a:lstStyle /><a:p><a:pPr lvl="0" indent="0" marL="0" algn="l"><a:buNone /></a:pPr><a14:m><m:oMath xmlns:m="http://schemas.openxmlformats.org/officeDocument/2006/math"><m:r><m:t>S</m:t></m:r></m:oMath></a14:m></a:p></a:txBody></a:tc><a:tc><a:txBody><a:bodyPr /><a:lstStyle /><a:p><a:pPr lvl="0" indent="0" marL="0" algn="l"><a:buNone /></a:pPr><a14:m><m:oMath xmlns:m="http://schemas.openxmlformats.org/officeDocument/2006/math"><m:r><m:t>s</m:t></m:r></m:oMath></a14:m></a:p></a:txBody></a:tc></a:tr></a:tbl></a:graphicData></a:graphic></p:graphicFrame><p:sp><p:nvSpPr><p:cNvPr id="4" name="Slide Number Placeholder 3" /><p:cNvSpPr><a:spLocks noGrp="1" /></p:cNvSpPr><p:nvPr><p:ph idx="10" sz="quarter" type="sldNum" /></p:nvPr></p:nvSpPr><p:spPr /><p:txBody><a:bodyPr /><a:lstStyle /><a:p><a:fld id="{9C13042B-154E-4D18-B726-07B2F714EFCF}" type="slidenum"><a:rPr lang="en-US" smtClean="0" /><a:pPr /><a:t>‹#›</a:t></a:fld><a:endParaRPr dirty="0" lang="en-US" /></a:p></p:txBody></p:sp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An </a:t>
                </a:r>
                <a:r>
                  <a:rPr b="1"/>
                  <a:t>estimator</a:t>
                </a:r>
                <a:r>
                  <a:rPr/>
                  <a:t> is a random variable because its value depends on the random sample.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estimate</a:t>
                </a:r>
                <a:r>
                  <a:rPr/>
                  <a:t> is the numerical value obtained after observing the sample.</a:t>
                </a:r>
              </a:p>
              <a:p>
                <a:pPr lvl="0"/>
                <a:r>
                  <a:rPr/>
                  <a:t>For the sample proportion,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the random number of successes and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its observed value. The notation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is commonly used for both the estimator and its observed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Estimating a Population Proportion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want to estimate the proportion of people in Cleveland who like liver.</a:t>
                </a:r>
              </a:p>
              <a:p>
                <a:pPr lvl="0" indent="0" marL="0">
                  <a:buNone/>
                </a:pPr>
                <a:r>
                  <a:rPr/>
                  <a:t>A random sample of </a:t>
                </a:r>
                <a:r>
                  <a:rPr b="1"/>
                  <a:t>500 Clevelanders</a:t>
                </a:r>
                <a:r>
                  <a:rPr/>
                  <a:t> is taken, and </a:t>
                </a:r>
                <a:r>
                  <a:rPr b="1"/>
                  <a:t>110</a:t>
                </a:r>
                <a:r>
                  <a:rPr/>
                  <a:t> say that they like lakes.</a:t>
                </a:r>
              </a:p>
              <a:p>
                <a:pPr lvl="0"/>
                <a:r>
                  <a:rPr b="1"/>
                  <a:t>Parameter: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, the proportion of all people in Cleveland who like lakes.</a:t>
                </a:r>
              </a:p>
              <a:p>
                <a:pPr lvl="0"/>
                <a:r>
                  <a:rPr b="1"/>
                  <a:t>Point estimator: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X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 b="1"/>
                  <a:t>Point estimate: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110</m:t>
                          </m:r>
                        </m:num>
                        <m:den>
                          <m:r>
                            <m:t>500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estimate that </a:t>
                </a:r>
                <a:r>
                  <a:rPr b="1"/>
                  <a:t>22%</a:t>
                </a:r>
                <a:r>
                  <a:rPr/>
                  <a:t> of people in Cleveland like lakes.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0.22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Properties of Point Estimators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Unbiased Estimators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An estimator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is an </a:t>
                </a:r>
                <a:r>
                  <a:rPr b="1"/>
                  <a:t>unbiased estimator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bias</a:t>
                </a:r>
                <a:r>
                  <a:rPr/>
                  <a:t> of an estimator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Bias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 unbiased estimator has bias equal to zero.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For an i.i.d. random sample with the relevant finite moments: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?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?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when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uses the denominator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Unbiased Estimation of the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Assumptions and Definitions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be independent and identically distributed random variables, with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≥</m:t>
                    </m:r>
                    <m:r>
                      <m:t>2</m:t>
                    </m:r>
                  </m:oMath>
                </a14:m>
                <a:r>
                  <a:rPr/>
                  <a:t>, such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&lt;</m:t>
                      </m:r>
                      <m:r>
                        <m:rPr>
                          <m:sty m:val="p"/>
                        </m:rPr>
                        <m:t>∞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Define the </a:t>
                </a:r>
                <a:r>
                  <a:rPr b="1"/>
                  <a:t>sample mean</a:t>
                </a:r>
                <a:r>
                  <a:rPr/>
                  <a:t> and </a:t>
                </a:r>
                <a:r>
                  <a:rPr b="1"/>
                  <a:t>sample variance</a:t>
                </a:r>
                <a:r>
                  <a:rPr/>
                  <a:t>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ar>
                        <m:barPr>
                          <m:pos m:val="top"/>
                        </m:barPr>
                        <m:e>
                          <m:r>
                            <m:t>X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</m:barPr>
                                    <m:e>
                                      <m:r>
                                        <m:t>X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will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bar>
                                <m:barPr>
                                  <m:pos m:val="top"/>
                                </m:barPr>
                                <m:e>
                                  <m:r>
                                    <m:t>X</m:t>
                                  </m:r>
                                </m:e>
                              </m:ba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μ</m:t>
                          </m:r>
                          <m:r>
                            <m:t>  </m:t>
                          </m:r>
                          <m:r>
                            <m:rPr>
                              <m:nor/>
                              <m:sty m:val="p"/>
                            </m:rPr>
                            <m:t>and</m:t>
                          </m:r>
                          <m:r>
                            <m:t>  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S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Normality is not required for these results.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Proof: The Sample Mean Is Unbiased</a:t>
                </a:r>
              </a:p>
              <a:p>
                <a:pPr lvl="0" indent="0" marL="0">
                  <a:buNone/>
                </a:pPr>
                <a:r>
                  <a:rPr/>
                  <a:t>See Class Notes of Unit 06 topics.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Proof: Expected Value of Sample Variance</a:t>
                </a:r>
              </a:p>
              <a:p>
                <a:pPr lvl="0" indent="0" marL="0">
                  <a:buNone/>
                </a:pPr>
                <a:r>
                  <a:rPr/>
                  <a:t>See Class Notes of Unit B topics.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Do We Divide by n − 1 Instead of n?</a:t>
                </a:r>
              </a:p>
              <a:p>
                <a:pPr lvl="0" indent="0" marL="0">
                  <a:buNone/>
                </a:pPr>
                <a:r>
                  <a:rPr/>
                  <a:t>Suppose we instead define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p>
                          <m:r>
                            <m:t> </m:t>
                          </m:r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</m:barPr>
                                    <m:e>
                                      <m:r>
                                        <m:t>X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p>
                        <m:r>
                          <m:t> 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S</m:t>
                                  </m:r>
                                </m:e>
                              </m:acc>
                            </m:e>
                            <m:sup>
                              <m:r>
                                <m:t> </m:t>
                              </m:r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Its bias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Bias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acc>
                                      <m:accPr>
                                        <m:chr m:val="̃"/>
                                      </m:acc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m:t> </m:t>
                                    </m:r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acc>
                                      <m:accPr>
                                        <m:chr m:val="̃"/>
                                      </m:acc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m:t> </m:t>
                                    </m:r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σ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sSup>
                                  <m:e>
                                    <m:r>
                                      <m:t>σ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, dividing by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</a:t>
                </a:r>
                <a:r>
                  <a:rPr b="1"/>
                  <a:t>underestimates the population variance on average</a:t>
                </a:r>
                <a:r>
                  <a:rPr/>
                  <a:t>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removes this bias.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Degrees of Freedom</a:t>
                </a:r>
              </a:p>
              <a:p>
                <a:pPr lvl="0"/>
                <a:r>
                  <a:rPr/>
                  <a:t>Once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is calculated, the deviations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not all free to vary independently.</a:t>
                </a:r>
              </a:p>
              <a:p>
                <a:pPr lvl="0"/>
                <a:r>
                  <a:rPr/>
                  <a:t>This is because they must satisfy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Therefore, if we know any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of the deviations, the last one is automatically determined.</a:t>
                </a:r>
              </a:p>
              <a:p>
                <a:pPr lvl="0"/>
                <a:r>
                  <a:rPr/>
                  <a:t>We say there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nor/>
                              <m:sty m:val="p"/>
                            </m:rPr>
                            <m:t> degrees of freedom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other words,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of the deviations are free to vary independently.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Notes</a:t>
                </a:r>
              </a:p>
              <a:p>
                <a:pPr lvl="0"/>
                <a:r>
                  <a:rPr b="1"/>
                  <a:t>Unbiasedness is a repeated-sampling property.</a:t>
                </a:r>
                <a:r>
                  <a:rPr/>
                  <a:t> It does not mean that every observed sample variance equals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Across repeated random samples, the sampling distribution of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has mean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Standard Error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of an estimator is the standard deviation of its sampling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standard error describes how much the estimator varies from sample to sample.</a:t>
                </a:r>
              </a:p>
              <a:p>
                <a:pPr lvl="0"/>
                <a:r>
                  <a:rPr/>
                  <a:t>If the standard error contains unknown population parameters, we can replace them with estimates.</a:t>
                </a:r>
              </a:p>
              <a:p>
                <a:pPr lvl="0"/>
                <a:r>
                  <a:rPr/>
                  <a:t>The resulting quantity is called the </a:t>
                </a:r>
                <a:r>
                  <a:rPr b="1"/>
                  <a:t>estimated standard error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Following the notation in these slides, we denote the estimated standard error by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SE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θ</m:t>
                            </m:r>
                          </m:e>
                        </m:acc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Reporting a Point Estimate and Its Standard Error</a:t>
                </a:r>
              </a:p>
              <a:p>
                <a:pPr lvl="0" indent="0" marL="0">
                  <a:buNone/>
                </a:pPr>
                <a:r>
                  <a:rPr/>
                  <a:t>The standard error, or its estimate, should be reported with the point estimate to indicate its precision.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Estimate a population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when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is unknown.</a:t>
                </a:r>
              </a:p>
              <a:p>
                <a:pPr lvl="0" indent="0" marL="0">
                  <a:buNone/>
                </a:pPr>
                <a:r>
                  <a:rPr/>
                  <a:t>For an i.i.d. sample:</a:t>
                </a:r>
              </a:p>
              <a:p>
                <a:pPr lvl="0"/>
                <a:r>
                  <a:rPr/>
                  <a:t>The point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standard error of the sample mean is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is unknown, estimate it using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</m:rPr>
                            <m:t>SE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Report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together with its estimated standard error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/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Goal for Point Estimators</a:t>
                </a:r>
              </a:p>
              <a:p>
                <a:pPr lvl="0"/>
                <a:r>
                  <a:rPr/>
                  <a:t>We want an estimator with </a:t>
                </a:r>
                <a:r>
                  <a:rPr b="1"/>
                  <a:t>small bias</a:t>
                </a:r>
                <a:r>
                  <a:rPr/>
                  <a:t> and </a:t>
                </a:r>
                <a:r>
                  <a:rPr b="1"/>
                  <a:t>small spread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An unbiased estimator has bias equal to </a:t>
                </a:r>
                <a:r>
                  <a:rPr b="1"/>
                  <a:t>zero</a:t>
                </a:r>
                <a:r>
                  <a:rPr/>
                  <a:t>.</a:t>
                </a:r>
              </a:p>
              <a:p>
                <a:pPr lvl="0"/>
                <a:r>
                  <a:rPr/>
                  <a:t>Spread describes how much the estimator varies across repeated samples.</a:t>
                </a:r>
              </a:p>
              <a:p>
                <a:pPr lvl="0"/>
                <a:r>
                  <a:rPr/>
                  <a:t>For the sample mean, increasing the sample size reduces its standard error: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the estimate is not sufficiently precise, increasing the sample size can improve precision.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Mean Squared Error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Mean Squared Error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mean squared error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as an estimator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θ</m:t>
                                      </m:r>
                                    </m:e>
                                  </m:acc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θ</m:t>
                                  </m: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rPr>
                              <m:sty m:val="p"/>
                            </m:rPr>
                            <m:t>MSE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Bias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</m:accPr>
                                        <m:e>
                                          <m:r>
                                            <m:t>θ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Bias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For an i.i.d. sample with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and finite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is unbiased for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. 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Comparing Estimators Using MSE</a:t>
                </a:r>
              </a:p>
              <a:p>
                <a:pPr lvl="0"/>
                <a:r>
                  <a:rPr/>
                  <a:t>We want an estimator with </a:t>
                </a:r>
                <a:r>
                  <a:rPr b="1"/>
                  <a:t>small bias</a:t>
                </a:r>
                <a:r>
                  <a:rPr/>
                  <a:t> and </a:t>
                </a:r>
                <a:r>
                  <a:rPr b="1"/>
                  <a:t>small spread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MSE measures overall estimation error by combining </a:t>
                </a:r>
                <a:r>
                  <a:rPr b="1"/>
                  <a:t>variance</a:t>
                </a:r>
                <a:r>
                  <a:rPr/>
                  <a:t> and </a:t>
                </a:r>
                <a:r>
                  <a:rPr b="1"/>
                  <a:t>squared bias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an unbiased estimator,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two estimators are both unbiased for the same parameter, the estimator with the </a:t>
                </a:r>
                <a:r>
                  <a:rPr b="1"/>
                  <a:t>smaller MSE</a:t>
                </a:r>
                <a:r>
                  <a:rPr/>
                  <a:t> also has the </a:t>
                </a:r>
                <a:r>
                  <a:rPr b="1"/>
                  <a:t>smaller variance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Under the MSE criterion, we prefer the estimator with the smaller MSE.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9" end="3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5" end="4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7" end="4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9" end="4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3" end="5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4" end="5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6" end="5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0" end="7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2" end="7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4" end="7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B: Point Estimate</dc:title>
  <dc:creator/>
  <cp:keywords/>
  <dcterms:created xsi:type="dcterms:W3CDTF">2026-10-16T14:12:34Z</dcterms:created>
  <dcterms:modified xsi:type="dcterms:W3CDTF">2026-10-16T14:12:34Z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