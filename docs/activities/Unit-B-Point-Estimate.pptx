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wmf" ContentType="image/x-wm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6858000" type="screen4x3"/>
  <p:notesSz cx="6858000" cy="9144000"/>
  <p:defaultTextStyle>
    <a:defPPr>
      <a:defRPr lang="en-US"/>
    </a:defPPr>
    <a:lvl1pPr algn="l" defTabSz="457200" fontAlgn="base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1pPr>
    <a:lvl2pPr algn="l" defTabSz="457200" fontAlgn="base" marL="4572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2pPr>
    <a:lvl3pPr algn="l" defTabSz="457200" fontAlgn="base" marL="9144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3pPr>
    <a:lvl4pPr algn="l" defTabSz="457200" fontAlgn="base" marL="13716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4pPr>
    <a:lvl5pPr algn="l" defTabSz="457200" fontAlgn="base" marL="18288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5pPr>
    <a:lvl6pPr algn="l" defTabSz="457200" eaLnBrk="1" hangingPunct="1" latinLnBrk="0" marL="22860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6pPr>
    <a:lvl7pPr algn="l" defTabSz="457200" eaLnBrk="1" hangingPunct="1" latinLnBrk="0" marL="27432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7pPr>
    <a:lvl8pPr algn="l" defTabSz="457200" eaLnBrk="1" hangingPunct="1" latinLnBrk="0" marL="32004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8pPr>
    <a:lvl9pPr algn="l" defTabSz="457200" eaLnBrk="1" hangingPunct="1" latinLnBrk="0" marL="36576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3A59"/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4439"/>
    <p:restoredTop sz="94678"/>
  </p:normalViewPr>
  <p:slideViewPr>
    <p:cSldViewPr snapToGrid="0" snapToObjects="1">
      <p:cViewPr varScale="1">
        <p:scale>
          <a:sx d="100" n="150"/>
          <a:sy d="100" n="150"/>
        </p:scale>
        <p:origin x="3000" y="176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sorterViewPr>
    <p:cViewPr>
      <p:scale>
        <a:sx d="100" n="66"/>
        <a:sy d="100" n="66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22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1" Type="http://schemas.openxmlformats.org/officeDocument/2006/relationships/theme" Target="theme/theme1.xml" /><Relationship Id="rId20" Type="http://schemas.openxmlformats.org/officeDocument/2006/relationships/viewProps" Target="viewProps.xml" /><Relationship Id="rId19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0B1DB7-FFDC-5E16-20CA-37B54B3A9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0" numCol="1" anchor="t" anchorCtr="0" compatLnSpc="1">
            <a:prstTxWarp prst="textNoShape">
              <a:avLst/>
            </a:prstTxWarp>
          </a:bodyPr>
          <a:lstStyle>
            <a:lvl1pPr>
              <a:defRPr sz="3200">
                <a:solidFill>
                  <a:srgbClr val="123A59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 bwMode="auto">
          <a:xfrm>
            <a:off x="533400" y="1778001"/>
            <a:ext cx="7774280" cy="366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cs typeface="TitilliumMaps26L 500 wt"/>
              </a:defRPr>
            </a:lvl1pPr>
            <a:lvl2pPr marL="800100" indent="-342900" algn="l">
              <a:buFont typeface="Calibri" panose="020F0502020204030204" pitchFamily="34" charset="0"/>
              <a:buChar char="—"/>
              <a:defRPr sz="1800">
                <a:solidFill>
                  <a:schemeClr val="tx1"/>
                </a:solidFill>
                <a:latin typeface="+mn-lt"/>
                <a:cs typeface="TitilliumMaps26L 500 wt"/>
              </a:defRPr>
            </a:lvl2pPr>
            <a:lvl3pPr algn="l">
              <a:defRPr sz="2000">
                <a:solidFill>
                  <a:srgbClr val="6A6A6A"/>
                </a:solidFill>
                <a:latin typeface="TitilliumMaps26L 500 wt"/>
                <a:cs typeface="TitilliumMaps26L 500 w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 err="1"/>
              <a:t>aaa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123A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 anchor="t"/>
          <a:lstStyle>
            <a:lvl1pPr algn="ctr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147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media/image1.wmf" Type="http://schemas.openxmlformats.org/officeDocument/2006/relationships/image" /><Relationship Id="rId10" Type="http://schemas.openxmlformats.org/officeDocument/2006/relationships/slideLayout" Target="../slideLayouts/slideLayout8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5695950"/>
            <a:ext cx="9144000" cy="1162050"/>
          </a:xfrm>
          <a:prstGeom prst="rect">
            <a:avLst/>
          </a:prstGeom>
          <a:solidFill>
            <a:srgbClr val="123A59"/>
          </a:solidFill>
          <a:ln algn="ctr" cap="flat" cmpd="sng" w="0">
            <a:noFill/>
            <a:prstDash val="solid"/>
            <a:round/>
            <a:headEnd len="med" type="none" w="med"/>
            <a:tailEnd len="med" type="none" w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dirty="0" lang="en-US">
              <a:solidFill>
                <a:srgbClr val="6A6A6A"/>
              </a:solidFill>
            </a:endParaRPr>
          </a:p>
        </p:txBody>
      </p:sp>
      <p:pic>
        <p:nvPicPr>
          <p:cNvPr descr="cwru formal logo white-rev tag.wmf" id="12" name="Picture 6"/>
          <p:cNvPicPr>
            <a:picLocks noChangeAspect="1"/>
          </p:cNvPicPr>
          <p:nvPr userDrawn="1"/>
        </p:nvPicPr>
        <p:blipFill>
          <a:blip r:embed="rId9"/>
          <a:srcRect/>
          <a:stretch>
            <a:fillRect/>
          </a:stretch>
        </p:blipFill>
        <p:spPr bwMode="auto">
          <a:xfrm>
            <a:off x="546100" y="6018213"/>
            <a:ext cx="2565400" cy="608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/>
          <p:cNvSpPr>
            <a:spLocks noGrp="1"/>
          </p:cNvSpPr>
          <p:nvPr>
            <p:ph idx="4" sz="quarter" type="sldNum"/>
          </p:nvPr>
        </p:nvSpPr>
        <p:spPr>
          <a:xfrm>
            <a:off x="6944968" y="6297647"/>
            <a:ext cx="20574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400">
                <a:solidFill>
                  <a:schemeClr val="bg1"/>
                </a:solidFill>
              </a:defRPr>
            </a:lvl1pPr>
          </a:lstStyle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10"/>
  </p:sldLayoutIdLst>
  <p:hf dt="0" ftr="0" hdr="0"/>
  <p:txStyles>
    <p:titleStyle>
      <a:lvl1pPr algn="l" defTabSz="457200" eaLnBrk="0" fontAlgn="base" hangingPunct="0" rtl="0">
        <a:spcBef>
          <a:spcPct val="0"/>
        </a:spcBef>
        <a:spcAft>
          <a:spcPct val="0"/>
        </a:spcAft>
        <a:defRPr kern="1200" sz="3400">
          <a:solidFill>
            <a:srgbClr val="6A6A6A"/>
          </a:solidFill>
          <a:latin typeface="TitilliumMaps26L 999 wt"/>
          <a:ea typeface="헤드라인A"/>
          <a:cs typeface="TitilliumMaps26L 999 wt"/>
        </a:defRPr>
      </a:lvl1pPr>
      <a:lvl2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2pPr>
      <a:lvl3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3pPr>
      <a:lvl4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4pPr>
      <a:lvl5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5pPr>
      <a:lvl6pPr algn="ctr" defTabSz="457200" fontAlgn="base" marL="4572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6pPr>
      <a:lvl7pPr algn="ctr" defTabSz="457200" fontAlgn="base" marL="9144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7pPr>
      <a:lvl8pPr algn="ctr" defTabSz="457200" fontAlgn="base" marL="13716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8pPr>
      <a:lvl9pPr algn="ctr" defTabSz="457200" fontAlgn="base" marL="18288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9pPr>
    </p:titleStyle>
    <p:bodyStyle>
      <a:lvl1pPr algn="l" defTabSz="457200" eaLnBrk="0" fontAlgn="base" hangingPunct="0" indent="-342900" marL="342900" rtl="0">
        <a:spcBef>
          <a:spcPct val="20000"/>
        </a:spcBef>
        <a:spcAft>
          <a:spcPct val="0"/>
        </a:spcAft>
        <a:buFontTx/>
        <a:buNone/>
        <a:defRPr kern="1200" sz="1800">
          <a:solidFill>
            <a:srgbClr val="6A6A6A"/>
          </a:solidFill>
          <a:latin typeface="TitilliumMaps26L 500 wt"/>
          <a:ea charset="-128" typeface="ＭＳ Ｐゴシック"/>
          <a:cs charset="-128" typeface="ＭＳ Ｐゴシック"/>
        </a:defRPr>
      </a:lvl1pPr>
      <a:lvl2pPr algn="l" defTabSz="457200" eaLnBrk="0" fontAlgn="base" hangingPunct="0" indent="-285750" marL="742950" rtl="0">
        <a:spcBef>
          <a:spcPct val="20000"/>
        </a:spcBef>
        <a:spcAft>
          <a:spcPct val="0"/>
        </a:spcAft>
        <a:buFontTx/>
        <a:buNone/>
        <a:defRPr kern="1200" sz="16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2pPr>
      <a:lvl3pPr algn="l" defTabSz="457200" eaLnBrk="0" fontAlgn="base" hangingPunct="0" indent="-228600" marL="1143000" rtl="0">
        <a:spcBef>
          <a:spcPct val="20000"/>
        </a:spcBef>
        <a:spcAft>
          <a:spcPct val="0"/>
        </a:spcAft>
        <a:buFontTx/>
        <a:buNone/>
        <a:defRPr kern="1200" sz="14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3pPr>
      <a:lvl4pPr algn="l" defTabSz="457200" eaLnBrk="0" fontAlgn="base" hangingPunct="0" indent="-228600" marL="16002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4pPr>
      <a:lvl5pPr algn="l" defTabSz="457200" eaLnBrk="0" fontAlgn="base" hangingPunct="0" indent="-228600" marL="20574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/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Statistical Inference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Models and Parameters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Statistical models describe populations using probability distributions, represented by probability density functions (PDFs) or probability mass functions (PMFs).</a:t>
                </a:r>
              </a:p>
              <a:p>
                <a:pPr lvl="0"/>
                <a:r>
                  <a:rPr/>
                  <a:t>These distributions usually depend on unknown </a:t>
                </a:r>
                <a:r>
                  <a:rPr b="1"/>
                  <a:t>parameters</a:t>
                </a:r>
                <a:r>
                  <a:rPr/>
                  <a:t>.</a:t>
                </a:r>
              </a:p>
              <a:p>
                <a:pPr lvl="1"/>
                <a:r>
                  <a:rPr/>
                  <a:t>We use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as a general symbol for a parameter.</a:t>
                </a:r>
              </a:p>
              <a:p>
                <a:pPr lvl="0"/>
                <a:r>
                  <a:rPr/>
                  <a:t>Examples:</a:t>
                </a:r>
              </a:p>
              <a:p>
                <a:pPr lvl="1"/>
                <a:r>
                  <a:rPr/>
                  <a:t>The lifetime of a string of Christmas lights follows an exponential distribution,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Exp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.</a:t>
                </a:r>
              </a:p>
              <a:p>
                <a:pPr lvl="1"/>
                <a:r>
                  <a:rPr/>
                  <a:t>The average amount in 63 poured drinks is approximately normally distributed with mean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.</a:t>
                </a:r>
              </a:p>
              <a:p>
                <a:pPr lvl="1"/>
                <a:r>
                  <a:rPr/>
                  <a:t>The number of people with a disease among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independently sampled people follows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Binomial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n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, where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is the population prevalence.</a:t>
                </a:r>
              </a:p>
              <a:p>
                <a:pPr lvl="0"/>
                <a:r>
                  <a:rPr/>
                  <a:t>In practice, the value of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is unknown.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Learning from Data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Our observed data come from a </a:t>
                </a:r>
                <a:r>
                  <a:rPr b="1"/>
                  <a:t>random sample</a:t>
                </a:r>
                <a:r>
                  <a:rPr/>
                  <a:t> of the population.</a:t>
                </a:r>
              </a:p>
              <a:p>
                <a:pPr lvl="0"/>
                <a:r>
                  <a:rPr/>
                  <a:t>Given the observed data, what can we say about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?</a:t>
                </a:r>
              </a:p>
              <a:p>
                <a:pPr lvl="0"/>
                <a:r>
                  <a:rPr/>
                  <a:t>We model the sample as random variables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…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 and use their observed values to draw conclusions about the unknown population parameter.</a:t>
                </a:r>
              </a:p>
              <a:p>
                <a:pPr lvl="0"/>
                <a:r>
                  <a:rPr b="1"/>
                  <a:t>Example:</a:t>
                </a:r>
                <a:r>
                  <a:rPr/>
                  <a:t> Five strings of Christmas lights from the same manufacturer lasted</a:t>
                </a:r>
              </a:p>
              <a:p>
                <a:pPr lvl="1" indent="0" marL="4572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21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 </m:t>
                      </m:r>
                      <m:r>
                        <m:t>103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 </m:t>
                      </m:r>
                      <m:r>
                        <m:t>76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 </m:t>
                      </m:r>
                      <m:r>
                        <m:t>88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 </m:t>
                      </m:r>
                      <m:r>
                        <m:t>96</m:t>
                      </m:r>
                      <m:r>
                        <m:t> </m:t>
                      </m:r>
                      <m:r>
                        <m:rPr>
                          <m:nor/>
                          <m:sty m:val="p"/>
                        </m:rPr>
                        <m:t>days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Assuming that their lifetimes are independent and follow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Exp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, with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representing the failure rate, what do these data tell us about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?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Example: Estimating Disease Prevalence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Suppose we take a random sample of </a:t>
                </a:r>
                <a:r>
                  <a:rPr b="1"/>
                  <a:t>100 people</a:t>
                </a:r>
                <a:r>
                  <a:rPr/>
                  <a:t> and test each person for a disease. </a:t>
                </a:r>
                <a:r>
                  <a:rPr b="1"/>
                  <a:t>Three people</a:t>
                </a:r>
                <a:r>
                  <a:rPr/>
                  <a:t> have the disease.</a:t>
                </a:r>
              </a:p>
              <a:p>
                <a:pPr lvl="0" indent="0" marL="0">
                  <a:buNone/>
                </a:pPr>
                <a:r>
                  <a:rPr/>
                  <a:t>Let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denote the prevalence of the disease in the population.</a:t>
                </a:r>
              </a:p>
              <a:p>
                <a:pPr lvl="0" indent="0" marL="0">
                  <a:buNone/>
                </a:pPr>
                <a:r>
                  <a:rPr/>
                  <a:t>The sample proportion gives the estimate (point estimate)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θ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</m:num>
                        <m:den>
                          <m:r>
                            <m:t>100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0.03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3</m:t>
                      </m:r>
                      <m:r>
                        <m:rPr>
                          <m:sty m:val="p"/>
                        </m:rPr>
                        <m:t>%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How certain are we about this estimate?</a:t>
                </a:r>
              </a:p>
              <a:p>
                <a:pPr lvl="0"/>
                <a:r>
                  <a:rPr/>
                  <a:t>Can we be confident that the population prevalence is greater than </a:t>
                </a:r>
                <a:r>
                  <a:rPr b="1"/>
                  <a:t>2%</a:t>
                </a:r>
                <a:r>
                  <a:rPr/>
                  <a:t>?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Estimation and Decisions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Estimation:</a:t>
                </a:r>
                <a:r>
                  <a:rPr/>
                  <a:t> Estimate an unknown population parameter.</a:t>
                </a:r>
              </a:p>
              <a:p>
                <a:pPr lvl="1"/>
                <a:r>
                  <a:rPr/>
                  <a:t>For example, we estimated disease prevalence as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θ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3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.</a:t>
                </a:r>
              </a:p>
              <a:p>
                <a:pPr lvl="1"/>
                <a:r>
                  <a:rPr/>
                  <a:t>A </a:t>
                </a:r>
                <a:r>
                  <a:rPr b="1"/>
                  <a:t>point estimate</a:t>
                </a:r>
                <a:r>
                  <a:rPr/>
                  <a:t> provides a single numerical value.</a:t>
                </a:r>
              </a:p>
              <a:p>
                <a:pPr lvl="1"/>
                <a:r>
                  <a:rPr/>
                  <a:t>An </a:t>
                </a:r>
                <a:r>
                  <a:rPr b="1"/>
                  <a:t>interval estimate</a:t>
                </a:r>
                <a:r>
                  <a:rPr/>
                  <a:t> provides a range of plausible values.</a:t>
                </a:r>
              </a:p>
              <a:p>
                <a:pPr lvl="0"/>
                <a:r>
                  <a:rPr b="1"/>
                  <a:t>Making decisions:</a:t>
                </a:r>
                <a:r>
                  <a:rPr/>
                  <a:t> Use hypothesis testing and decision theory.</a:t>
                </a:r>
              </a:p>
              <a:p>
                <a:pPr lvl="1"/>
                <a:r>
                  <a:rPr/>
                  <a:t>Suppose the state will launch a costly public health campaign if the disease affects </a:t>
                </a:r>
                <a:r>
                  <a:rPr b="1"/>
                  <a:t>2% or more</a:t>
                </a:r>
                <a:r>
                  <a:rPr/>
                  <a:t> of the population.</a:t>
                </a:r>
              </a:p>
              <a:p>
                <a:pPr lvl="1"/>
                <a:r>
                  <a:rPr/>
                  <a:t>Do the data provide sufficient evidence that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is greater than </a:t>
                </a:r>
                <a14:m>
                  <m:oMath xmlns:m="http://schemas.openxmlformats.org/officeDocument/2006/math">
                    <m:r>
                      <m:t>0.02</m:t>
                    </m:r>
                  </m:oMath>
                </a14:m>
                <a:r>
                  <a:rPr/>
                  <a:t>?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Population and Sample</a:t>
            </a:r>
          </a:p>
        </p:txBody>
      </p:sp>
      <p:pic>
        <p:nvPicPr>
          <p:cNvPr descr="Unit-B-Point-Estimate_files/figure-pptx/population-sample-inferenc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39800" y="1778000"/>
            <a:ext cx="6972300" cy="365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Probability:</a:t>
            </a:r>
            <a:r>
              <a:rPr/>
              <a:t> Start with a population model and study possible sample outcomes.</a:t>
            </a:r>
          </a:p>
          <a:p>
            <a:pPr lvl="0"/>
            <a:r>
              <a:rPr b="1"/>
              <a:t>Inference:</a:t>
            </a:r>
            <a:r>
              <a:rPr/>
              <a:t> Start with sample data and learn about unknown population parameters.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Point Estimation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We often want to estimate an unknown </a:t>
                </a:r>
                <a:r>
                  <a:rPr b="1"/>
                  <a:t>population parameter</a:t>
                </a:r>
                <a:r>
                  <a:rPr/>
                  <a:t> using the results of a </a:t>
                </a:r>
                <a:r>
                  <a:rPr b="1"/>
                  <a:t>random sample</a:t>
                </a:r>
                <a:r>
                  <a:rPr/>
                  <a:t>.</a:t>
                </a:r>
              </a:p>
              <a:p>
                <a:pPr lvl="0"/>
                <a:r>
                  <a:rPr/>
                  <a:t>Examples of population parameters include:</a:t>
                </a:r>
              </a:p>
              <a:p>
                <a:pPr lvl="1"/>
                <a:r>
                  <a:rPr/>
                  <a:t>Population mean: </a:t>
                </a:r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</a:p>
              <a:p>
                <a:pPr lvl="1"/>
                <a:r>
                  <a:rPr/>
                  <a:t>Population proportion: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</a:p>
              <a:p>
                <a:pPr lvl="1"/>
                <a:r>
                  <a:rPr/>
                  <a:t>Population standard deviation: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</a:p>
              <a:p>
                <a:pPr lvl="0"/>
                <a:r>
                  <a:rPr/>
                  <a:t>A statistic calculated from the sample provides an estimate of the corresponding population parameter.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Point Estimation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Let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denote an unknown population parameter.</a:t>
                </a:r>
              </a:p>
              <a:p>
                <a:pPr lvl="0"/>
                <a:r>
                  <a:rPr/>
                  <a:t>A </a:t>
                </a:r>
                <a:r>
                  <a:rPr b="1"/>
                  <a:t>point estimator</a:t>
                </a:r>
                <a:r>
                  <a:rPr/>
                  <a:t> of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is a statistic used to estimate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A </a:t>
                </a:r>
                <a:r>
                  <a:rPr b="1"/>
                  <a:t>point estimate</a:t>
                </a:r>
                <a:r>
                  <a:rPr/>
                  <a:t> is the observed numerical value of that statistic for a particular sample.</a:t>
                </a:r>
              </a:p>
              <a:p>
                <a:pPr lvl="0"/>
                <a:r>
                  <a:rPr/>
                  <a:t>The point estimate is regarded as a plausible value of the unknown parameter.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Placeholder 1" /><p:cNvSpPr><a:spLocks noGrp="1" /></p:cNvSpPr><p:nvPr><p:ph type="title" /></p:nvPr></p:nvSpPr><p:spPr bwMode="auto"><a:xfrm><a:off x="433680" y="423297" /><a:ext cx="8229600" cy="784602" /></a:xfrm><a:prstGeom prst="rect"><a:avLst /></a:prstGeom><a:noFill /><a:ln w="9525"><a:noFill /><a:miter lim="800000" /><a:headEnd /><a:tailEnd /></a:ln></p:spPr><p:txBody><a:bodyPr /><a:lstStyle /><a:p><a:pPr lvl="0" indent="0" marL="0"><a:buNone /></a:pPr><a:r><a:rPr /><a:t>Parameters, Point Estimators, and Point Estimates</a:t></a:r></a:p></p:txBody></p:sp><p:graphicFrame><p:nvGraphicFramePr><p:cNvPr id="6" name="Content Placeholder 5" /><p:cNvGraphicFramePr><a:graphicFrameLocks noGrp="1" /></p:cNvGraphicFramePr><p:nvPr><p:ph idx="1" /></p:nvPr></p:nvGraphicFramePr><p:xfrm><a:off x="533400" y="1778000" /><a:ext cx="7772400" cy="3657600" /></p:xfrm><a:graphic><a:graphicData uri="http://schemas.openxmlformats.org/drawingml/2006/table"><a:tbl><a:tblPr firstRow="1" bandRow="1"><a:tableStyleId>{5C22544A-7EE6-4342-B048-85BDC9FD1C3A}</a:tableStyleId></a:tblPr><a:tblGrid><a:gridCol w="2590800" /><a:gridCol w="2590800" /><a:gridCol w="2590800" /></a:tblGrid><a:tr h="0"><a:tc><a:txBody><a:bodyPr /><a:lstStyle /><a:p><a:pPr lvl="0" indent="0" marL="0" algn="l"><a:buNone /></a:pPr><a:r><a:rPr /><a:t>Population parameter</a:t></a:r></a:p></a:txBody><a:tcPr /></a:tc><a:tc><a:txBody><a:bodyPr /><a:lstStyle /><a:p><a:pPr lvl="0" indent="0" marL="0" algn="l"><a:buNone /></a:pPr><a:r><a:rPr /><a:t>Point estimator</a:t></a:r></a:p></a:txBody><a:tcPr /></a:tc><a:tc><a:txBody><a:bodyPr /><a:lstStyle /><a:p><a:pPr lvl="0" indent="0" marL="0" algn="l"><a:buNone /></a:pPr><a:r><a:rPr /><a:t>Observed point estimate</a:t></a:r></a:p></a:txBody><a:tcPr /></a:tc></a:tr><a:tr h="0"><a:tc><a:txBody><a:bodyPr /><a:lstStyle /><a:p><a:pPr lvl="0" indent="0" marL="0" algn="l"><a:buNone /></a:pPr><a:r><a:rPr /><a:t>Mean </a:t></a:r><a14:m><m:oMath xmlns:m="http://schemas.openxmlformats.org/officeDocument/2006/math"><m:r><m:t>μ</m:t></m:r></m:oMath></a14:m></a:p></a:txBody></a:tc><a:tc><a:txBody><a:bodyPr /><a:lstStyle /><a:p><a:pPr lvl="0" indent="0" marL="0" algn="l"><a:buNone /></a:pPr><a14:m><m:oMath xmlns:m="http://schemas.openxmlformats.org/officeDocument/2006/math"><m:bar><m:barPr><m:pos m:val="top" /></m:barPr><m:e><m:r><m:t>X</m:t></m:r></m:e></m:bar></m:oMath></a14:m></a:p></a:txBody></a:tc><a:tc><a:txBody><a:bodyPr /><a:lstStyle /><a:p><a:pPr lvl="0" indent="0" marL="0" algn="l"><a:buNone /></a:pPr><a14:m><m:oMath xmlns:m="http://schemas.openxmlformats.org/officeDocument/2006/math"><m:bar><m:barPr><m:pos m:val="top" /></m:barPr><m:e><m:r><m:t>x</m:t></m:r></m:e></m:bar></m:oMath></a14:m></a:p></a:txBody></a:tc></a:tr><a:tr h="0"><a:tc><a:txBody><a:bodyPr /><a:lstStyle /><a:p><a:pPr lvl="0" indent="0" marL="0" algn="l"><a:buNone /></a:pPr><a:r><a:rPr /><a:t>Proportion </a:t></a:r><a14:m><m:oMath xmlns:m="http://schemas.openxmlformats.org/officeDocument/2006/math"><m:r><m:t>p</m:t></m:r></m:oMath></a14:m></a:p></a:txBody></a:tc><a:tc><a:txBody><a:bodyPr /><a:lstStyle /><a:p><a:pPr lvl="0" indent="0" marL="0" algn="l"><a:buNone /></a:pPr><a14:m><m:oMath xmlns:m="http://schemas.openxmlformats.org/officeDocument/2006/math"><m:acc><m:accPr><m:chr m:val="̂" /></m:accPr><m:e><m:r><m:t>p</m:t></m:r></m:e></m:acc><m:r><m:rPr><m:sty m:val="p" /></m:rPr><m:t>=</m:t></m:r><m:r><m:t>X</m:t></m:r><m:r><m:rPr><m:sty m:val="p" /></m:rPr><m:t>/</m:t></m:r><m:r><m:t>n</m:t></m:r></m:oMath></a14:m></a:p></a:txBody></a:tc><a:tc><a:txBody><a:bodyPr /><a:lstStyle /><a:p><a:pPr lvl="0" indent="0" marL="0" algn="l"><a:buNone /></a:pPr><a14:m><m:oMath xmlns:m="http://schemas.openxmlformats.org/officeDocument/2006/math"><m:acc><m:accPr><m:chr m:val="̂" /></m:accPr><m:e><m:r><m:t>p</m:t></m:r></m:e></m:acc><m:r><m:rPr><m:sty m:val="p" /></m:rPr><m:t>=</m:t></m:r><m:r><m:t>x</m:t></m:r><m:r><m:rPr><m:sty m:val="p" /></m:rPr><m:t>/</m:t></m:r><m:r><m:t>n</m:t></m:r></m:oMath></a14:m></a:p></a:txBody></a:tc></a:tr><a:tr h="0"><a:tc><a:txBody><a:bodyPr /><a:lstStyle /><a:p><a:pPr lvl="0" indent="0" marL="0" algn="l"><a:buNone /></a:pPr><a:r><a:rPr /><a:t>Standard deviation </a:t></a:r><a14:m><m:oMath xmlns:m="http://schemas.openxmlformats.org/officeDocument/2006/math"><m:r><m:t>σ</m:t></m:r></m:oMath></a14:m></a:p></a:txBody></a:tc><a:tc><a:txBody><a:bodyPr /><a:lstStyle /><a:p><a:pPr lvl="0" indent="0" marL="0" algn="l"><a:buNone /></a:pPr><a14:m><m:oMath xmlns:m="http://schemas.openxmlformats.org/officeDocument/2006/math"><m:r><m:t>S</m:t></m:r></m:oMath></a14:m></a:p></a:txBody></a:tc><a:tc><a:txBody><a:bodyPr /><a:lstStyle /><a:p><a:pPr lvl="0" indent="0" marL="0" algn="l"><a:buNone /></a:pPr><a14:m><m:oMath xmlns:m="http://schemas.openxmlformats.org/officeDocument/2006/math"><m:r><m:t>s</m:t></m:r></m:oMath></a14:m></a:p></a:txBody></a:tc></a:tr></a:tbl></a:graphicData></a:graphic></p:graphicFrame><p:sp><p:nvSpPr><p:cNvPr id="4" name="Slide Number Placeholder 3" /><p:cNvSpPr><a:spLocks noGrp="1" /></p:cNvSpPr><p:nvPr><p:ph idx="10" sz="quarter" type="sldNum" /></p:nvPr></p:nvSpPr><p:spPr /><p:txBody><a:bodyPr /><a:lstStyle /><a:p><a:fld id="{9C13042B-154E-4D18-B726-07B2F714EFCF}" type="slidenum"><a:rPr lang="en-US" smtClean="0" /><a:pPr /><a:t>‹#›</a:t></a:fld><a:endParaRPr dirty="0" lang="en-US" /></a:p></p:txBody></p:sp></p:spTree></p:cSld>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An </a:t>
                </a:r>
                <a:r>
                  <a:rPr b="1"/>
                  <a:t>estimator</a:t>
                </a:r>
                <a:r>
                  <a:rPr/>
                  <a:t> is a random variable because its value depends on the random sample.</a:t>
                </a:r>
              </a:p>
              <a:p>
                <a:pPr lvl="0"/>
                <a:r>
                  <a:rPr/>
                  <a:t>An </a:t>
                </a:r>
                <a:r>
                  <a:rPr b="1"/>
                  <a:t>estimate</a:t>
                </a:r>
                <a:r>
                  <a:rPr/>
                  <a:t> is the numerical value obtained after observing the sample.</a:t>
                </a:r>
              </a:p>
              <a:p>
                <a:pPr lvl="0"/>
                <a:r>
                  <a:rPr/>
                  <a:t>For the sample proportion,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 the random number of successes and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 its observed value. The notation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p</m:t>
                        </m:r>
                      </m:e>
                    </m:acc>
                  </m:oMath>
                </a14:m>
                <a:r>
                  <a:rPr/>
                  <a:t> is commonly used for both the estimator and its observed value.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Example: Estimating a Population Proportion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We want to estimate the proportion of people in Cleveland who like liver.</a:t>
                </a:r>
              </a:p>
              <a:p>
                <a:pPr lvl="0" indent="0" marL="0">
                  <a:buNone/>
                </a:pPr>
                <a:r>
                  <a:rPr/>
                  <a:t>A random sample of </a:t>
                </a:r>
                <a:r>
                  <a:rPr b="1"/>
                  <a:t>500 Clevelanders</a:t>
                </a:r>
                <a:r>
                  <a:rPr/>
                  <a:t> is taken, and </a:t>
                </a:r>
                <a:r>
                  <a:rPr b="1"/>
                  <a:t>110</a:t>
                </a:r>
                <a:r>
                  <a:rPr/>
                  <a:t> say that they like lakes.</a:t>
                </a:r>
              </a:p>
              <a:p>
                <a:pPr lvl="0"/>
                <a:r>
                  <a:rPr b="1"/>
                  <a:t>Parameter: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, the proportion of all people in Cleveland who like lakes.</a:t>
                </a:r>
              </a:p>
              <a:p>
                <a:pPr lvl="0"/>
                <a:r>
                  <a:rPr b="1"/>
                  <a:t>Point estimator:</a:t>
                </a:r>
              </a:p>
              <a:p>
                <a:pPr lvl="1" indent="0" marL="4572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p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X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 b="1"/>
                  <a:t>Point estimate:</a:t>
                </a:r>
              </a:p>
              <a:p>
                <a:pPr lvl="1" indent="0" marL="4572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p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110</m:t>
                          </m:r>
                        </m:num>
                        <m:den>
                          <m:r>
                            <m:t>500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0.22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We estimate that </a:t>
                </a:r>
                <a:r>
                  <a:rPr b="1"/>
                  <a:t>22%</a:t>
                </a:r>
                <a:r>
                  <a:rPr/>
                  <a:t> of people in Cleveland like lakes.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## [1] 0.22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Properties of Point Estimators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Unbiased Estimators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An estimator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θ</m:t>
                        </m:r>
                      </m:e>
                    </m:acc>
                  </m:oMath>
                </a14:m>
                <a:r>
                  <a:rPr/>
                  <a:t> is an </a:t>
                </a:r>
                <a:r>
                  <a:rPr b="1"/>
                  <a:t>unbiased estimator</a:t>
                </a:r>
                <a:r>
                  <a:rPr/>
                  <a:t> of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if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θ</m:t>
                              </m:r>
                            </m:e>
                          </m:acc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bias</a:t>
                </a:r>
                <a:r>
                  <a:rPr/>
                  <a:t> of an estimator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Bias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θ</m:t>
                              </m:r>
                            </m:e>
                          </m:acc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θ</m:t>
                              </m:r>
                            </m:e>
                          </m:acc>
                        </m:e>
                      </m:d>
                      <m:r>
                        <m:rPr>
                          <m:sty m:val="p"/>
                        </m:rPr>
                        <m:t>−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 unbiased estimator has bias equal to zero.</a:t>
                </a:r>
              </a:p>
              <a:p>
                <a:pPr lvl="0" indent="0" marL="0">
                  <a:buNone/>
                </a:pPr>
                <a:r>
                  <a:rPr b="1"/>
                  <a:t>Class discussion:</a:t>
                </a:r>
                <a:r>
                  <a:rPr/>
                  <a:t> For an i.i.d. random sample with the relevant finite moments:</a:t>
                </a:r>
              </a:p>
              <a:p>
                <a:pPr lvl="0" indent="-457200" marL="457200">
                  <a:buAutoNum type="alphaLcPeriod"/>
                </a:pPr>
                <a:r>
                  <a:rPr/>
                  <a:t>Is </a:t>
                </a:r>
                <a14:m>
                  <m:oMath xmlns:m="http://schemas.openxmlformats.org/officeDocument/2006/math">
                    <m:bar>
                      <m:barPr>
                        <m:pos m:val="top"/>
                      </m:barPr>
                      <m:e>
                        <m:r>
                          <m:t>X</m:t>
                        </m:r>
                      </m:e>
                    </m:bar>
                  </m:oMath>
                </a14:m>
                <a:r>
                  <a:rPr/>
                  <a:t> an unbiased estimator of </a:t>
                </a:r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?</a:t>
                </a:r>
              </a:p>
              <a:p>
                <a:pPr lvl="0" indent="-457200" marL="457200">
                  <a:buAutoNum type="alphaLcPeriod"/>
                </a:pPr>
                <a:r>
                  <a:rPr/>
                  <a:t>Is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p</m:t>
                        </m:r>
                      </m:e>
                    </m:acc>
                  </m:oMath>
                </a14:m>
                <a:r>
                  <a:rPr/>
                  <a:t> an unbiased estimator of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?</a:t>
                </a:r>
              </a:p>
              <a:p>
                <a:pPr lvl="0" indent="-457200" marL="457200">
                  <a:buAutoNum type="alphaLcPeriod"/>
                </a:pPr>
                <a:r>
                  <a:rPr/>
                  <a:t>Is </a:t>
                </a:r>
                <a14:m>
                  <m:oMath xmlns:m="http://schemas.openxmlformats.org/officeDocument/2006/math">
                    <m:sSup>
                      <m:e>
                        <m:r>
                          <m:t>S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an unbiased estimator of </a:t>
                </a:r>
                <a14:m>
                  <m:oMath xmlns:m="http://schemas.openxmlformats.org/officeDocument/2006/math">
                    <m:sSup>
                      <m:e>
                        <m:r>
                          <m:t>σ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, when </a:t>
                </a:r>
                <a14:m>
                  <m:oMath xmlns:m="http://schemas.openxmlformats.org/officeDocument/2006/math">
                    <m:sSup>
                      <m:e>
                        <m:r>
                          <m:t>S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uses the denominator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/>
                  <a:t>?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Unbiased Estimation of the Mean and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Assumptions and Definitions</a:t>
                </a:r>
              </a:p>
              <a:p>
                <a:pPr lvl="0" indent="0" marL="0">
                  <a:buNone/>
                </a:pPr>
                <a:r>
                  <a:rPr/>
                  <a:t>Let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…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 be independent and identically distributed random variables, with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≥</m:t>
                    </m:r>
                    <m:r>
                      <m:t>2</m:t>
                    </m:r>
                  </m:oMath>
                </a14:m>
                <a:r>
                  <a:rPr/>
                  <a:t>, such that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rPr>
                          <m:sty m:val="p"/>
                        </m:rPr>
                        <m:t>Var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σ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&lt;</m:t>
                      </m:r>
                      <m:r>
                        <m:rPr>
                          <m:sty m:val="p"/>
                        </m:rPr>
                        <m:t>∞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Define the </a:t>
                </a:r>
                <a:r>
                  <a:rPr b="1"/>
                  <a:t>sample mean</a:t>
                </a:r>
                <a:r>
                  <a:rPr/>
                  <a:t> and </a:t>
                </a:r>
                <a:r>
                  <a:rPr b="1"/>
                  <a:t>sample variance</a:t>
                </a:r>
                <a:r>
                  <a:rPr/>
                  <a:t> by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ar>
                        <m:barPr>
                          <m:pos m:val="top"/>
                        </m:barPr>
                        <m:e>
                          <m:r>
                            <m:t>X</m:t>
                          </m:r>
                        </m:e>
                      </m:ba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nary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bar>
                                    <m:barPr>
                                      <m:pos m:val="top"/>
                                    </m:barPr>
                                    <m:e>
                                      <m:r>
                                        <m:t>X</m:t>
                                      </m:r>
                                    </m:e>
                                  </m:bar>
                                </m:e>
                              </m:d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nary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will show that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bar>
                                <m:barPr>
                                  <m:pos m:val="top"/>
                                </m:barPr>
                                <m:e>
                                  <m:r>
                                    <m:t>X</m:t>
                                  </m:r>
                                </m:e>
                              </m:ba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μ</m:t>
                          </m:r>
                          <m:r>
                            <m:t>  </m:t>
                          </m:r>
                          <m:r>
                            <m:rPr>
                              <m:nor/>
                              <m:sty m:val="p"/>
                            </m:rPr>
                            <m:t>and</m:t>
                          </m:r>
                          <m:r>
                            <m:t>  </m:t>
                          </m:r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p>
                                <m:e>
                                  <m:r>
                                    <m:t>S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sSup>
                            <m:e>
                              <m:r>
                                <m:t>σ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.</m:t>
                          </m:r>
                        </m:e>
                      </m:borderBox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Normality is not required for these results.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Proof: The Sample Mean Is Unbiased</a:t>
                </a:r>
              </a:p>
              <a:p>
                <a:pPr lvl="0" indent="0" marL="0">
                  <a:buNone/>
                </a:pPr>
                <a:r>
                  <a:rPr/>
                  <a:t>See Class Notes of Unit 06 topics.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Proof: Expected Value of Sample Variance</a:t>
                </a:r>
              </a:p>
              <a:p>
                <a:pPr lvl="0" indent="0" marL="0">
                  <a:buNone/>
                </a:pPr>
                <a:r>
                  <a:rPr/>
                  <a:t>See Class Notes of Unit B topics.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Why Do We Divide by n − 1 Instead of n?</a:t>
                </a:r>
              </a:p>
              <a:p>
                <a:pPr lvl="0" indent="0" marL="0">
                  <a:buNone/>
                </a:pPr>
                <a:r>
                  <a:rPr/>
                  <a:t>Suppose we instead define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acc>
                            <m:accPr>
                              <m:chr m:val="̃"/>
                            </m:accPr>
                            <m:e>
                              <m:r>
                                <m:t>S</m:t>
                              </m:r>
                            </m:e>
                          </m:acc>
                        </m:e>
                        <m:sup>
                          <m:r>
                            <m:t> </m:t>
                          </m:r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bar>
                                    <m:barPr>
                                      <m:pos m:val="top"/>
                                    </m:barPr>
                                    <m:e>
                                      <m:r>
                                        <m:t>X</m:t>
                                      </m:r>
                                    </m:e>
                                  </m:bar>
                                </m:e>
                              </m:d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nary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Since </a:t>
                </a:r>
                <a14:m>
                  <m:oMath xmlns:m="http://schemas.openxmlformats.org/officeDocument/2006/math">
                    <m:sSup>
                      <m:e>
                        <m:acc>
                          <m:accPr>
                            <m:chr m:val="̃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p>
                        <m:r>
                          <m:t> </m:t>
                        </m:r>
                        <m: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n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num>
                      <m:den>
                        <m:r>
                          <m:t>n</m:t>
                        </m:r>
                      </m:den>
                    </m:f>
                    <m:sSup>
                      <m:e>
                        <m:r>
                          <m:t>S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p>
                            <m:e>
                              <m:acc>
                                <m:accPr>
                                  <m:chr m:val="̃"/>
                                </m:accPr>
                                <m:e>
                                  <m:r>
                                    <m:t>S</m:t>
                                  </m:r>
                                </m:e>
                              </m:acc>
                            </m:e>
                            <m:sup>
                              <m:r>
                                <m:t> </m:t>
                              </m:r>
                              <m:r>
                                <m:t>2</m:t>
                              </m:r>
                            </m:sup>
                          </m:sSup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p>
                            <m:e>
                              <m:r>
                                <m:t>S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sSup>
                        <m:e>
                          <m:r>
                            <m:t>σ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Its bias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Bias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p>
                                  <m:e>
                                    <m:acc>
                                      <m:accPr>
                                        <m:chr m:val="̃"/>
                                      </m:accPr>
                                      <m:e>
                                        <m:r>
                                          <m:t>S</m:t>
                                        </m:r>
                                      </m:e>
                                    </m:acc>
                                  </m:e>
                                  <m:sup>
                                    <m:r>
                                      <m:t> </m:t>
                                    </m:r>
                                    <m:r>
                                      <m:t>2</m:t>
                                    </m:r>
                                  </m:sup>
                                </m:sSup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E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p>
                                  <m:e>
                                    <m:acc>
                                      <m:accPr>
                                        <m:chr m:val="̃"/>
                                      </m:accPr>
                                      <m:e>
                                        <m:r>
                                          <m:t>S</m:t>
                                        </m:r>
                                      </m:e>
                                    </m:acc>
                                  </m:e>
                                  <m:sup>
                                    <m:r>
                                      <m:t> </m:t>
                                    </m:r>
                                    <m:r>
                                      <m:t>2</m:t>
                                    </m:r>
                                  </m:sup>
                                </m:sSup>
                              </m:e>
                            </m:d>
                            <m:r>
                              <m:rPr>
                                <m:sty m:val="p"/>
                              </m:rPr>
                              <m:t>−</m:t>
                            </m:r>
                            <m:sSup>
                              <m:e>
                                <m:r>
                                  <m:t>σ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sSup>
                                  <m:e>
                                    <m:r>
                                      <m:t>σ</m:t>
                                    </m:r>
                                  </m:e>
                                  <m:sup>
                                    <m:r>
                                      <m:t>2</m:t>
                                    </m:r>
                                  </m:sup>
                                </m:sSup>
                              </m:num>
                              <m:den>
                                <m:r>
                                  <m:t>n</m:t>
                                </m:r>
                              </m:den>
                            </m:f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</a:t>
                </a:r>
                <a14:m>
                  <m:oMath xmlns:m="http://schemas.openxmlformats.org/officeDocument/2006/math">
                    <m:sSup>
                      <m:e>
                        <m:r>
                          <m:t>σ</m:t>
                        </m:r>
                      </m:e>
                      <m:sup>
                        <m: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m:t>&gt;</m:t>
                    </m:r>
                    <m:r>
                      <m:t>0</m:t>
                    </m:r>
                  </m:oMath>
                </a14:m>
                <a:r>
                  <a:rPr/>
                  <a:t>, dividing by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</a:t>
                </a:r>
                <a:r>
                  <a:rPr b="1"/>
                  <a:t>underestimates the population variance on average</a:t>
                </a:r>
                <a:r>
                  <a:rPr/>
                  <a:t>. Dividing by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/>
                  <a:t> removes this bias.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Degrees of Freedom</a:t>
                </a:r>
              </a:p>
              <a:p>
                <a:pPr lvl="0"/>
                <a:r>
                  <a:rPr/>
                  <a:t>Once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is calculated, the deviations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acc>
                        <m:accPr>
                          <m:chr m:val="‾"/>
                        </m:accPr>
                        <m:e>
                          <m:r>
                            <m:t>X</m:t>
                          </m:r>
                        </m:e>
                      </m:acc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p"/>
                        </m:rPr>
                        <m:t>…</m:t>
                      </m:r>
                      <m:r>
                        <m:rPr>
                          <m:sty m:val="p"/>
                        </m:rPr>
                        <m:t>,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n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acc>
                        <m:accPr>
                          <m:chr m:val="‾"/>
                        </m:accPr>
                        <m:e>
                          <m:r>
                            <m:t>X</m:t>
                          </m:r>
                        </m:e>
                      </m:acc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are not all free to vary independently.</a:t>
                </a:r>
              </a:p>
              <a:p>
                <a:pPr lvl="0"/>
                <a:r>
                  <a:rPr/>
                  <a:t>This is because they must satisfy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acc>
                                    <m:accPr>
                                      <m:chr m:val="‾"/>
                                    </m:accPr>
                                    <m:e>
                                      <m:r>
                                        <m:t>X</m:t>
                                      </m:r>
                                    </m:e>
                                  </m:acc>
                                </m:e>
                              </m:d>
                            </m:e>
                          </m:nary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0</m:t>
                          </m:r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Therefore, if we know any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/>
                  <a:t> of the deviations, the last one is automatically determined.</a:t>
                </a:r>
              </a:p>
              <a:p>
                <a:pPr lvl="0"/>
                <a:r>
                  <a:rPr/>
                  <a:t>We say there are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  <m:r>
                            <m:rPr>
                              <m:nor/>
                              <m:sty m:val="p"/>
                            </m:rPr>
                            <m:t> degrees of freedom</m:t>
                          </m:r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In other words, only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/>
                  <a:t> of the deviations are free to vary independently.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Notes</a:t>
                </a:r>
              </a:p>
              <a:p>
                <a:pPr lvl="0"/>
                <a:r>
                  <a:rPr b="1"/>
                  <a:t>Unbiasedness is a repeated-sampling property.</a:t>
                </a:r>
                <a:r>
                  <a:rPr/>
                  <a:t> It does not mean that every observed sample variance equals </a:t>
                </a:r>
                <a14:m>
                  <m:oMath xmlns:m="http://schemas.openxmlformats.org/officeDocument/2006/math">
                    <m:sSup>
                      <m:e>
                        <m:r>
                          <m:t>σ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Across repeated random samples, the sampling distribution of </a:t>
                </a:r>
                <a14:m>
                  <m:oMath xmlns:m="http://schemas.openxmlformats.org/officeDocument/2006/math">
                    <m:sSup>
                      <m:e>
                        <m:r>
                          <m:t>S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has mean </a:t>
                </a:r>
                <a14:m>
                  <m:oMath xmlns:m="http://schemas.openxmlformats.org/officeDocument/2006/math">
                    <m:sSup>
                      <m:e>
                        <m:r>
                          <m:t>σ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Standard Error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standard error</a:t>
                </a:r>
                <a:r>
                  <a:rPr/>
                  <a:t> of an estimator is the standard deviation of its sampling distribution: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σ</m:t>
                          </m:r>
                        </m:e>
                        <m:sub>
                          <m:acc>
                            <m:accPr>
                              <m:chr m:val="̂"/>
                            </m:accPr>
                            <m:e>
                              <m:r>
                                <m:t>θ</m:t>
                              </m:r>
                            </m:e>
                          </m:acc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r>
                            <m:rPr>
                              <m:sty m:val="p"/>
                            </m:rPr>
                            <m:t>Var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θ</m:t>
                                  </m:r>
                                </m:e>
                              </m:acc>
                            </m:e>
                          </m:d>
                        </m:e>
                      </m:ra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 standard error describes how much the estimator varies from sample to sample.</a:t>
                </a:r>
              </a:p>
              <a:p>
                <a:pPr lvl="0"/>
                <a:r>
                  <a:rPr/>
                  <a:t>If the standard error contains unknown population parameters, we can replace them with estimates.</a:t>
                </a:r>
              </a:p>
              <a:p>
                <a:pPr lvl="0"/>
                <a:r>
                  <a:rPr/>
                  <a:t>The resulting quantity is called the </a:t>
                </a:r>
                <a:r>
                  <a:rPr b="1"/>
                  <a:t>estimated standard error</a:t>
                </a:r>
                <a:r>
                  <a:rPr/>
                  <a:t>.</a:t>
                </a:r>
              </a:p>
              <a:p>
                <a:pPr lvl="0"/>
                <a:r>
                  <a:rPr/>
                  <a:t>Following the notation in these slides, we denote the estimated standard error by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SE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θ</m:t>
                            </m:r>
                          </m:e>
                        </m:acc>
                      </m:e>
                    </m:d>
                  </m:oMath>
                </a14:m>
                <a:r>
                  <a:rPr/>
                  <a:t>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Reporting a Point Estimate and Its Standard Error</a:t>
                </a:r>
              </a:p>
              <a:p>
                <a:pPr lvl="0" indent="0" marL="0">
                  <a:buNone/>
                </a:pPr>
                <a:r>
                  <a:rPr/>
                  <a:t>The standard error, or its estimate, should be reported with the point estimate to indicate its precision.</a:t>
                </a:r>
              </a:p>
              <a:p>
                <a:pPr lvl="0" indent="0" marL="0">
                  <a:buNone/>
                </a:pPr>
                <a:r>
                  <a:rPr b="1"/>
                  <a:t>Example:</a:t>
                </a:r>
                <a:r>
                  <a:rPr/>
                  <a:t> Estimate a population mean </a:t>
                </a:r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when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/>
                  <a:t> is unknown.</a:t>
                </a:r>
              </a:p>
              <a:p>
                <a:pPr lvl="0" indent="0" marL="0">
                  <a:buNone/>
                </a:pPr>
                <a:r>
                  <a:rPr/>
                  <a:t>For an i.i.d. sample:</a:t>
                </a:r>
              </a:p>
              <a:p>
                <a:pPr lvl="0"/>
                <a:r>
                  <a:rPr/>
                  <a:t>The point estimate of </a:t>
                </a:r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is </a:t>
                </a:r>
                <a14:m>
                  <m:oMath xmlns:m="http://schemas.openxmlformats.org/officeDocument/2006/math">
                    <m:bar>
                      <m:barPr>
                        <m:pos m:val="top"/>
                      </m:barPr>
                      <m:e>
                        <m:r>
                          <m:t>x</m:t>
                        </m:r>
                      </m:e>
                    </m:ba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The standard error of the sample mean is</a:t>
                </a:r>
              </a:p>
              <a:p>
                <a:pPr lvl="1" indent="0" marL="4572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σ</m:t>
                          </m:r>
                        </m:e>
                        <m:sub>
                          <m:bar>
                            <m:barPr>
                              <m:pos m:val="top"/>
                            </m:barPr>
                            <m:e>
                              <m:r>
                                <m:t>X</m:t>
                              </m:r>
                            </m:e>
                          </m:ba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σ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When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/>
                  <a:t> is unknown, estimate it using 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:</a:t>
                </a:r>
              </a:p>
              <a:p>
                <a:pPr lvl="1" indent="0" marL="4572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rPr>
                              <m:sty m:val="p"/>
                            </m:rPr>
                            <m:t>SE</m:t>
                          </m:r>
                        </m:e>
                      </m:acc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bar>
                            <m:barPr>
                              <m:pos m:val="top"/>
                            </m:barPr>
                            <m:e>
                              <m:r>
                                <m:t>X</m:t>
                              </m:r>
                            </m:e>
                          </m:ba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Report </a:t>
                </a:r>
                <a14:m>
                  <m:oMath xmlns:m="http://schemas.openxmlformats.org/officeDocument/2006/math">
                    <m:bar>
                      <m:barPr>
                        <m:pos m:val="top"/>
                      </m:barPr>
                      <m:e>
                        <m:r>
                          <m:t>x</m:t>
                        </m:r>
                      </m:e>
                    </m:bar>
                  </m:oMath>
                </a14:m>
                <a:r>
                  <a:rPr/>
                  <a:t> together with its estimated standard error </a:t>
                </a:r>
                <a14:m>
                  <m:oMath xmlns:m="http://schemas.openxmlformats.org/officeDocument/2006/math">
                    <m:r>
                      <m:t>s</m:t>
                    </m:r>
                    <m:r>
                      <m:rPr>
                        <m:sty m:val="p"/>
                      </m:rPr>
                      <m:t>/</m:t>
                    </m:r>
                    <m:rad>
                      <m:radPr>
                        <m:degHide m:val="on"/>
                      </m:radPr>
                      <m:deg/>
                      <m:e>
                        <m:r>
                          <m:t>n</m:t>
                        </m:r>
                      </m:e>
                    </m:rad>
                  </m:oMath>
                </a14:m>
                <a:r>
                  <a:rPr/>
                  <a:t>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Goal for Point Estimators</a:t>
                </a:r>
              </a:p>
              <a:p>
                <a:pPr lvl="0"/>
                <a:r>
                  <a:rPr/>
                  <a:t>We want an estimator with </a:t>
                </a:r>
                <a:r>
                  <a:rPr b="1"/>
                  <a:t>small bias</a:t>
                </a:r>
                <a:r>
                  <a:rPr/>
                  <a:t> and </a:t>
                </a:r>
                <a:r>
                  <a:rPr b="1"/>
                  <a:t>small spread</a:t>
                </a:r>
                <a:r>
                  <a:rPr/>
                  <a:t>.</a:t>
                </a:r>
              </a:p>
              <a:p>
                <a:pPr lvl="0"/>
                <a:r>
                  <a:rPr/>
                  <a:t>An unbiased estimator has bias equal to </a:t>
                </a:r>
                <a:r>
                  <a:rPr b="1"/>
                  <a:t>zero</a:t>
                </a:r>
                <a:r>
                  <a:rPr/>
                  <a:t>.</a:t>
                </a:r>
              </a:p>
              <a:p>
                <a:pPr lvl="0"/>
                <a:r>
                  <a:rPr/>
                  <a:t>Spread describes how much the estimator varies across repeated samples.</a:t>
                </a:r>
              </a:p>
              <a:p>
                <a:pPr lvl="0"/>
                <a:r>
                  <a:rPr/>
                  <a:t>For the sample mean, increasing the sample size reduces its standard error:</a:t>
                </a:r>
              </a:p>
              <a:p>
                <a:pPr lvl="1" indent="0" marL="4572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σ</m:t>
                          </m:r>
                        </m:e>
                        <m:sub>
                          <m:bar>
                            <m:barPr>
                              <m:pos m:val="top"/>
                            </m:barPr>
                            <m:e>
                              <m:r>
                                <m:t>X</m:t>
                              </m:r>
                            </m:e>
                          </m:ba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σ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If the estimate is not sufficiently precise, increasing the sample size can improve precision.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Mean Squared Error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Mean Squared Error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mean squared error</a:t>
                </a:r>
                <a:r>
                  <a:rPr/>
                  <a:t> of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θ</m:t>
                        </m:r>
                      </m:e>
                    </m:acc>
                  </m:oMath>
                </a14:m>
                <a:r>
                  <a:rPr/>
                  <a:t> as an estimator of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MSE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θ</m:t>
                              </m:r>
                            </m:e>
                          </m:acc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acc>
                                    <m:accPr>
                                      <m:chr m:val="̂"/>
                                    </m:accPr>
                                    <m:e>
                                      <m:r>
                                        <m:t>θ</m:t>
                                      </m:r>
                                    </m:e>
                                  </m:acc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θ</m:t>
                                  </m:r>
                                </m:e>
                              </m:d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It can be written as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rPr>
                              <m:sty m:val="p"/>
                            </m:rPr>
                            <m:t>MSE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θ</m:t>
                                  </m:r>
                                </m:e>
                              </m:acc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rPr>
                              <m:sty m:val="p"/>
                            </m:rPr>
                            <m:t>Var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θ</m:t>
                                  </m:r>
                                </m:e>
                              </m:acc>
                            </m:e>
                          </m:d>
                          <m:r>
                            <m:rPr>
                              <m:sty m:val="p"/>
                            </m:rPr>
                            <m:t>+</m:t>
                          </m:r>
                          <m:sSup>
                            <m:e>
                              <m:d>
                                <m:dPr>
                                  <m:begChr m:val="["/>
                                  <m:sepChr m:val=""/>
                                  <m:endChr m:val="]"/>
                                  <m:grow/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m:t>Bias</m:t>
                                  </m:r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acc>
                                        <m:accPr>
                                          <m:chr m:val="̂"/>
                                        </m:accPr>
                                        <m:e>
                                          <m:r>
                                            <m:t>θ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borderBox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Bias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θ</m:t>
                              </m:r>
                            </m:e>
                          </m:acc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θ</m:t>
                              </m:r>
                            </m:e>
                          </m:acc>
                        </m:e>
                      </m:d>
                      <m:r>
                        <m:rPr>
                          <m:sty m:val="p"/>
                        </m:rPr>
                        <m:t>−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Example:</a:t>
                </a:r>
                <a:r>
                  <a:rPr/>
                  <a:t> For an i.i.d. sample with mean </a:t>
                </a:r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and finite variance </a:t>
                </a:r>
                <a14:m>
                  <m:oMath xmlns:m="http://schemas.openxmlformats.org/officeDocument/2006/math">
                    <m:sSup>
                      <m:e>
                        <m:r>
                          <m:t>σ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bar>
                      <m:barPr>
                        <m:pos m:val="top"/>
                      </m:barPr>
                      <m:e>
                        <m:r>
                          <m:t>X</m:t>
                        </m:r>
                      </m:e>
                    </m:bar>
                  </m:oMath>
                </a14:m>
                <a:r>
                  <a:rPr/>
                  <a:t> is unbiased for </a:t>
                </a:r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. 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MSE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bar>
                            <m:barPr>
                              <m:pos m:val="top"/>
                            </m:barPr>
                            <m:e>
                              <m:r>
                                <m:t>X</m:t>
                              </m:r>
                            </m:e>
                          </m:ba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Var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bar>
                            <m:barPr>
                              <m:pos m:val="top"/>
                            </m:barPr>
                            <m:e>
                              <m:r>
                                <m:t>X</m:t>
                              </m:r>
                            </m:e>
                          </m:ba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p>
                            <m:e>
                              <m:r>
                                <m:t>σ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m:t>n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Comparing Estimators Using MSE</a:t>
                </a:r>
              </a:p>
              <a:p>
                <a:pPr lvl="0"/>
                <a:r>
                  <a:rPr/>
                  <a:t>We want an estimator with </a:t>
                </a:r>
                <a:r>
                  <a:rPr b="1"/>
                  <a:t>small bias</a:t>
                </a:r>
                <a:r>
                  <a:rPr/>
                  <a:t> and </a:t>
                </a:r>
                <a:r>
                  <a:rPr b="1"/>
                  <a:t>small spread</a:t>
                </a:r>
                <a:r>
                  <a:rPr/>
                  <a:t>.</a:t>
                </a:r>
              </a:p>
              <a:p>
                <a:pPr lvl="0"/>
                <a:r>
                  <a:rPr/>
                  <a:t>MSE measures overall estimation error by combining </a:t>
                </a:r>
                <a:r>
                  <a:rPr b="1"/>
                  <a:t>variance</a:t>
                </a:r>
                <a:r>
                  <a:rPr/>
                  <a:t> and </a:t>
                </a:r>
                <a:r>
                  <a:rPr b="1"/>
                  <a:t>squared bias</a:t>
                </a:r>
                <a:r>
                  <a:rPr/>
                  <a:t>.</a:t>
                </a:r>
              </a:p>
              <a:p>
                <a:pPr lvl="0"/>
                <a:r>
                  <a:rPr/>
                  <a:t>For an unbiased estimator,</a:t>
                </a:r>
              </a:p>
              <a:p>
                <a:pPr lvl="1" indent="0" marL="4572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MSE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θ</m:t>
                              </m:r>
                            </m:e>
                          </m:acc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Var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θ</m:t>
                              </m:r>
                            </m:e>
                          </m:acc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If two estimators are both unbiased for the same parameter, the estimator with the </a:t>
                </a:r>
                <a:r>
                  <a:rPr b="1"/>
                  <a:t>smaller MSE</a:t>
                </a:r>
                <a:r>
                  <a:rPr/>
                  <a:t> also has the </a:t>
                </a:r>
                <a:r>
                  <a:rPr b="1"/>
                  <a:t>smaller variance</a:t>
                </a:r>
                <a:r>
                  <a:rPr/>
                  <a:t>.</a:t>
                </a:r>
              </a:p>
              <a:p>
                <a:pPr lvl="0"/>
                <a:r>
                  <a:rPr/>
                  <a:t>Under the MSE criterion, we prefer the estimator with the smaller MSE.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7" end="2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8" end="2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0" end="3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2" end="3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3" end="3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7" end="3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8" end="3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9" end="3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0" end="4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5" end="4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6" end="4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7" end="4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8" end="4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9" end="4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2" end="5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3" end="5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4" end="5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5" end="5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6" end="5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7" end="5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9" end="6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0" end="7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1" end="7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2" end="7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3" end="7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4" end="7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CWRU Mast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Case Option 1.pot</Template>
  <TotalTime>9492</TotalTime>
  <Words>84</Words>
  <Application>Microsoft Macintosh PowerPoint</Application>
  <PresentationFormat>On-screen Show (4:3)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TitilliumMaps26L 500 wt</vt:lpstr>
      <vt:lpstr>TitilliumMaps26L 999 wt</vt:lpstr>
      <vt:lpstr>CWRU Master</vt:lpstr>
      <vt:lpstr>Random Variable</vt:lpstr>
    </vt:vector>
  </TitlesOfParts>
  <Company>L.A. graphics,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B: Point Estimate</dc:title>
  <dc:creator/>
  <cp:keywords/>
  <dcterms:created xsi:type="dcterms:W3CDTF">2026-10-15T14:48:09Z</dcterms:created>
  <dcterms:modified xsi:type="dcterms:W3CDTF">2026-10-15T14:48:09Z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Instructor: Dr. Md Mutasim Billah</vt:lpwstr>
  </property>
  <property fmtid="{D5CDD505-2E9C-101B-9397-08002B2CF9AE}" pid="9" name="toc-title">
    <vt:lpwstr>Table of contents</vt:lpwstr>
  </property>
</Properties>
</file>