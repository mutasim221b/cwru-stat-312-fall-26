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3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9" Type="http://schemas.openxmlformats.org/officeDocument/2006/relationships/theme" Target="theme/theme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Relationship Id="rId3" Type="http://schemas.openxmlformats.org/officeDocument/2006/relationships/hyperlink" Target="../handout/Boxplot-Example-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3"/>
              </a:rPr>
              <a:t>Boxplot</a:t>
            </a:r>
            <a:r>
              <a:rPr/>
              <a:t> (no need to print and bring it in the class though!)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Example: Sample Variance and Standard Deviation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Suppose we have collected the following random sample of </a:t></a:r><a14:m><m:oMath xmlns:m="http://schemas.openxmlformats.org/officeDocument/2006/math"><m:r><m:t>n</m:t></m:r><m:r><m:rPr><m:sty m:val="p" /></m:rPr><m:t>=</m:t></m:r><m:r><m:t>5</m:t></m:r></m:oMath></a14:m><a:r><a:rPr /><a:t> observations:</a:t></a:r></a:p><a:p><a:pPr lvl="0" indent="0" marL="0"><a:buNone /></a:pPr><a14:m><m:oMathPara xmlns:m="http://schemas.openxmlformats.org/officeDocument/2006/math"><m:oMathParaPr><m:jc m:val="center" /></m:oMathParaPr><m:oMath><m:r><m:rPr><m:sty m:val="p" /></m:rPr><m:t>{</m:t></m:r><m:r><m:t>3</m:t></m:r><m:r><m:rPr><m:sty m:val="p" /></m:rPr><m:t>,</m:t></m:r><m:r><m:t>7</m:t></m:r><m:r><m:rPr><m:sty m:val="p" /></m:rPr><m:t>,</m:t></m:r><m:r><m:t>10</m:t></m:r><m:r><m:rPr><m:sty m:val="p" /></m:rPr><m:t>,</m:t></m:r><m:r><m:t>11</m:t></m:r><m:r><m:rPr><m:sty m:val="p" /></m:rPr><m:t>,</m:t></m:r><m:r><m:t>14</m:t></m:r><m:r><m:rPr><m:sty m:val="p" /></m:rPr><m:t>}</m:t></m:r></m:oMath></m:oMathPara></a14:m></a:p><a:p><a:pPr lvl="0" indent="0" marL="0"><a:buNone /></a:pPr><a:r><a:rPr /><a:t>Find the </a:t></a:r><a:r><a:rPr b="1" /><a:t>sample variance</a:t></a:r><a:r><a:rPr /><a:t> and </a:t></a:r><a:r><a:rPr b="1" /><a:t>sample standard deviation</a:t></a:r><a:r><a:rPr /><a:t>.</a:t></a:r></a:p><a:p><a:pPr lvl="0" indent="0" marL="0"><a:spcBef><a:spcPts val="3000" /></a:spcBef><a:buNone /></a:pPr><a:r><a:rPr b="1" /><a:t>Step 1: Calculate the sample mean</a:t></a:r></a:p><a:p><a:pPr lvl="0" indent="0" marL="0"><a:buNone /></a:pPr><a14:m><m:oMathPara xmlns:m="http://schemas.openxmlformats.org/officeDocument/2006/math"><m:oMathParaPr><m:jc m:val="center" /></m:oMathParaPr><m:oMath><m:m><m:mPr><m:baseJc m:val="center" /><m:plcHide m:val="on" /><m:mcs><m:mc><m:mcPr><m:mcJc m:val="right" /><m:count m:val="1" /></m:mcPr></m:mc><m:mc><m:mcPr><m:mcJc m:val="left" /><m:count m:val="1" /></m:mcPr></m:mc></m:mcs></m:mPr><m:mr><m:e><m:acc><m:accPr><m:chr m:val="‾" /></m:accPr><m:e><m:r><m:t>x</m:t></m:r></m:e></m:acc></m:e><m:e><m:r><m:rPr><m:sty m:val="p" /></m:rPr><m:t>=</m:t></m:r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b><m:e><m:r><m:t>x</m:t></m:r></m:e><m:sub><m:r><m:t>i</m:t></m:r></m:sub></m:sSub></m:e></m:nary></m:num><m:den><m:r><m:t>n</m:t></m:r></m:den></m:f></m:e></m:mr><m:mr><m:e /><m:e><m:r><m:rPr><m:sty m:val="p" /></m:rPr><m:t>=</m:t></m:r><m:f><m:fPr><m:type m:val="bar" /></m:fPr><m:num><m:r><m:t>3</m:t></m:r><m:r><m:rPr><m:sty m:val="p" /></m:rPr><m:t>+</m:t></m:r><m:r><m:t>7</m:t></m:r><m:r><m:rPr><m:sty m:val="p" /></m:rPr><m:t>+</m:t></m:r><m:r><m:t>10</m:t></m:r><m:r><m:rPr><m:sty m:val="p" /></m:rPr><m:t>+</m:t></m:r><m:r><m:t>11</m:t></m:r><m:r><m:rPr><m:sty m:val="p" /></m:rPr><m:t>+</m:t></m:r><m:r><m:t>14</m:t></m:r></m:num><m:den><m:r><m:t>5</m:t></m:r></m:den></m:f></m:e></m:mr><m:mr><m:e /><m:e><m:r><m:rPr><m:sty m:val="p" /></m:rPr><m:t>=</m:t></m:r><m:f><m:fPr><m:type m:val="bar" /></m:fPr><m:num><m:r><m:t>45</m:t></m:r></m:num><m:den><m:r><m:t>5</m:t></m:r></m:den></m:f></m:e></m:mr><m:mr><m:e /><m:e><m:r><m:rPr><m:sty m:val="p" /></m:rPr><m:t>=</m:t></m:r><m:r><m:t>9</m:t></m:r><m:r><m:rPr><m:sty m:val="p" /></m:rPr><m:t>.</m:t></m:r></m:e></m:mr></m:m></m:oMath></m:oMathPara></a14:m></a:p><a:p><a:pPr lvl="0" indent="0" marL="0"><a:spcBef><a:spcPts val="3000" /></a:spcBef><a:buNone /></a:pPr><a:r><a:rPr b="1" /><a:t>Step 2: Complete the table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/m:oMath></a14:m></a:p></a:txBody><a:tcPr /></a:tc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m:r><m:rPr><m:sty m:val="p" /></m:rPr><m:t>−</m:t></m:r><m:acc><m:accPr><m:chr m:val="‾" /></m:accPr><m:e><m:r><m:t>x</m:t></m:r></m:e></m:acc></m:oMath></a14:m></a:p></a:txBody><a:tcPr /></a:tc><a:tc><a:txBody><a:bodyPr /><a:lstStyle /><a:p><a:pPr lvl="0" indent="0" marL="0" algn="ctr"><a:buNone /></a:pPr><a14:m><m:oMath xmlns:m="http://schemas.openxmlformats.org/officeDocument/2006/math"><m:sSup><m:e><m:d><m:dPr><m:begChr m:val="(" /><m:sepChr m:val="" /><m:endChr m:val=")" /><m:grow /></m:dPr><m:e><m:sSub><m:e><m:r><m:t>x</m:t></m:r></m:e><m:sub><m:r><m:t>i</m:t></m:r></m:sub></m:sSub><m:r><m:rPr><m:sty m:val="p" /></m:rPr><m:t>−</m:t></m:r><m:acc><m:accPr><m:chr m:val="‾" /></m:accPr><m:e><m:r><m:t>x</m:t></m:r></m:e></m:acc></m:e></m:d></m:e><m:sup><m:r><m:t>2</m:t></m:r></m:sup></m:sSup></m:oMath></a14:m></a:p></a:txBody><a:tcPr /></a:tc><a:tc><a:txBody><a:bodyPr /><a:lstStyle /><a:p><a:pPr lvl="0" indent="0" marL="0" algn="ctr"><a:buNone /></a:pPr><a14:m><m:oMath xmlns:m="http://schemas.openxmlformats.org/officeDocument/2006/math"><m:sSubSup><m:e><m:r><m:t>x</m:t></m:r></m:e><m:sub><m:r><m:t>i</m:t></m:r></m:sub><m:sup><m:r><m:t>2</m:t></m:r></m:sup></m:sSubSup></m:oMath></a14:m></a:p></a:txBody><a:tcPr /></a:tc></a:tr><a:tr h="0"><a:tc><a:txBody><a:bodyPr /><a:lstStyle /><a:p><a:pPr lvl="0" indent="0" marL="0" algn="ctr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6</m:t></m:r></m:oMath></a14:m></a:p></a:txBody></a:tc><a:tc><a:txBody><a:bodyPr /><a:lstStyle /><a:p><a:pPr lvl="0" indent="0" marL="0" algn="ctr"><a:buNone /></a:pPr><a:r><a:rPr /><a:t>36</a:t></a:r></a:p></a:txBody></a:tc><a:tc><a:txBody><a:bodyPr /><a:lstStyle /><a:p><a:pPr lvl="0" indent="0" marL="0" algn="ctr"><a:buNone /></a:pPr><a:r><a:rPr /><a:t>9</a:t></a:r></a:p></a:txBody></a:tc></a:tr><a:tr h="0"><a:tc><a:txBody><a:bodyPr /><a:lstStyle /><a:p><a:pPr lvl="0" indent="0" marL="0" algn="ctr"><a:buNone /></a:pPr><a:r><a:rPr /><a:t>7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2</m:t></m:r></m:oMath></a14:m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49</a:t></a:r></a:p></a:txBody></a:tc></a:tr><a:tr h="0"><a:tc><a:txBody><a:bodyPr /><a:lstStyle /><a:p><a:pPr lvl="0" indent="0" marL="0" algn="ctr"><a:buNone /></a:pPr><a:r><a:rPr /><a:t>10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100</a:t></a:r></a:p></a:txBody></a:tc></a:tr><a:tr h="0"><a:tc><a:txBody><a:bodyPr /><a:lstStyle /><a:p><a:pPr lvl="0" indent="0" marL="0" algn="ctr"><a:buNone /></a:pPr><a:r><a:rPr /><a:t>11</a:t></a:r></a:p></a:txBody></a:tc><a:tc><a:txBody><a:bodyPr /><a:lstStyle /><a:p><a:pPr lvl="0" indent="0" marL="0" algn="ctr"><a:buNone /></a:pPr><a:r><a:rPr /><a:t>2</a:t></a:r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121</a:t></a:r></a:p></a:txBody></a:tc></a:tr><a:tr h="0"><a:tc><a:txBody><a:bodyPr /><a:lstStyle /><a:p><a:pPr lvl="0" indent="0" marL="0" algn="ctr"><a:buNone /></a:pPr><a:r><a:rPr /><a:t>14</a:t></a:r></a:p></a:txBody></a:tc><a:tc><a:txBody><a:bodyPr /><a:lstStyle /><a:p><a:pPr lvl="0" indent="0" marL="0" algn="ctr"><a:buNone /></a:pPr><a:r><a:rPr /><a:t>5</a:t></a:r></a:p></a:txBody></a:tc><a:tc><a:txBody><a:bodyPr /><a:lstStyle /><a:p><a:pPr lvl="0" indent="0" marL="0" algn="ctr"><a:buNone /></a:pPr><a:r><a:rPr /><a:t>25</a:t></a:r></a:p></a:txBody></a:tc><a:tc><a:txBody><a:bodyPr /><a:lstStyle /><a:p><a:pPr lvl="0" indent="0" marL="0" algn="ctr"><a:buNone /></a:pPr><a:r><a:rPr /><a:t>196</a:t></a:r></a:p></a:txBody></a:tc></a:tr><a:tr h="0"><a:tc><a:txBody><a:bodyPr /><a:lstStyle /><a:p><a:pPr lvl="0" indent="0" marL="0" algn="ctr"><a:buNone /></a:pPr><a:r><a:rPr b="1" /><a:t>Total: 45</a:t></a:r></a:p></a:txBody></a:tc><a:tc><a:txBody><a:bodyPr /><a:lstStyle /><a:p><a:pPr lvl="0" indent="0" marL="0" algn="ctr"><a:buNone /></a:pPr><a:r><a:rPr b="1" /><a:t>0</a:t></a:r></a:p></a:txBody></a:tc><a:tc><a:txBody><a:bodyPr /><a:lstStyle /><a:p><a:pPr lvl="0" indent="0" marL="0" algn="ctr"><a:buNone /></a:pPr><a:r><a:rPr b="1" /><a:t>70</a:t></a:r></a:p></a:txBody></a:tc><a:tc><a:txBody><a:bodyPr /><a:lstStyle /><a:p><a:pPr lvl="0" indent="0" marL="0" algn="ctr"><a:buNone /></a:pPr><a:r><a:rPr b="1" /><a:t>475</a:t></a:r></a:p></a:txBody></a:tc></a:tr></a:tbl></a:graphicData></a:graphic></p:graphicFrame><p:sp><p:nvSpPr><p:cNvPr id="7" name="Slide Number Placeholder 6" /><p:cNvSpPr><a:spLocks noGrp="1" /></p:cNvSpPr><p:nvPr><p:ph idx="12" sz="quarter" type="sldNum" /></p:nvPr></p:nvSpPr><p:spPr /><p:txBody><a:bodyPr /><a:lstStyle /><a:p><a:fld id="{C5EF2332-01BF-834F-8236-50238282D533}" type="slidenum"><a:rPr lang="en-US" smtClean="0" /><a:t>‹#›</a:t></a:fld><a:endParaRPr lang="en-US" /></a:p></p:txBody></p:sp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3: Calculate the sample variance</a:t>
                </a:r>
              </a:p>
              <a:p>
                <a:pPr lvl="0" indent="0" marL="0">
                  <a:buNone/>
                </a:pPr>
                <a:r>
                  <a:rPr/>
                  <a:t>Using the deviations from the sample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4: Verify using the convenient formula</a:t>
                </a:r>
              </a:p>
              <a:p>
                <a:pPr lvl="0" indent="0" marL="0">
                  <a:buNone/>
                </a:pPr>
                <a:r>
                  <a:rPr/>
                  <a:t>The convenient formula for the sample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subHide m:val="off"/>
                                          <m:supHide m:val="off"/>
                                        </m:naryPr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=</m:t>
                                          </m:r>
                                          <m: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m:t>n</m:t>
                                          </m:r>
                                        </m:sup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Substituting the values from the table: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sSup>
                                      <m:e>
                                        <m:r>
                                          <m:t>45</m:t>
                                        </m:r>
                                      </m:e>
                                      <m:sup>
                                        <m: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m:t>5</m:t>
                                    </m:r>
                                  </m:den>
                                </m:f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405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Both methods give the same sample variance: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17.5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5: Calculate the sample standard deviation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s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sSup>
                                  <m:e>
                                    <m:r>
                                      <m:t>s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17.5</m:t>
                                </m:r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r>
                              <m:t>4.18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≈</m:t>
                          </m:r>
                          <m:r>
                            <m:t>4.18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Quiz 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now covered all the topics included in </a:t>
            </a:r>
            <a:r>
              <a:rPr b="1"/>
              <a:t>Quiz 01</a:t>
            </a:r>
            <a:r>
              <a:rPr/>
              <a:t>, which covers </a:t>
            </a:r>
            <a:r>
              <a:rPr b="1"/>
              <a:t>Units 01 and 02</a:t>
            </a:r>
            <a:r>
              <a:rPr/>
              <a:t>.</a:t>
            </a:r>
          </a:p>
          <a:p>
            <a:pPr lvl="0"/>
            <a:r>
              <a:rPr/>
              <a:t>Before attempting the quiz, carefully review the course material covered since the first day of class, including:</a:t>
            </a:r>
          </a:p>
          <a:p>
            <a:pPr lvl="1"/>
            <a:r>
              <a:rPr/>
              <a:t>Class notes</a:t>
            </a:r>
          </a:p>
          <a:p>
            <a:pPr lvl="1"/>
            <a:r>
              <a:rPr/>
              <a:t>Whiteboard notes</a:t>
            </a:r>
          </a:p>
          <a:p>
            <a:pPr lvl="1"/>
            <a:r>
              <a:rPr/>
              <a:t>Handouts</a:t>
            </a:r>
          </a:p>
          <a:p>
            <a:pPr lvl="1"/>
            <a:r>
              <a:rPr/>
              <a:t>Relevant textbook sections, especially if you missed a class</a:t>
            </a:r>
          </a:p>
          <a:p>
            <a:pPr lvl="0"/>
            <a:r>
              <a:rPr/>
              <a:t>Quiz 01 is designed to assess your general understanding of the course material covered so far.</a:t>
            </a:r>
          </a:p>
          <a:p>
            <a:pPr lvl="0"/>
            <a:r>
              <a:rPr b="1"/>
              <a:t>Due:</a:t>
            </a:r>
            <a:r>
              <a:rPr/>
              <a:t> Thursday, September 3, at 11:59 p.m. on Canvas.</a:t>
            </a:r>
          </a:p>
          <a:p>
            <a:pPr lvl="0" indent="0" marL="0">
              <a:buNone/>
            </a:pPr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2026-09-04T13:10:55Z</dcterms:created>
  <dcterms:modified xsi:type="dcterms:W3CDTF">2026-09-04T13:10:55Z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