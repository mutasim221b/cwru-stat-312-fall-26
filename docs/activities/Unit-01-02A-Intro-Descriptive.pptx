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wmf" ContentType="image/x-wm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5pPr>
    <a:lvl6pPr algn="l" defTabSz="457200" eaLnBrk="1" hangingPunct="1" latinLnBrk="0" marL="22860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6pPr>
    <a:lvl7pPr algn="l" defTabSz="457200" eaLnBrk="1" hangingPunct="1" latinLnBrk="0" marL="27432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7pPr>
    <a:lvl8pPr algn="l" defTabSz="457200" eaLnBrk="1" hangingPunct="1" latinLnBrk="0" marL="32004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8pPr>
    <a:lvl9pPr algn="l" defTabSz="457200" eaLnBrk="1" hangingPunct="1" latinLnBrk="0" marL="36576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A59"/>
    <a:srgbClr val="6A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4439"/>
    <p:restoredTop sz="94678"/>
  </p:normalViewPr>
  <p:slideViewPr>
    <p:cSldViewPr snapToGrid="0" snapToObjects="1">
      <p:cViewPr varScale="1">
        <p:scale>
          <a:sx d="100" n="150"/>
          <a:sy d="100" n="150"/>
        </p:scale>
        <p:origin x="3000" y="176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notesMaster" Target="notesMasters/notesMaster1.xml" /><Relationship Id="rId3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9" Type="http://schemas.openxmlformats.org/officeDocument/2006/relationships/theme" Target="theme/theme1.xml" /><Relationship Id="rId28" Type="http://schemas.openxmlformats.org/officeDocument/2006/relationships/viewProps" Target="viewProps.xml" /><Relationship Id="rId27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64A5D-31E6-4A86-AA17-D3DC7E7392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0E83D-6DC3-45CC-9BE0-905852D42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98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I assume you have gone through the syllabus, participated in the Special Quiz, if not do this by next class</a:t>
            </a:r>
          </a:p>
          <a:p>
            <a:pPr lvl="0" indent="0" marL="0">
              <a:buNone/>
            </a:pPr>
          </a:p>
          <a:p>
            <a:pPr lvl="0" indent="-457200" marL="457200">
              <a:buAutoNum type="arabicPeriod"/>
            </a:pPr>
            <a:r>
              <a:rPr/>
              <a:t>We will visit the syllabus and course rules later when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B0E83D-6DC3-45CC-9BE0-905852D4277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You can download the PP version directly from the course website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B0E83D-6DC3-45CC-9BE0-905852D42772}" type="slidenum">
              <a:rPr lang="en-US"/>
              <a:t>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B1DB7-FFDC-5E16-20CA-37B54B3A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t" anchorCtr="0" compatLnSpc="1">
            <a:prstTxWarp prst="textNoShape">
              <a:avLst/>
            </a:prstTxWarp>
          </a:bodyPr>
          <a:lstStyle>
            <a:lvl1pPr>
              <a:defRPr sz="3200">
                <a:solidFill>
                  <a:srgbClr val="123A59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 bwMode="auto">
          <a:xfrm>
            <a:off x="533400" y="1778001"/>
            <a:ext cx="7774280" cy="366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cs typeface="TitilliumMaps26L 500 wt"/>
              </a:defRPr>
            </a:lvl1pPr>
            <a:lvl2pPr marL="800100" indent="-342900" algn="l">
              <a:buFont typeface="Calibri" panose="020F0502020204030204" pitchFamily="34" charset="0"/>
              <a:buChar char="—"/>
              <a:defRPr sz="1800">
                <a:solidFill>
                  <a:schemeClr val="tx1"/>
                </a:solidFill>
                <a:latin typeface="+mn-lt"/>
                <a:cs typeface="TitilliumMaps26L 500 wt"/>
              </a:defRPr>
            </a:lvl2pPr>
            <a:lvl3pPr algn="l">
              <a:defRPr sz="2000">
                <a:solidFill>
                  <a:srgbClr val="6A6A6A"/>
                </a:solidFill>
                <a:latin typeface="TitilliumMaps26L 500 wt"/>
                <a:cs typeface="TitilliumMaps26L 500 w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 err="1"/>
              <a:t>aaa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123A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 anchor="t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4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media/image1.wmf" Type="http://schemas.openxmlformats.org/officeDocument/2006/relationships/image" /><Relationship Id="rId10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5695950"/>
            <a:ext cx="9144000" cy="1162050"/>
          </a:xfrm>
          <a:prstGeom prst="rect">
            <a:avLst/>
          </a:prstGeom>
          <a:solidFill>
            <a:srgbClr val="123A59"/>
          </a:solidFill>
          <a:ln algn="ctr" cap="flat" cmpd="sng" w="0">
            <a:noFill/>
            <a:prstDash val="solid"/>
            <a:round/>
            <a:headEnd len="med" type="none" w="med"/>
            <a:tailEnd len="med" type="none" w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dirty="0" lang="en-US">
              <a:solidFill>
                <a:srgbClr val="6A6A6A"/>
              </a:solidFill>
            </a:endParaRPr>
          </a:p>
        </p:txBody>
      </p:sp>
      <p:pic>
        <p:nvPicPr>
          <p:cNvPr descr="cwru formal logo white-rev tag.wmf" id="12" name="Picture 6"/>
          <p:cNvPicPr>
            <a:picLocks noChangeAspect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546100" y="6018213"/>
            <a:ext cx="2565400" cy="60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idx="4" sz="quarter" type="sldNum"/>
          </p:nvPr>
        </p:nvSpPr>
        <p:spPr>
          <a:xfrm>
            <a:off x="6944968" y="6297647"/>
            <a:ext cx="20574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10"/>
  </p:sldLayoutIdLst>
  <p:hf dt="0" ftr="0" hdr="0"/>
  <p:txStyles>
    <p:titleStyle>
      <a:lvl1pPr algn="l" defTabSz="457200" eaLnBrk="0" fontAlgn="base" hangingPunct="0" rtl="0">
        <a:spcBef>
          <a:spcPct val="0"/>
        </a:spcBef>
        <a:spcAft>
          <a:spcPct val="0"/>
        </a:spcAft>
        <a:defRPr kern="1200" sz="3400">
          <a:solidFill>
            <a:srgbClr val="6A6A6A"/>
          </a:solidFill>
          <a:latin typeface="TitilliumMaps26L 999 wt"/>
          <a:ea typeface="헤드라인A"/>
          <a:cs typeface="TitilliumMaps26L 999 wt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Tx/>
        <a:buNone/>
        <a:defRPr kern="1200" sz="1800">
          <a:solidFill>
            <a:srgbClr val="6A6A6A"/>
          </a:solidFill>
          <a:latin typeface="TitilliumMaps26L 500 wt"/>
          <a:ea charset="-128" typeface="ＭＳ Ｐゴシック"/>
          <a:cs charset="-128" typeface="ＭＳ Ｐゴシック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Tx/>
        <a:buNone/>
        <a:defRPr kern="1200" sz="16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Tx/>
        <a:buNone/>
        <a:defRPr kern="1200" sz="14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Tx/>
        <a:buNone/>
        <a:defRPr kern="1200" sz="12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Tx/>
        <a:buNone/>
        <a:defRPr kern="1200" sz="12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handout/Unit-02_A_Handout.pdf" TargetMode="External" /><Relationship Id="rId3" Type="http://schemas.openxmlformats.org/officeDocument/2006/relationships/hyperlink" Target="../handout/Boxplot-Example-Handout.pdf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hyperlink" Target="https://moderndive.com/1-getting-started.html" TargetMode="Externa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/>
      <p:sp/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Resources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Course Website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 b="1"/>
              <a:t>Course Website</a:t>
            </a:r>
            <a:r>
              <a:rPr/>
              <a:t> will serve as the </a:t>
            </a:r>
            <a:r>
              <a:rPr b="1"/>
              <a:t>main hub for this course</a:t>
            </a:r>
            <a:r>
              <a:rPr/>
              <a:t>.</a:t>
            </a:r>
          </a:p>
          <a:p>
            <a:pPr lvl="0"/>
            <a:r>
              <a:rPr b="1"/>
              <a:t>Class Activities:</a:t>
            </a:r>
            <a:r>
              <a:rPr/>
              <a:t> Lecture notes, handouts, examples, and other class resources will be posted under the </a:t>
            </a:r>
            <a:r>
              <a:rPr b="1"/>
              <a:t>Activities</a:t>
            </a:r>
            <a:r>
              <a:rPr/>
              <a:t> tab.</a:t>
            </a:r>
          </a:p>
          <a:p>
            <a:pPr lvl="1"/>
            <a:r>
              <a:rPr/>
              <a:t>I will continue adding materials to each unit as we progress through the course.</a:t>
            </a:r>
          </a:p>
          <a:p>
            <a:pPr lvl="1"/>
            <a:r>
              <a:rPr/>
              <a:t>Once a unit is completed, we will move on to the next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Course Website will also provide easy access to:</a:t>
            </a:r>
          </a:p>
          <a:p>
            <a:pPr lvl="1"/>
            <a:r>
              <a:rPr b="1"/>
              <a:t>Practice Problems (PP)</a:t>
            </a:r>
          </a:p>
          <a:p>
            <a:pPr lvl="1"/>
            <a:r>
              <a:rPr b="1"/>
              <a:t>Homework Assignments (HW)</a:t>
            </a:r>
          </a:p>
          <a:p>
            <a:pPr lvl="1"/>
            <a:r>
              <a:rPr b="1"/>
              <a:t>Live Course Schedule</a:t>
            </a:r>
          </a:p>
          <a:p>
            <a:pPr lvl="1"/>
            <a:r>
              <a:rPr b="1"/>
              <a:t>R Resources</a:t>
            </a:r>
          </a:p>
          <a:p>
            <a:pPr lvl="1"/>
            <a:r>
              <a:rPr b="1"/>
              <a:t>Course Syllabus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Canvas</a:t>
            </a:r>
            <a:r>
              <a:rPr/>
              <a:t> will primarily be used for:</a:t>
            </a:r>
          </a:p>
          <a:p>
            <a:pPr lvl="1"/>
            <a:r>
              <a:rPr/>
              <a:t>Taking quizzes</a:t>
            </a:r>
          </a:p>
          <a:p>
            <a:pPr lvl="1"/>
            <a:r>
              <a:rPr/>
              <a:t>Submitting HW assignments</a:t>
            </a:r>
          </a:p>
          <a:p>
            <a:pPr lvl="1"/>
            <a:r>
              <a:rPr/>
              <a:t>Viewing Practice Problem solutions</a:t>
            </a:r>
          </a:p>
          <a:p>
            <a:pPr lvl="1"/>
            <a:r>
              <a:rPr/>
              <a:t>Accessing/downloading the course textbook and other restricted course materials</a:t>
            </a:r>
          </a:p>
          <a:p>
            <a:pPr lvl="1"/>
            <a:r>
              <a:rPr/>
              <a:t>Course announcements and discussions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Class Notes vs Slides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Slides are generated automatically</a:t>
            </a:r>
            <a:r>
              <a:rPr/>
              <a:t> from the Activities posted on the course website.</a:t>
            </a:r>
          </a:p>
          <a:p>
            <a:pPr lvl="0"/>
            <a:r>
              <a:rPr/>
              <a:t>During class, we will focus primarily on </a:t>
            </a:r>
            <a:r>
              <a:rPr b="1"/>
              <a:t>live note-taking</a:t>
            </a:r>
            <a:r>
              <a:rPr/>
              <a:t> rather than simply reading from slides.</a:t>
            </a:r>
          </a:p>
          <a:p>
            <a:pPr lvl="0"/>
            <a:r>
              <a:rPr/>
              <a:t>Please watch for my email after each class for the corresponding </a:t>
            </a:r>
            <a:r>
              <a:rPr b="1"/>
              <a:t>electronic class notes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Live note-taking will generally have two parts:</a:t>
            </a:r>
          </a:p>
          <a:p>
            <a:pPr lvl="1" indent="-457200" marL="914400">
              <a:buAutoNum type="arabicPeriod"/>
            </a:pPr>
            <a:r>
              <a:rPr b="1"/>
              <a:t>Notes on a blank page:</a:t>
            </a:r>
            <a:br/>
            <a:r>
              <a:rPr/>
              <a:t>We will write down important definitions, concepts, theories, formulas, and other key ideas discussed during class.</a:t>
            </a:r>
          </a:p>
          <a:p>
            <a:pPr lvl="1" indent="-457200" marL="914400">
              <a:buAutoNum type="arabicPeriod"/>
            </a:pPr>
            <a:r>
              <a:rPr b="1"/>
              <a:t>Notes on the handouts:</a:t>
            </a:r>
            <a:br/>
            <a:r>
              <a:rPr/>
              <a:t>The handouts contain examples and exercises that apply the concepts and theories we have just discussed. We will work through these together during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Handouts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Download the </a:t>
            </a:r>
            <a:r>
              <a:rPr>
                <a:hlinkClick r:id="rId2"/>
              </a:rPr>
              <a:t>Unit 02A Handout: Visualization</a:t>
            </a:r>
            <a:r>
              <a:rPr/>
              <a:t> before class and bring it with you.</a:t>
            </a:r>
          </a:p>
          <a:p>
            <a:pPr lvl="0"/>
            <a:r>
              <a:rPr/>
              <a:t>Download additional Handout on </a:t>
            </a:r>
            <a:r>
              <a:rPr>
                <a:hlinkClick r:id="rId3"/>
              </a:rPr>
              <a:t>Boxplot</a:t>
            </a:r>
            <a:r>
              <a:rPr/>
              <a:t> (no need to print and bring it in the class though!)</a:t>
            </a:r>
          </a:p>
          <a:p>
            <a:pPr lvl="0"/>
            <a:r>
              <a:rPr/>
              <a:t>I will continue to post additional handouts as we progress through the course. Please watch for </a:t>
            </a:r>
            <a:r>
              <a:rPr b="1"/>
              <a:t>Canvas Announcements</a:t>
            </a:r>
            <a:r>
              <a:rPr/>
              <a:t> when a new handout becomes available.</a:t>
            </a:r>
          </a:p>
          <a:p>
            <a:pPr lvl="0"/>
            <a:r>
              <a:rPr/>
              <a:t>It is very important that you </a:t>
            </a:r>
            <a:r>
              <a:rPr b="1"/>
              <a:t>bring the appropriate handout to class regularly</a:t>
            </a:r>
            <a:r>
              <a:rPr/>
              <a:t>, either as a printed copy or on your writing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Practice Problems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Practice Problems (PP)</a:t>
            </a:r>
            <a:r>
              <a:rPr/>
              <a:t> are essential for strengthening your understanding, building confidence, and exploring the concepts covered in class.</a:t>
            </a:r>
          </a:p>
          <a:p>
            <a:pPr lvl="0"/>
            <a:r>
              <a:rPr/>
              <a:t>The </a:t>
            </a:r>
            <a:r>
              <a:rPr b="1"/>
              <a:t>Unit 02 Practice Problems</a:t>
            </a:r>
            <a:r>
              <a:rPr/>
              <a:t> are available under the </a:t>
            </a:r>
            <a:r>
              <a:rPr b="1"/>
              <a:t>Practice Problems</a:t>
            </a:r>
            <a:r>
              <a:rPr/>
              <a:t> tab on the course website.</a:t>
            </a:r>
          </a:p>
          <a:p>
            <a:pPr lvl="0"/>
            <a:r>
              <a:rPr/>
              <a:t>Complete the relevant Practice Problems as we progress through the unit.</a:t>
            </a:r>
          </a:p>
          <a:p>
            <a:pPr lvl="0"/>
            <a:r>
              <a:rPr/>
              <a:t>Make sure you have completed and reviewed the Unit 02 Practice Problems </a:t>
            </a:r>
            <a:r>
              <a:rPr b="1"/>
              <a:t>before attempting the corresponding HW assignment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&amp; RStudio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“Doing” statistical modeling and working with data in general requires statistical software. Calculators and spreadsheet functionality alone do not cut it.</a:t>
            </a:r>
          </a:p>
          <a:p>
            <a:pPr lvl="0" indent="0" marL="0">
              <a:buNone/>
            </a:pPr>
            <a:r>
              <a:rPr/>
              <a:t>We will use </a:t>
            </a:r>
            <a:r>
              <a:rPr b="1"/>
              <a:t>R</a:t>
            </a:r>
            <a:r>
              <a:rPr/>
              <a:t> and </a:t>
            </a:r>
            <a:r>
              <a:rPr b="1"/>
              <a:t>RStudio</a:t>
            </a:r>
            <a:r>
              <a:rPr/>
              <a:t> throughout the course.</a:t>
            </a:r>
          </a:p>
        </p:txBody>
      </p:sp>
      <p:pic>
        <p:nvPicPr>
          <p:cNvPr descr="../images/r_vs_rstudi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92200"/>
            <a:ext cx="5105400" cy="2095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1.1 from </a:t>
            </a:r>
            <a:r>
              <a:rPr>
                <a:hlinkClick r:id="rId3"/>
              </a:rPr>
              <a:t>A ModernDive into R and the Tidyverse</a:t>
            </a:r>
            <a:r>
              <a:rPr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Download and install </a:t>
            </a:r>
            <a:r>
              <a:rPr b="1"/>
              <a:t>R</a:t>
            </a:r>
            <a:r>
              <a:rPr/>
              <a:t> and </a:t>
            </a:r>
            <a:r>
              <a:rPr b="1"/>
              <a:t>RStudio</a:t>
            </a:r>
            <a:r>
              <a:rPr/>
              <a:t> on your device by the end of this week.</a:t>
            </a:r>
          </a:p>
          <a:p>
            <a:pPr lvl="0"/>
            <a:r>
              <a:rPr/>
              <a:t>Check the </a:t>
            </a:r>
            <a:r>
              <a:rPr b="1"/>
              <a:t>R Resources</a:t>
            </a:r>
            <a:r>
              <a:rPr/>
              <a:t> tab on the course website for detailed installation instructions.</a:t>
            </a:r>
          </a:p>
          <a:p>
            <a:pPr lvl="0"/>
            <a:r>
              <a:rPr/>
              <a:t>If you encounter problems during the installation process, you may use </a:t>
            </a:r>
            <a:r>
              <a:rPr b="1"/>
              <a:t>AI tools</a:t>
            </a:r>
            <a:r>
              <a:rPr/>
              <a:t> to help troubleshoot the issue.</a:t>
            </a:r>
          </a:p>
          <a:p>
            <a:pPr lvl="0"/>
            <a:r>
              <a:rPr/>
              <a:t>If you are still unable to complete the installation, please bring your device to class or office hours so we can troubleshoot 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Communcation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Syllabus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Why Engineers Need Statistics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Why should engineers study statistics?</a:t>
            </a:r>
          </a:p>
        </p:txBody>
      </p:sp>
      <p:pic>
        <p:nvPicPr>
          <p:cNvPr descr="../images/stat-nee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30300" y="1778000"/>
            <a:ext cx="6565900" cy="365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What is statistics?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Statistics</a:t>
            </a:r>
            <a:r>
              <a:rPr/>
              <a:t> is the science of </a:t>
            </a:r>
            <a:r>
              <a:rPr b="1"/>
              <a:t>collecting, analyzing, and interpreting data</a:t>
            </a:r>
            <a:r>
              <a:rPr/>
              <a:t>.</a:t>
            </a:r>
          </a:p>
          <a:p>
            <a:pPr lvl="0"/>
            <a:r>
              <a:rPr/>
              <a:t>Engineers collect data from experiments, manufacturing processes, and systems.</a:t>
            </a:r>
          </a:p>
          <a:p>
            <a:pPr lvl="0"/>
            <a:r>
              <a:rPr/>
              <a:t>Engineers analyze data to understand patterns and relationships.</a:t>
            </a:r>
          </a:p>
          <a:p>
            <a:pPr lvl="0"/>
            <a:r>
              <a:rPr/>
              <a:t>Engineers interpret data to make decisions and improve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Example: Manufacturing bolts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factory is manufacturing bolts that should be exactly </a:t>
            </a:r>
            <a:r>
              <a:rPr b="1"/>
              <a:t>2 inches long</a:t>
            </a:r>
            <a:r>
              <a:rPr/>
              <a:t>.</a:t>
            </a:r>
          </a:p>
          <a:p>
            <a:pPr lvl="0"/>
            <a:r>
              <a:rPr/>
              <a:t>Measuring the length of </a:t>
            </a:r>
            <a:r>
              <a:rPr b="1"/>
              <a:t>all</a:t>
            </a:r>
            <a:r>
              <a:rPr/>
              <a:t> bolts (a census) may be:</a:t>
            </a:r>
          </a:p>
          <a:p>
            <a:pPr lvl="1"/>
            <a:r>
              <a:rPr/>
              <a:t>too time consuming,</a:t>
            </a:r>
          </a:p>
          <a:p>
            <a:pPr lvl="1"/>
            <a:r>
              <a:rPr/>
              <a:t>too expensive,</a:t>
            </a:r>
          </a:p>
          <a:p>
            <a:pPr lvl="1"/>
            <a:r>
              <a:rPr/>
              <a:t>or impossible.</a:t>
            </a:r>
          </a:p>
          <a:p>
            <a:pPr lvl="0"/>
            <a:r>
              <a:rPr/>
              <a:t>Instead, we can collect a </a:t>
            </a:r>
            <a:r>
              <a:rPr b="1"/>
              <a:t>sample</a:t>
            </a:r>
            <a:r>
              <a:rPr/>
              <a:t> of bolts.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Population and sample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random sample of 5 bolts yields the following measurements, in inches:</a:t>
            </a:r>
          </a:p>
          <a:p>
            <a:pPr lvl="0" indent="0" marL="0">
              <a:buNone/>
            </a:pPr>
            <a:r>
              <a:rPr/>
              <a:t>[ {2.003, 1.999, 2.006, 1.996, 2.001} ]</a:t>
            </a:r>
          </a:p>
          <a:p>
            <a:pPr lvl="0" indent="0" marL="0">
              <a:buNone/>
            </a:pPr>
            <a:r>
              <a:rPr b="1"/>
              <a:t>Population:</a:t>
            </a:r>
            <a:r>
              <a:rPr/>
              <a:t> The set of all people or things being studied, i.e., all possible observations.</a:t>
            </a:r>
          </a:p>
          <a:p>
            <a:pPr lvl="0" indent="0" marL="0">
              <a:buNone/>
            </a:pPr>
            <a:r>
              <a:rPr b="1"/>
              <a:t>Sample:</a:t>
            </a:r>
            <a:r>
              <a:rPr/>
              <a:t> The subset of the population from which information is actually collected.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Variability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Consider again the measurements:</a:t>
            </a:r>
          </a:p>
          <a:p>
            <a:pPr lvl="0" indent="0" marL="0">
              <a:buNone/>
            </a:pPr>
            <a:r>
              <a:rPr/>
              <a:t>[ {2.003, 1.999, 2.006, 1.996, 2.001} ]</a:t>
            </a:r>
          </a:p>
          <a:p>
            <a:pPr lvl="0" indent="0" marL="0">
              <a:buNone/>
            </a:pPr>
            <a:r>
              <a:rPr/>
              <a:t>The data have </a:t>
            </a:r>
            <a:r>
              <a:rPr b="1"/>
              <a:t>variability</a:t>
            </a:r>
            <a:r>
              <a:rPr/>
              <a:t>.</a:t>
            </a:r>
          </a:p>
          <a:p>
            <a:pPr lvl="0"/>
            <a:r>
              <a:rPr/>
              <a:t>Identify the source(s) of the variation.</a:t>
            </a:r>
          </a:p>
          <a:p>
            <a:pPr lvl="0"/>
            <a:r>
              <a:rPr/>
              <a:t>Reduce the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Additional information: Machines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bolts are being produced by two different machines:</a:t>
            </a:r>
          </a:p>
          <a:p>
            <a:pPr lvl="0"/>
            <a:r>
              <a:rPr b="1"/>
              <a:t>Machine A</a:t>
            </a:r>
          </a:p>
          <a:p>
            <a:pPr lvl="0"/>
            <a:r>
              <a:rPr b="1"/>
              <a:t>Machine B</a:t>
            </a:r>
          </a:p>
          <a:p>
            <a:pPr lvl="0" indent="0" marL="0">
              <a:buNone/>
            </a:pPr>
            <a:r>
              <a:rPr/>
              <a:t>This gives us one possible source of variation in bolt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Additional information: Production speed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machine has three speed settings:</a:t>
            </a:r>
          </a:p>
          <a:p>
            <a:pPr lvl="0"/>
            <a:r>
              <a:rPr b="1"/>
              <a:t>Slow:</a:t>
            </a:r>
            <a:r>
              <a:rPr/>
              <a:t> 500 bolts/minute</a:t>
            </a:r>
          </a:p>
          <a:p>
            <a:pPr lvl="0"/>
            <a:r>
              <a:rPr b="1"/>
              <a:t>Medium:</a:t>
            </a:r>
            <a:r>
              <a:rPr/>
              <a:t> 1000 bolts/minute</a:t>
            </a:r>
          </a:p>
          <a:p>
            <a:pPr lvl="0"/>
            <a:r>
              <a:rPr b="1"/>
              <a:t>Fast:</a:t>
            </a:r>
            <a:r>
              <a:rPr/>
              <a:t> 2000 bolts/minute</a:t>
            </a:r>
          </a:p>
          <a:p>
            <a:pPr lvl="0" indent="0" marL="0">
              <a:buNone/>
            </a:pPr>
            <a:r>
              <a:rPr/>
              <a:t>Now we have two possible sources of variation:</a:t>
            </a:r>
          </a:p>
          <a:p>
            <a:pPr lvl="0" indent="-457200" marL="457200">
              <a:buAutoNum type="arabicPeriod"/>
            </a:pPr>
            <a:r>
              <a:rPr/>
              <a:t>Machine</a:t>
            </a:r>
          </a:p>
          <a:p>
            <a:pPr lvl="0" indent="-457200" marL="457200">
              <a:buAutoNum type="arabicPeriod"/>
            </a:pPr>
            <a:r>
              <a:rPr/>
              <a:t>Production speed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How should we collect the data?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There are several options.</a:t>
            </a:r>
          </a:p>
          <a:p>
            <a:pPr lvl="0"/>
            <a:r>
              <a:rPr b="1"/>
              <a:t>Retrospective Study</a:t>
            </a:r>
          </a:p>
          <a:p>
            <a:pPr lvl="1" indent="0" marL="457200">
              <a:buNone/>
            </a:pPr>
            <a:r>
              <a:rPr/>
              <a:t>Use data that have been collected in the past.</a:t>
            </a:r>
          </a:p>
          <a:p>
            <a:pPr lvl="0"/>
            <a:r>
              <a:rPr b="1"/>
              <a:t>Observational Study</a:t>
            </a:r>
          </a:p>
          <a:p>
            <a:pPr lvl="1" indent="0" marL="457200">
              <a:buNone/>
            </a:pPr>
            <a:r>
              <a:rPr/>
              <a:t>Observe the process in the present and collect data.</a:t>
            </a:r>
          </a:p>
          <a:p>
            <a:pPr lvl="0"/>
            <a:r>
              <a:rPr b="1"/>
              <a:t>Designed Experiment</a:t>
            </a:r>
          </a:p>
          <a:p>
            <a:pPr lvl="1" indent="0" marL="457200">
              <a:buNone/>
            </a:pPr>
            <a:r>
              <a:rPr/>
              <a:t>Exhibit maximum control over </a:t>
            </a:r>
            <a:r>
              <a:rPr b="1"/>
              <a:t>when, where, and how</a:t>
            </a:r>
            <a:r>
              <a:rPr/>
              <a:t> the data are collected.</a:t>
            </a:r>
          </a:p>
          <a:p>
            <a:pPr lvl="0" indent="0" marL="0">
              <a:buNone/>
            </a:pPr>
            <a:br/>
            <a:br/>
            <a:br/>
            <a:br/>
            <a:br/>
            <a:br/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Example: Sample Variance and Standard Deviation</a:t></a:r></a:p></p:txBody></p:sp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Suppose we have collected the following random sample of </a:t></a:r><a14:m><m:oMath xmlns:m="http://schemas.openxmlformats.org/officeDocument/2006/math"><m:r><m:t>n</m:t></m:r><m:r><m:rPr><m:sty m:val="p" /></m:rPr><m:t>=</m:t></m:r><m:r><m:t>5</m:t></m:r></m:oMath></a14:m><a:r><a:rPr /><a:t> observations:</a:t></a:r></a:p><a:p><a:pPr lvl="0" indent="0" marL="0"><a:buNone /></a:pPr><a14:m><m:oMathPara xmlns:m="http://schemas.openxmlformats.org/officeDocument/2006/math"><m:oMathParaPr><m:jc m:val="center" /></m:oMathParaPr><m:oMath><m:r><m:rPr><m:sty m:val="p" /></m:rPr><m:t>{</m:t></m:r><m:r><m:t>3</m:t></m:r><m:r><m:rPr><m:sty m:val="p" /></m:rPr><m:t>,</m:t></m:r><m:r><m:t>7</m:t></m:r><m:r><m:rPr><m:sty m:val="p" /></m:rPr><m:t>,</m:t></m:r><m:r><m:t>10</m:t></m:r><m:r><m:rPr><m:sty m:val="p" /></m:rPr><m:t>,</m:t></m:r><m:r><m:t>11</m:t></m:r><m:r><m:rPr><m:sty m:val="p" /></m:rPr><m:t>,</m:t></m:r><m:r><m:t>14</m:t></m:r><m:r><m:rPr><m:sty m:val="p" /></m:rPr><m:t>}</m:t></m:r></m:oMath></m:oMathPara></a14:m></a:p><a:p><a:pPr lvl="0" indent="0" marL="0"><a:buNone /></a:pPr><a:r><a:rPr /><a:t>Find the </a:t></a:r><a:r><a:rPr b="1" /><a:t>sample variance</a:t></a:r><a:r><a:rPr /><a:t> and </a:t></a:r><a:r><a:rPr b="1" /><a:t>sample standard deviation</a:t></a:r><a:r><a:rPr /><a:t>.</a:t></a:r></a:p><a:p><a:pPr lvl="0" indent="0" marL="0"><a:spcBef><a:spcPts val="3000" /></a:spcBef><a:buNone /></a:pPr><a:r><a:rPr b="1" /><a:t>Step 1: Calculate the sample mean</a:t></a:r></a:p><a:p><a:pPr lvl="0" indent="0" marL="0"><a:buNone /></a:pPr><a14:m><m:oMathPara xmlns:m="http://schemas.openxmlformats.org/officeDocument/2006/math"><m:oMathParaPr><m:jc m:val="center" /></m:oMathParaPr><m:oMath><m:m><m:mPr><m:baseJc m:val="center" /><m:plcHide m:val="on" /><m:mcs><m:mc><m:mcPr><m:mcJc m:val="right" /><m:count m:val="1" /></m:mcPr></m:mc><m:mc><m:mcPr><m:mcJc m:val="left" /><m:count m:val="1" /></m:mcPr></m:mc></m:mcs></m:mPr><m:mr><m:e><m:acc><m:accPr><m:chr m:val="‾" /></m:accPr><m:e><m:r><m:t>x</m:t></m:r></m:e></m:acc></m:e><m:e><m:r><m:rPr><m:sty m:val="p" /></m:rPr><m:t>=</m:t></m:r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sSub><m:e><m:r><m:t>x</m:t></m:r></m:e><m:sub><m:r><m:t>i</m:t></m:r></m:sub></m:sSub></m:e></m:nary></m:num><m:den><m:r><m:t>n</m:t></m:r></m:den></m:f></m:e></m:mr><m:mr><m:e /><m:e><m:r><m:rPr><m:sty m:val="p" /></m:rPr><m:t>=</m:t></m:r><m:f><m:fPr><m:type m:val="bar" /></m:fPr><m:num><m:r><m:t>3</m:t></m:r><m:r><m:rPr><m:sty m:val="p" /></m:rPr><m:t>+</m:t></m:r><m:r><m:t>7</m:t></m:r><m:r><m:rPr><m:sty m:val="p" /></m:rPr><m:t>+</m:t></m:r><m:r><m:t>10</m:t></m:r><m:r><m:rPr><m:sty m:val="p" /></m:rPr><m:t>+</m:t></m:r><m:r><m:t>11</m:t></m:r><m:r><m:rPr><m:sty m:val="p" /></m:rPr><m:t>+</m:t></m:r><m:r><m:t>14</m:t></m:r></m:num><m:den><m:r><m:t>5</m:t></m:r></m:den></m:f></m:e></m:mr><m:mr><m:e /><m:e><m:r><m:rPr><m:sty m:val="p" /></m:rPr><m:t>=</m:t></m:r><m:f><m:fPr><m:type m:val="bar" /></m:fPr><m:num><m:r><m:t>45</m:t></m:r></m:num><m:den><m:r><m:t>5</m:t></m:r></m:den></m:f></m:e></m:mr><m:mr><m:e /><m:e><m:r><m:rPr><m:sty m:val="p" /></m:rPr><m:t>=</m:t></m:r><m:r><m:t>9</m:t></m:r><m:r><m:rPr><m:sty m:val="p" /></m:rPr><m:t>.</m:t></m:r></m:e></m:mr></m:m></m:oMath></m:oMathPara></a14:m></a:p><a:p><a:pPr lvl="0" indent="0" marL="0"><a:spcBef><a:spcPts val="3000" /></a:spcBef><a:buNone /></a:pPr><a:r><a:rPr b="1" /><a:t>Step 2: Complete the table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270000" /><a:gridCol w="1270000" /><a:gridCol w="1270000" /><a:gridCol w="1270000" /></a:tblGrid><a:tr h="0"><a:tc><a:txBody><a:bodyPr /><a:lstStyle /><a:p><a:pPr lvl="0" indent="0" marL="0" algn="ctr"><a:buNone /></a:pPr><a14:m><m:oMath xmlns:m="http://schemas.openxmlformats.org/officeDocument/2006/math"><m:sSub><m:e><m:r><m:t>x</m:t></m:r></m:e><m:sub><m:r><m:t>i</m:t></m:r></m:sub></m:sSub></m:oMath></a14:m></a:p></a:txBody><a:tcPr /></a:tc><a:tc><a:txBody><a:bodyPr /><a:lstStyle /><a:p><a:pPr lvl="0" indent="0" marL="0" algn="ctr"><a:buNone /></a:pPr><a14:m><m:oMath xmlns:m="http://schemas.openxmlformats.org/officeDocument/2006/math"><m:sSub><m:e><m:r><m:t>x</m:t></m:r></m:e><m:sub><m:r><m:t>i</m:t></m:r></m:sub></m:sSub><m:r><m:rPr><m:sty m:val="p" /></m:rPr><m:t>−</m:t></m:r><m:acc><m:accPr><m:chr m:val="‾" /></m:accPr><m:e><m:r><m:t>x</m:t></m:r></m:e></m:acc></m:oMath></a14:m></a:p></a:txBody><a:tcPr /></a:tc><a:tc><a:txBody><a:bodyPr /><a:lstStyle /><a:p><a:pPr lvl="0" indent="0" marL="0" algn="ctr"><a:buNone /></a:pPr><a14:m><m:oMath xmlns:m="http://schemas.openxmlformats.org/officeDocument/2006/math"><m:sSup><m:e><m:d><m:dPr><m:begChr m:val="(" /><m:sepChr m:val="" /><m:endChr m:val=")" /><m:grow /></m:dPr><m:e><m:sSub><m:e><m:r><m:t>x</m:t></m:r></m:e><m:sub><m:r><m:t>i</m:t></m:r></m:sub></m:sSub><m:r><m:rPr><m:sty m:val="p" /></m:rPr><m:t>−</m:t></m:r><m:acc><m:accPr><m:chr m:val="‾" /></m:accPr><m:e><m:r><m:t>x</m:t></m:r></m:e></m:acc></m:e></m:d></m:e><m:sup><m:r><m:t>2</m:t></m:r></m:sup></m:sSup></m:oMath></a14:m></a:p></a:txBody><a:tcPr /></a:tc><a:tc><a:txBody><a:bodyPr /><a:lstStyle /><a:p><a:pPr lvl="0" indent="0" marL="0" algn="ctr"><a:buNone /></a:pPr><a14:m><m:oMath xmlns:m="http://schemas.openxmlformats.org/officeDocument/2006/math"><m:sSubSup><m:e><m:r><m:t>x</m:t></m:r></m:e><m:sub><m:r><m:t>i</m:t></m:r></m:sub><m:sup><m:r><m:t>2</m:t></m:r></m:sup></m:sSubSup></m:oMath></a14:m></a:p></a:txBody><a:tcPr /></a:tc></a:tr><a:tr h="0"><a:tc><a:txBody><a:bodyPr /><a:lstStyle /><a:p><a:pPr lvl="0" indent="0" marL="0" algn="ctr"><a:buNone /></a:pPr><a:r><a:rPr /><a:t>3</a:t></a:r></a:p></a:txBody></a:tc><a:tc><a:txBody><a:bodyPr /><a:lstStyle /><a:p><a:pPr lvl="0" indent="0" marL="0" algn="ctr"><a:buNone /></a:pPr><a14:m><m:oMath xmlns:m="http://schemas.openxmlformats.org/officeDocument/2006/math"><m:r><m:rPr><m:sty m:val="p" /></m:rPr><m:t>−</m:t></m:r><m:r><m:t>6</m:t></m:r></m:oMath></a14:m></a:p></a:txBody></a:tc><a:tc><a:txBody><a:bodyPr /><a:lstStyle /><a:p><a:pPr lvl="0" indent="0" marL="0" algn="ctr"><a:buNone /></a:pPr><a:r><a:rPr /><a:t>36</a:t></a:r></a:p></a:txBody></a:tc><a:tc><a:txBody><a:bodyPr /><a:lstStyle /><a:p><a:pPr lvl="0" indent="0" marL="0" algn="ctr"><a:buNone /></a:pPr><a:r><a:rPr /><a:t>9</a:t></a:r></a:p></a:txBody></a:tc></a:tr><a:tr h="0"><a:tc><a:txBody><a:bodyPr /><a:lstStyle /><a:p><a:pPr lvl="0" indent="0" marL="0" algn="ctr"><a:buNone /></a:pPr><a:r><a:rPr /><a:t>7</a:t></a:r></a:p></a:txBody></a:tc><a:tc><a:txBody><a:bodyPr /><a:lstStyle /><a:p><a:pPr lvl="0" indent="0" marL="0" algn="ctr"><a:buNone /></a:pPr><a14:m><m:oMath xmlns:m="http://schemas.openxmlformats.org/officeDocument/2006/math"><m:r><m:rPr><m:sty m:val="p" /></m:rPr><m:t>−</m:t></m:r><m:r><m:t>2</m:t></m:r></m:oMath></a14:m></a:p></a:txBody></a:tc><a:tc><a:txBody><a:bodyPr /><a:lstStyle /><a:p><a:pPr lvl="0" indent="0" marL="0" algn="ctr"><a:buNone /></a:pPr><a:r><a:rPr /><a:t>4</a:t></a:r></a:p></a:txBody></a:tc><a:tc><a:txBody><a:bodyPr /><a:lstStyle /><a:p><a:pPr lvl="0" indent="0" marL="0" algn="ctr"><a:buNone /></a:pPr><a:r><a:rPr /><a:t>49</a:t></a:r></a:p></a:txBody></a:tc></a:tr><a:tr h="0"><a:tc><a:txBody><a:bodyPr /><a:lstStyle /><a:p><a:pPr lvl="0" indent="0" marL="0" algn="ctr"><a:buNone /></a:pPr><a:r><a:rPr /><a:t>10</a:t></a:r></a:p></a:txBody></a:tc><a:tc><a:txBody><a:bodyPr /><a:lstStyle /><a:p><a:pPr lvl="0" indent="0" marL="0" algn="ctr"><a:buNone /></a:pPr><a:r><a:rPr /><a:t>1</a:t></a:r></a:p></a:txBody></a:tc><a:tc><a:txBody><a:bodyPr /><a:lstStyle /><a:p><a:pPr lvl="0" indent="0" marL="0" algn="ctr"><a:buNone /></a:pPr><a:r><a:rPr /><a:t>1</a:t></a:r></a:p></a:txBody></a:tc><a:tc><a:txBody><a:bodyPr /><a:lstStyle /><a:p><a:pPr lvl="0" indent="0" marL="0" algn="ctr"><a:buNone /></a:pPr><a:r><a:rPr /><a:t>100</a:t></a:r></a:p></a:txBody></a:tc></a:tr><a:tr h="0"><a:tc><a:txBody><a:bodyPr /><a:lstStyle /><a:p><a:pPr lvl="0" indent="0" marL="0" algn="ctr"><a:buNone /></a:pPr><a:r><a:rPr /><a:t>11</a:t></a:r></a:p></a:txBody></a:tc><a:tc><a:txBody><a:bodyPr /><a:lstStyle /><a:p><a:pPr lvl="0" indent="0" marL="0" algn="ctr"><a:buNone /></a:pPr><a:r><a:rPr /><a:t>2</a:t></a:r></a:p></a:txBody></a:tc><a:tc><a:txBody><a:bodyPr /><a:lstStyle /><a:p><a:pPr lvl="0" indent="0" marL="0" algn="ctr"><a:buNone /></a:pPr><a:r><a:rPr /><a:t>4</a:t></a:r></a:p></a:txBody></a:tc><a:tc><a:txBody><a:bodyPr /><a:lstStyle /><a:p><a:pPr lvl="0" indent="0" marL="0" algn="ctr"><a:buNone /></a:pPr><a:r><a:rPr /><a:t>121</a:t></a:r></a:p></a:txBody></a:tc></a:tr><a:tr h="0"><a:tc><a:txBody><a:bodyPr /><a:lstStyle /><a:p><a:pPr lvl="0" indent="0" marL="0" algn="ctr"><a:buNone /></a:pPr><a:r><a:rPr /><a:t>14</a:t></a:r></a:p></a:txBody></a:tc><a:tc><a:txBody><a:bodyPr /><a:lstStyle /><a:p><a:pPr lvl="0" indent="0" marL="0" algn="ctr"><a:buNone /></a:pPr><a:r><a:rPr /><a:t>5</a:t></a:r></a:p></a:txBody></a:tc><a:tc><a:txBody><a:bodyPr /><a:lstStyle /><a:p><a:pPr lvl="0" indent="0" marL="0" algn="ctr"><a:buNone /></a:pPr><a:r><a:rPr /><a:t>25</a:t></a:r></a:p></a:txBody></a:tc><a:tc><a:txBody><a:bodyPr /><a:lstStyle /><a:p><a:pPr lvl="0" indent="0" marL="0" algn="ctr"><a:buNone /></a:pPr><a:r><a:rPr /><a:t>196</a:t></a:r></a:p></a:txBody></a:tc></a:tr><a:tr h="0"><a:tc><a:txBody><a:bodyPr /><a:lstStyle /><a:p><a:pPr lvl="0" indent="0" marL="0" algn="ctr"><a:buNone /></a:pPr><a:r><a:rPr b="1" /><a:t>Total: 45</a:t></a:r></a:p></a:txBody></a:tc><a:tc><a:txBody><a:bodyPr /><a:lstStyle /><a:p><a:pPr lvl="0" indent="0" marL="0" algn="ctr"><a:buNone /></a:pPr><a:r><a:rPr b="1" /><a:t>0</a:t></a:r></a:p></a:txBody></a:tc><a:tc><a:txBody><a:bodyPr /><a:lstStyle /><a:p><a:pPr lvl="0" indent="0" marL="0" algn="ctr"><a:buNone /></a:pPr><a:r><a:rPr b="1" /><a:t>70</a:t></a:r></a:p></a:txBody></a:tc><a:tc><a:txBody><a:bodyPr /><a:lstStyle /><a:p><a:pPr lvl="0" indent="0" marL="0" algn="ctr"><a:buNone /></a:pPr><a:r><a:rPr b="1" /><a:t>475</a:t></a:r></a:p></a:txBody></a:tc></a:tr></a:tbl></a:graphicData></a:graphic></p:graphicFrame><p:sp><p:nvSpPr><p:cNvPr id="7" name="Slide Number Placeholder 6" /><p:cNvSpPr><a:spLocks noGrp="1" /></p:cNvSpPr><p:nvPr><p:ph idx="12" sz="quarter" type="sldNum" /></p:nvPr></p:nvSpPr><p:spPr /><p:txBody><a:bodyPr /><a:lstStyle /><a:p><a:fld id="{C5EF2332-01BF-834F-8236-50238282D533}" type="slidenum"><a:rPr lang="en-US" smtClean="0" /><a:t>‹#›</a:t></a:fld><a:endParaRPr lang="en-US" /></a:p></p:txBody></p:sp></p:spTree></p:cSld>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Step 3: Calculate the sample variance</a:t>
                </a:r>
              </a:p>
              <a:p>
                <a:pPr lvl="0" indent="0" marL="0">
                  <a:buNone/>
                </a:pPr>
                <a:r>
                  <a:rPr/>
                  <a:t>Using the deviations from the sample mean: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acc>
                                        <m:accPr>
                                          <m:chr m:val="‾"/>
                                        </m:accPr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p>
                              <m:e>
                                <m:r>
                                  <m:t>s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70</m:t>
                                </m:r>
                              </m:num>
                              <m:den>
                                <m: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70</m:t>
                                </m:r>
                              </m:num>
                              <m:den>
                                <m:r>
                                  <m:t>4</m:t>
                                </m:r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17.5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Step 4: Verify using the convenient formula</a:t>
                </a:r>
              </a:p>
              <a:p>
                <a:pPr lvl="0" indent="0" marL="0">
                  <a:buNone/>
                </a:pPr>
                <a:r>
                  <a:rPr/>
                  <a:t>The convenient formula for the sample variance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bSup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m:rPr>
                              <m:sty m:val="p"/>
                            </m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subHide m:val="off"/>
                                          <m:supHide m:val="off"/>
                                        </m:naryPr>
                                        <m:sub>
                                          <m: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m:t>=</m:t>
                                          </m:r>
                                          <m: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m:t>n</m:t>
                                          </m:r>
                                        </m:sup>
                                        <m:e>
                                          <m:sSub>
                                            <m:e>
                                              <m: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m:t>i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n</m:t>
                              </m:r>
                            </m:den>
                          </m:f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Substituting the values from the table: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p>
                              <m:e>
                                <m:r>
                                  <m:t>s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475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sSup>
                                      <m:e>
                                        <m:r>
                                          <m:t>45</m:t>
                                        </m:r>
                                      </m:e>
                                      <m:sup>
                                        <m: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m:t>5</m:t>
                                    </m:r>
                                  </m:den>
                                </m:f>
                              </m:num>
                              <m:den>
                                <m: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475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405</m:t>
                                </m:r>
                              </m:num>
                              <m:den>
                                <m:r>
                                  <m:t>4</m:t>
                                </m:r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70</m:t>
                                </m:r>
                              </m:num>
                              <m:den>
                                <m:r>
                                  <m:t>4</m:t>
                                </m:r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17.5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Both methods give the same sample variance: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p>
                            <m:e>
                              <m:r>
                                <m:t>s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17.5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Step 5: Calculate the sample standard deviation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s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m:t>s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17.5</m:t>
                                </m:r>
                              </m:e>
                            </m:rad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≈</m:t>
                            </m:r>
                            <m:r>
                              <m:t>4.18</m:t>
                            </m:r>
                            <m:r>
                              <m:rPr>
                                <m:sty m:val="p"/>
                              </m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≈</m:t>
                          </m:r>
                          <m:r>
                            <m:t>4.18</m:t>
                          </m:r>
                        </m:e>
                      </m:borderBox>
                    </m:oMath>
                  </m:oMathPara>
                </a14:m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Quiz 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have now covered all the topics included in </a:t>
            </a:r>
            <a:r>
              <a:rPr b="1"/>
              <a:t>Quiz 01</a:t>
            </a:r>
            <a:r>
              <a:rPr/>
              <a:t>, which covers </a:t>
            </a:r>
            <a:r>
              <a:rPr b="1"/>
              <a:t>Units 01 and 02</a:t>
            </a:r>
            <a:r>
              <a:rPr/>
              <a:t>.</a:t>
            </a:r>
          </a:p>
          <a:p>
            <a:pPr lvl="0"/>
            <a:r>
              <a:rPr/>
              <a:t>Before attempting the quiz, carefully review the course material covered since the first day of class, including:</a:t>
            </a:r>
          </a:p>
          <a:p>
            <a:pPr lvl="1"/>
            <a:r>
              <a:rPr/>
              <a:t>Class notes</a:t>
            </a:r>
          </a:p>
          <a:p>
            <a:pPr lvl="1"/>
            <a:r>
              <a:rPr/>
              <a:t>Whiteboard notes</a:t>
            </a:r>
          </a:p>
          <a:p>
            <a:pPr lvl="1"/>
            <a:r>
              <a:rPr/>
              <a:t>Handouts</a:t>
            </a:r>
          </a:p>
          <a:p>
            <a:pPr lvl="1"/>
            <a:r>
              <a:rPr/>
              <a:t>Relevant textbook sections, especially if you missed a class</a:t>
            </a:r>
          </a:p>
          <a:p>
            <a:pPr lvl="0"/>
            <a:r>
              <a:rPr/>
              <a:t>Quiz 01 is designed to assess your general understanding of the course material covered so far.</a:t>
            </a:r>
          </a:p>
          <a:p>
            <a:pPr lvl="0"/>
            <a:r>
              <a:rPr b="1"/>
              <a:t>Due:</a:t>
            </a:r>
            <a:r>
              <a:rPr/>
              <a:t> Thursday, September 3, at 11:59 p.m. on Canvas.</a:t>
            </a:r>
          </a:p>
          <a:p>
            <a:pPr lvl="0" indent="0" marL="0">
              <a:buNone/>
            </a:pPr>
            <a:br/>
            <a:br/>
            <a:br/>
            <a:br/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theme/theme1.xml><?xml version="1.0" encoding="utf-8"?>
<a:theme xmlns:a="http://schemas.openxmlformats.org/drawingml/2006/main" name="CWRU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Case Option 1.pot</Template>
  <TotalTime>9492</TotalTime>
  <Words>84</Words>
  <Application>Microsoft Macintosh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TitilliumMaps26L 500 wt</vt:lpstr>
      <vt:lpstr>TitilliumMaps26L 999 wt</vt:lpstr>
      <vt:lpstr>CWRU Master</vt:lpstr>
      <vt:lpstr>Random Variable</vt:lpstr>
    </vt:vector>
  </TitlesOfParts>
  <Company>L.A. graphics,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01-02.A: Intro &amp; Descriptive Statistics</dc:title>
  <dc:creator/>
  <cp:keywords/>
  <dcterms:created xsi:type="dcterms:W3CDTF">2026-10-12T11:17:52Z</dcterms:created>
  <dcterms:modified xsi:type="dcterms:W3CDTF">2026-10-12T11:17:52Z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source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Instructor: Dr. Md Mutasim Billah</vt:lpwstr>
  </property>
  <property fmtid="{D5CDD505-2E9C-101B-9397-08002B2CF9AE}" pid="9" name="toc-title">
    <vt:lpwstr>Table of contents</vt:lpwstr>
  </property>
</Properties>
</file>