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wmf" ContentType="image/x-wmf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2.xml" ContentType="application/vnd.openxmlformats-officedocument.theme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23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sldSz cx="9144000" cy="6858000" type="screen4x3"/>
  <p:notesSz cx="6858000" cy="9144000"/>
  <p:defaultTextStyle>
    <a:defPPr>
      <a:defRPr lang="en-US"/>
    </a:defPPr>
    <a:lvl1pPr algn="l" defTabSz="457200" fontAlgn="base" rtl="0">
      <a:spcBef>
        <a:spcPct val="0"/>
      </a:spcBef>
      <a:spcAft>
        <a:spcPct val="0"/>
      </a:spcAft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1pPr>
    <a:lvl2pPr algn="l" defTabSz="457200" fontAlgn="base" marL="457200" rtl="0">
      <a:spcBef>
        <a:spcPct val="0"/>
      </a:spcBef>
      <a:spcAft>
        <a:spcPct val="0"/>
      </a:spcAft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2pPr>
    <a:lvl3pPr algn="l" defTabSz="457200" fontAlgn="base" marL="914400" rtl="0">
      <a:spcBef>
        <a:spcPct val="0"/>
      </a:spcBef>
      <a:spcAft>
        <a:spcPct val="0"/>
      </a:spcAft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3pPr>
    <a:lvl4pPr algn="l" defTabSz="457200" fontAlgn="base" marL="1371600" rtl="0">
      <a:spcBef>
        <a:spcPct val="0"/>
      </a:spcBef>
      <a:spcAft>
        <a:spcPct val="0"/>
      </a:spcAft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4pPr>
    <a:lvl5pPr algn="l" defTabSz="457200" fontAlgn="base" marL="1828800" rtl="0">
      <a:spcBef>
        <a:spcPct val="0"/>
      </a:spcBef>
      <a:spcAft>
        <a:spcPct val="0"/>
      </a:spcAft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5pPr>
    <a:lvl6pPr algn="l" defTabSz="457200" eaLnBrk="1" hangingPunct="1" latinLnBrk="0" marL="2286000" rtl="0"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6pPr>
    <a:lvl7pPr algn="l" defTabSz="457200" eaLnBrk="1" hangingPunct="1" latinLnBrk="0" marL="2743200" rtl="0"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7pPr>
    <a:lvl8pPr algn="l" defTabSz="457200" eaLnBrk="1" hangingPunct="1" latinLnBrk="0" marL="3200400" rtl="0"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8pPr>
    <a:lvl9pPr algn="l" defTabSz="457200" eaLnBrk="1" hangingPunct="1" latinLnBrk="0" marL="3657600" rtl="0"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23A59"/>
    <a:srgbClr val="6A6A6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D7AC3CCA-C797-4891-BE02-D94E43425B78}" styleName="Medium Style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 w="12700" cmpd="sng">
              <a:solidFill>
                <a:schemeClr val="dk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dk1">
              <a:tint val="20000"/>
            </a:schemeClr>
          </a:solidFill>
        </a:fill>
      </a:tcStyle>
    </a:firstRow>
  </a:tblStyle>
  <a:tblStyle styleId="{91EBBBCC-DAD2-459C-BE2E-F6DE35CF9A28}" styleName="Dark Style 2 - Accent 3/Accent 4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accent3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4439"/>
    <p:restoredTop sz="94678"/>
  </p:normalViewPr>
  <p:slideViewPr>
    <p:cSldViewPr snapToGrid="0" snapToObjects="1">
      <p:cViewPr varScale="1">
        <p:scale>
          <a:sx d="100" n="150"/>
          <a:sy d="100" n="150"/>
        </p:scale>
        <p:origin x="3000" y="176"/>
      </p:cViewPr>
      <p:guideLst>
        <p:guide orient="horz" pos="2160"/>
        <p:guide pos="2880"/>
      </p:guideLst>
    </p:cSldViewPr>
  </p:slideViewPr>
  <p:notesTextViewPr>
    <p:cViewPr>
      <p:scale>
        <a:sx d="100" n="100"/>
        <a:sy d="100" n="100"/>
      </p:scale>
      <p:origin x="0" y="0"/>
    </p:cViewPr>
  </p:notesTextViewPr>
  <p:sorterViewPr>
    <p:cViewPr>
      <p:scale>
        <a:sx d="100" n="66"/>
        <a:sy d="100" n="66"/>
      </p:scale>
      <p:origin x="0" y="0"/>
    </p:cViewPr>
  </p:sorter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notesMaster" Target="notesMasters/notesMaster1.xml" /><Relationship Id="rId27" Type="http://schemas.openxmlformats.org/officeDocument/2006/relationships/tableStyles" Target="tableStyles.xml" /><Relationship Id="rId1" Type="http://schemas.openxmlformats.org/officeDocument/2006/relationships/slideMaster" Target="slideMasters/slideMaster1.xml" /><Relationship Id="rId26" Type="http://schemas.openxmlformats.org/officeDocument/2006/relationships/theme" Target="theme/theme1.xml" /><Relationship Id="rId25" Type="http://schemas.openxmlformats.org/officeDocument/2006/relationships/viewProps" Target="viewProps.xml" /><Relationship Id="rId24" Type="http://schemas.openxmlformats.org/officeDocument/2006/relationships/presProps" Target="presProps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CC64A5D-31E6-4A86-AA17-D3DC7E739255}" type="datetimeFigureOut">
              <a:rPr lang="en-US" smtClean="0"/>
              <a:t>8/22/26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3B0E83D-6DC3-45CC-9BE0-905852D4277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7549817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-457200" marL="457200">
              <a:buAutoNum type="arabicPeriod"/>
            </a:pPr>
            <a:r>
              <a:rPr/>
              <a:t>I assume you have gone through the syllabus, participated in the Special Quiz, if not do this by next class</a:t>
            </a:r>
          </a:p>
          <a:p>
            <a:pPr lvl="0" indent="0" marL="0">
              <a:buNone/>
            </a:pPr>
          </a:p>
          <a:p>
            <a:pPr lvl="0" indent="-457200" marL="457200">
              <a:buAutoNum type="arabicPeriod"/>
            </a:pPr>
            <a:r>
              <a:rPr/>
              <a:t>We will visit the syllabus and course rules later when needed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3B0E83D-6DC3-45CC-9BE0-905852D4277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-457200" marL="457200">
              <a:buAutoNum type="arabicPeriod"/>
            </a:pPr>
            <a:r>
              <a:rPr/>
              <a:t>You can download the PP version directly from the course website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3B0E83D-6DC3-45CC-9BE0-905852D42772}" type="slidenum">
              <a:rPr lang="en-US"/>
              <a:t>6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7C0B1DB7-FFDC-5E16-20CA-37B54B3A91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365125"/>
            <a:ext cx="7886700" cy="1325563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0" numCol="1" anchor="t" anchorCtr="0" compatLnSpc="1">
            <a:prstTxWarp prst="textNoShape">
              <a:avLst/>
            </a:prstTxWarp>
          </a:bodyPr>
          <a:lstStyle>
            <a:lvl1pPr>
              <a:defRPr sz="3200">
                <a:solidFill>
                  <a:srgbClr val="123A59"/>
                </a:solidFill>
                <a:latin typeface="+mn-lt"/>
              </a:defRPr>
            </a:lvl1pPr>
          </a:lstStyle>
          <a:p>
            <a:pPr lvl="0"/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 bwMode="auto">
          <a:xfrm>
            <a:off x="533400" y="1778001"/>
            <a:ext cx="7774280" cy="36617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l">
              <a:buFont typeface="Arial" panose="020B0604020202020204" pitchFamily="34" charset="0"/>
              <a:buChar char="•"/>
              <a:defRPr sz="2000">
                <a:solidFill>
                  <a:schemeClr val="tx1"/>
                </a:solidFill>
                <a:latin typeface="+mn-lt"/>
                <a:cs typeface="TitilliumMaps26L 500 wt"/>
              </a:defRPr>
            </a:lvl1pPr>
            <a:lvl2pPr marL="800100" indent="-342900" algn="l">
              <a:buFont typeface="Calibri" panose="020F0502020204030204" pitchFamily="34" charset="0"/>
              <a:buChar char="—"/>
              <a:defRPr sz="1800">
                <a:solidFill>
                  <a:schemeClr val="tx1"/>
                </a:solidFill>
                <a:latin typeface="+mn-lt"/>
                <a:cs typeface="TitilliumMaps26L 500 wt"/>
              </a:defRPr>
            </a:lvl2pPr>
            <a:lvl3pPr algn="l">
              <a:defRPr sz="2000">
                <a:solidFill>
                  <a:srgbClr val="6A6A6A"/>
                </a:solidFill>
                <a:latin typeface="TitilliumMaps26L 500 wt"/>
                <a:cs typeface="TitilliumMaps26L 500 wt"/>
              </a:defRPr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 err="1"/>
              <a:t>aaa</a:t>
            </a:r>
            <a:endParaRPr lang="en-US" dirty="0"/>
          </a:p>
          <a:p>
            <a:pPr lvl="0"/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">
    <p:bg>
      <p:bgPr>
        <a:solidFill>
          <a:srgbClr val="123A5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1660820"/>
            <a:ext cx="7772400" cy="4108156"/>
          </a:xfrm>
          <a:prstGeom prst="rect">
            <a:avLst/>
          </a:prstGeom>
        </p:spPr>
        <p:txBody>
          <a:bodyPr anchor="t"/>
          <a:lstStyle>
            <a:lvl1pPr algn="ctr">
              <a:defRPr sz="4000" b="1" cap="all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123A59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123A59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123A59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4814721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5" Target="../slideLayouts/slideLayout5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media/image1.wmf" Type="http://schemas.openxmlformats.org/officeDocument/2006/relationships/image" /><Relationship Id="rId10" Type="http://schemas.openxmlformats.org/officeDocument/2006/relationships/slideLayout" Target="../slideLayouts/slideLayout8.xml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/>
          <p:cNvSpPr/>
          <p:nvPr userDrawn="1"/>
        </p:nvSpPr>
        <p:spPr>
          <a:xfrm>
            <a:off x="0" y="5695950"/>
            <a:ext cx="9144000" cy="1162050"/>
          </a:xfrm>
          <a:prstGeom prst="rect">
            <a:avLst/>
          </a:prstGeom>
          <a:solidFill>
            <a:srgbClr val="123A59"/>
          </a:solidFill>
          <a:ln algn="ctr" cap="flat" cmpd="sng" w="0">
            <a:noFill/>
            <a:prstDash val="solid"/>
            <a:round/>
            <a:headEnd len="med" type="none" w="med"/>
            <a:tailEnd len="med" type="none" w="me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dirty="0" lang="en-US">
              <a:solidFill>
                <a:srgbClr val="6A6A6A"/>
              </a:solidFill>
            </a:endParaRPr>
          </a:p>
        </p:txBody>
      </p:sp>
      <p:pic>
        <p:nvPicPr>
          <p:cNvPr descr="cwru formal logo white-rev tag.wmf" id="12" name="Picture 6"/>
          <p:cNvPicPr>
            <a:picLocks noChangeAspect="1"/>
          </p:cNvPicPr>
          <p:nvPr userDrawn="1"/>
        </p:nvPicPr>
        <p:blipFill>
          <a:blip r:embed="rId9"/>
          <a:srcRect/>
          <a:stretch>
            <a:fillRect/>
          </a:stretch>
        </p:blipFill>
        <p:spPr bwMode="auto">
          <a:xfrm>
            <a:off x="546100" y="6018213"/>
            <a:ext cx="2565400" cy="6080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2" name="Slide Number Placeholder 1"/>
          <p:cNvSpPr>
            <a:spLocks noGrp="1"/>
          </p:cNvSpPr>
          <p:nvPr>
            <p:ph idx="4" sz="quarter" type="sldNum"/>
          </p:nvPr>
        </p:nvSpPr>
        <p:spPr>
          <a:xfrm>
            <a:off x="6944968" y="6297647"/>
            <a:ext cx="20574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400">
                <a:solidFill>
                  <a:schemeClr val="bg1"/>
                </a:solidFill>
              </a:defRPr>
            </a:lvl1pPr>
          </a:lstStyle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10"/>
  </p:sldLayoutIdLst>
  <p:hf dt="0" ftr="0" hdr="0"/>
  <p:txStyles>
    <p:titleStyle>
      <a:lvl1pPr algn="l" defTabSz="457200" eaLnBrk="0" fontAlgn="base" hangingPunct="0" rtl="0">
        <a:spcBef>
          <a:spcPct val="0"/>
        </a:spcBef>
        <a:spcAft>
          <a:spcPct val="0"/>
        </a:spcAft>
        <a:defRPr kern="1200" sz="3400">
          <a:solidFill>
            <a:srgbClr val="6A6A6A"/>
          </a:solidFill>
          <a:latin typeface="TitilliumMaps26L 999 wt"/>
          <a:ea typeface="헤드라인A"/>
          <a:cs typeface="TitilliumMaps26L 999 wt"/>
        </a:defRPr>
      </a:lvl1pPr>
      <a:lvl2pPr algn="ctr" defTabSz="457200" eaLnBrk="0" fontAlgn="base" hangingPunct="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2pPr>
      <a:lvl3pPr algn="ctr" defTabSz="457200" eaLnBrk="0" fontAlgn="base" hangingPunct="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3pPr>
      <a:lvl4pPr algn="ctr" defTabSz="457200" eaLnBrk="0" fontAlgn="base" hangingPunct="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4pPr>
      <a:lvl5pPr algn="ctr" defTabSz="457200" eaLnBrk="0" fontAlgn="base" hangingPunct="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5pPr>
      <a:lvl6pPr algn="ctr" defTabSz="457200" fontAlgn="base" marL="45720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6pPr>
      <a:lvl7pPr algn="ctr" defTabSz="457200" fontAlgn="base" marL="91440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7pPr>
      <a:lvl8pPr algn="ctr" defTabSz="457200" fontAlgn="base" marL="137160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8pPr>
      <a:lvl9pPr algn="ctr" defTabSz="457200" fontAlgn="base" marL="182880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9pPr>
    </p:titleStyle>
    <p:bodyStyle>
      <a:lvl1pPr algn="l" defTabSz="457200" eaLnBrk="0" fontAlgn="base" hangingPunct="0" indent="-342900" marL="342900" rtl="0">
        <a:spcBef>
          <a:spcPct val="20000"/>
        </a:spcBef>
        <a:spcAft>
          <a:spcPct val="0"/>
        </a:spcAft>
        <a:buFontTx/>
        <a:buNone/>
        <a:defRPr kern="1200" sz="1800">
          <a:solidFill>
            <a:srgbClr val="6A6A6A"/>
          </a:solidFill>
          <a:latin typeface="TitilliumMaps26L 500 wt"/>
          <a:ea charset="-128" typeface="ＭＳ Ｐゴシック"/>
          <a:cs charset="-128" typeface="ＭＳ Ｐゴシック"/>
        </a:defRPr>
      </a:lvl1pPr>
      <a:lvl2pPr algn="l" defTabSz="457200" eaLnBrk="0" fontAlgn="base" hangingPunct="0" indent="-285750" marL="742950" rtl="0">
        <a:spcBef>
          <a:spcPct val="20000"/>
        </a:spcBef>
        <a:spcAft>
          <a:spcPct val="0"/>
        </a:spcAft>
        <a:buFontTx/>
        <a:buNone/>
        <a:defRPr kern="1200" sz="1600">
          <a:solidFill>
            <a:srgbClr val="6A6A6A"/>
          </a:solidFill>
          <a:latin typeface="TitilliumMaps26L 500 wt"/>
          <a:ea charset="-128" typeface="ＭＳ Ｐゴシック"/>
          <a:cs typeface="+mn-cs"/>
        </a:defRPr>
      </a:lvl2pPr>
      <a:lvl3pPr algn="l" defTabSz="457200" eaLnBrk="0" fontAlgn="base" hangingPunct="0" indent="-228600" marL="1143000" rtl="0">
        <a:spcBef>
          <a:spcPct val="20000"/>
        </a:spcBef>
        <a:spcAft>
          <a:spcPct val="0"/>
        </a:spcAft>
        <a:buFontTx/>
        <a:buNone/>
        <a:defRPr kern="1200" sz="1400">
          <a:solidFill>
            <a:srgbClr val="6A6A6A"/>
          </a:solidFill>
          <a:latin typeface="TitilliumMaps26L 500 wt"/>
          <a:ea charset="-128" typeface="ＭＳ Ｐゴシック"/>
          <a:cs typeface="+mn-cs"/>
        </a:defRPr>
      </a:lvl3pPr>
      <a:lvl4pPr algn="l" defTabSz="457200" eaLnBrk="0" fontAlgn="base" hangingPunct="0" indent="-228600" marL="1600200" rtl="0">
        <a:spcBef>
          <a:spcPct val="20000"/>
        </a:spcBef>
        <a:spcAft>
          <a:spcPct val="0"/>
        </a:spcAft>
        <a:buFontTx/>
        <a:buNone/>
        <a:defRPr kern="1200" sz="1200">
          <a:solidFill>
            <a:srgbClr val="6A6A6A"/>
          </a:solidFill>
          <a:latin typeface="TitilliumMaps26L 500 wt"/>
          <a:ea charset="-128" typeface="ＭＳ Ｐゴシック"/>
          <a:cs typeface="+mn-cs"/>
        </a:defRPr>
      </a:lvl4pPr>
      <a:lvl5pPr algn="l" defTabSz="457200" eaLnBrk="0" fontAlgn="base" hangingPunct="0" indent="-228600" marL="2057400" rtl="0">
        <a:spcBef>
          <a:spcPct val="20000"/>
        </a:spcBef>
        <a:spcAft>
          <a:spcPct val="0"/>
        </a:spcAft>
        <a:buFontTx/>
        <a:buNone/>
        <a:defRPr kern="1200" sz="1200">
          <a:solidFill>
            <a:srgbClr val="6A6A6A"/>
          </a:solidFill>
          <a:latin typeface="TitilliumMaps26L 500 wt"/>
          <a:ea charset="-128" typeface="ＭＳ Ｐゴシック"/>
          <a:cs typeface="+mn-cs"/>
        </a:defRPr>
      </a:lvl5pPr>
      <a:lvl6pPr algn="l" defTabSz="457200" eaLnBrk="1" hangingPunct="1" indent="-228600" latinLnBrk="0" marL="2514600" rtl="0">
        <a:spcBef>
          <a:spcPct val="2000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6pPr>
      <a:lvl7pPr algn="l" defTabSz="457200" eaLnBrk="1" hangingPunct="1" indent="-228600" latinLnBrk="0" marL="2971800" rtl="0">
        <a:spcBef>
          <a:spcPct val="2000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7pPr>
      <a:lvl8pPr algn="l" defTabSz="457200" eaLnBrk="1" hangingPunct="1" indent="-228600" latinLnBrk="0" marL="3429000" rtl="0">
        <a:spcBef>
          <a:spcPct val="2000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8pPr>
      <a:lvl9pPr algn="l" defTabSz="457200" eaLnBrk="1" hangingPunct="1" indent="-228600" latinLnBrk="0" marL="3886200" rtl="0">
        <a:spcBef>
          <a:spcPct val="2000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457200" eaLnBrk="1" hangingPunct="1" latinLnBrk="0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457200" eaLnBrk="1" hangingPunct="1" latinLnBrk="0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457200" eaLnBrk="1" hangingPunct="1" latinLnBrk="0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457200" eaLnBrk="1" hangingPunct="1" latinLnBrk="0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457200" eaLnBrk="1" hangingPunct="1" latinLnBrk="0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457200" eaLnBrk="1" hangingPunct="1" latinLnBrk="0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457200" eaLnBrk="1" hangingPunct="1" latinLnBrk="0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457200" eaLnBrk="1" hangingPunct="1" latinLnBrk="0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457200" eaLnBrk="1" hangingPunct="1" latinLnBrk="0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6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../handout/Unit-02_A_Handout.pdf" TargetMode="Externa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3" Type="http://schemas.openxmlformats.org/officeDocument/2006/relationships/hyperlink" Target="https://moderndive.com/1-getting-started.html" TargetMode="External" /><Relationship Id="rId2" Type="http://schemas.openxmlformats.org/officeDocument/2006/relationships/image" Target="../media/image2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3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/>
      <p:sp/>
      <p:sp>
        <p:nvSpPr>
          <p:cNvPr id="3" name="Slide Number Placeholder 2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1660820"/>
            <a:ext cx="7772400" cy="4108156"/>
          </a:xfrm>
          <a:prstGeom prst="rect">
            <a:avLst/>
          </a:prstGeom>
        </p:spPr>
        <p:txBody>
          <a:bodyPr/>
          <a:lstStyle/>
          <a:p>
            <a:pPr lvl="0" indent="0" marL="0">
              <a:buNone/>
            </a:pPr>
            <a:r>
              <a:rPr/>
              <a:t>Resources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Course Website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</a:t>
            </a:r>
            <a:r>
              <a:rPr b="1"/>
              <a:t>Course Website</a:t>
            </a:r>
            <a:r>
              <a:rPr/>
              <a:t> will serve as the </a:t>
            </a:r>
            <a:r>
              <a:rPr b="1"/>
              <a:t>main hub for this course</a:t>
            </a:r>
            <a:r>
              <a:rPr/>
              <a:t>.</a:t>
            </a:r>
          </a:p>
          <a:p>
            <a:pPr lvl="0"/>
            <a:r>
              <a:rPr b="1"/>
              <a:t>Class Activities:</a:t>
            </a:r>
            <a:r>
              <a:rPr/>
              <a:t> Lecture notes, handouts, examples, and other class resources will be posted under the </a:t>
            </a:r>
            <a:r>
              <a:rPr b="1"/>
              <a:t>Activities</a:t>
            </a:r>
            <a:r>
              <a:rPr/>
              <a:t> tab.</a:t>
            </a:r>
          </a:p>
          <a:p>
            <a:pPr lvl="1"/>
            <a:r>
              <a:rPr/>
              <a:t>I will continue adding materials to each unit as we progress through the course.</a:t>
            </a:r>
          </a:p>
          <a:p>
            <a:pPr lvl="1"/>
            <a:r>
              <a:rPr/>
              <a:t>Once a unit is completed, we will move on to the next unit.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Course Website will also provide easy access to:</a:t>
            </a:r>
          </a:p>
          <a:p>
            <a:pPr lvl="1"/>
            <a:r>
              <a:rPr b="1"/>
              <a:t>Practice Problems (PP)</a:t>
            </a:r>
          </a:p>
          <a:p>
            <a:pPr lvl="1"/>
            <a:r>
              <a:rPr b="1"/>
              <a:t>Homework Assignments (HW)</a:t>
            </a:r>
          </a:p>
          <a:p>
            <a:pPr lvl="1"/>
            <a:r>
              <a:rPr b="1"/>
              <a:t>Live Course Schedule</a:t>
            </a:r>
          </a:p>
          <a:p>
            <a:pPr lvl="1"/>
            <a:r>
              <a:rPr b="1"/>
              <a:t>R Resources</a:t>
            </a:r>
          </a:p>
          <a:p>
            <a:pPr lvl="1"/>
            <a:r>
              <a:rPr b="1"/>
              <a:t>Course Syllabus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Canvas</a:t>
            </a:r>
            <a:r>
              <a:rPr/>
              <a:t> will primarily be used for:</a:t>
            </a:r>
          </a:p>
          <a:p>
            <a:pPr lvl="1"/>
            <a:r>
              <a:rPr/>
              <a:t>Taking quizzes</a:t>
            </a:r>
          </a:p>
          <a:p>
            <a:pPr lvl="1"/>
            <a:r>
              <a:rPr/>
              <a:t>Submitting HW assignments</a:t>
            </a:r>
          </a:p>
          <a:p>
            <a:pPr lvl="1"/>
            <a:r>
              <a:rPr/>
              <a:t>Viewing Practice Problem solutions</a:t>
            </a:r>
          </a:p>
          <a:p>
            <a:pPr lvl="1"/>
            <a:r>
              <a:rPr/>
              <a:t>Accessing/downloading the course textbook and other restricted course materials</a:t>
            </a:r>
          </a:p>
          <a:p>
            <a:pPr lvl="1"/>
            <a:r>
              <a:rPr/>
              <a:t>Course announcements and discussions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Class Notes vs Slides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Slides are generated automatically</a:t>
            </a:r>
            <a:r>
              <a:rPr/>
              <a:t> from the Activities posted on the course website.</a:t>
            </a:r>
          </a:p>
          <a:p>
            <a:pPr lvl="0"/>
            <a:r>
              <a:rPr/>
              <a:t>During class, we will focus primarily on </a:t>
            </a:r>
            <a:r>
              <a:rPr b="1"/>
              <a:t>live note-taking</a:t>
            </a:r>
            <a:r>
              <a:rPr/>
              <a:t> rather than simply reading from slides.</a:t>
            </a:r>
          </a:p>
          <a:p>
            <a:pPr lvl="0"/>
            <a:r>
              <a:rPr/>
              <a:t>Please watch for my email after each class for the corresponding </a:t>
            </a:r>
            <a:r>
              <a:rPr b="1"/>
              <a:t>electronic class notes</a:t>
            </a:r>
            <a:r>
              <a:rPr/>
              <a:t>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Live note-taking will generally have two parts:</a:t>
            </a:r>
          </a:p>
          <a:p>
            <a:pPr lvl="1" indent="-457200" marL="914400">
              <a:buAutoNum type="arabicPeriod"/>
            </a:pPr>
            <a:r>
              <a:rPr b="1"/>
              <a:t>Notes on a blank page:</a:t>
            </a:r>
            <a:br/>
            <a:r>
              <a:rPr/>
              <a:t>We will write down important definitions, concepts, theories, formulas, and other key ideas discussed during class.</a:t>
            </a:r>
          </a:p>
          <a:p>
            <a:pPr lvl="1" indent="-457200" marL="914400">
              <a:buAutoNum type="arabicPeriod"/>
            </a:pPr>
            <a:r>
              <a:rPr b="1"/>
              <a:t>Notes on the handouts:</a:t>
            </a:r>
            <a:br/>
            <a:r>
              <a:rPr/>
              <a:t>The handouts contain examples and exercises that apply the concepts and theories we have just discussed. We will work through these together during class.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Handouts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Download the </a:t>
            </a:r>
            <a:r>
              <a:rPr>
                <a:hlinkClick r:id="rId2"/>
              </a:rPr>
              <a:t>Unit 02A Handout: Visualization</a:t>
            </a:r>
            <a:r>
              <a:rPr/>
              <a:t> before class and bring it with you.</a:t>
            </a:r>
          </a:p>
          <a:p>
            <a:pPr lvl="0"/>
            <a:r>
              <a:rPr/>
              <a:t>I will continue to post additional handouts as we progress through the course. Please watch for </a:t>
            </a:r>
            <a:r>
              <a:rPr b="1"/>
              <a:t>Canvas Announcements</a:t>
            </a:r>
            <a:r>
              <a:rPr/>
              <a:t> when a new handout becomes available.</a:t>
            </a:r>
          </a:p>
          <a:p>
            <a:pPr lvl="0"/>
            <a:r>
              <a:rPr/>
              <a:t>It is very important that you </a:t>
            </a:r>
            <a:r>
              <a:rPr b="1"/>
              <a:t>bring the appropriate handout to class regularly</a:t>
            </a:r>
            <a:r>
              <a:rPr/>
              <a:t>, either as a printed copy or on your writing device.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Practice Problems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Practice Problems (PP)</a:t>
            </a:r>
            <a:r>
              <a:rPr/>
              <a:t> are essential for strengthening your understanding, building confidence, and exploring the concepts covered in class.</a:t>
            </a:r>
          </a:p>
          <a:p>
            <a:pPr lvl="0"/>
            <a:r>
              <a:rPr/>
              <a:t>The </a:t>
            </a:r>
            <a:r>
              <a:rPr b="1"/>
              <a:t>Unit 02 Practice Problems</a:t>
            </a:r>
            <a:r>
              <a:rPr/>
              <a:t> are available under the </a:t>
            </a:r>
            <a:r>
              <a:rPr b="1"/>
              <a:t>Practice Problems</a:t>
            </a:r>
            <a:r>
              <a:rPr/>
              <a:t> tab on the course website.</a:t>
            </a:r>
          </a:p>
          <a:p>
            <a:pPr lvl="0"/>
            <a:r>
              <a:rPr/>
              <a:t>Complete the relevant Practice Problems as we progress through the unit.</a:t>
            </a:r>
          </a:p>
          <a:p>
            <a:pPr lvl="0"/>
            <a:r>
              <a:rPr/>
              <a:t>Make sure you have completed and reviewed the Unit 02 Practice Problems </a:t>
            </a:r>
            <a:r>
              <a:rPr b="1"/>
              <a:t>before attempting the corresponding HW assignment</a:t>
            </a:r>
            <a:r>
              <a:rPr/>
              <a:t>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R &amp; RStudio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“Doing” statistical modeling and working with data in general requires statistical software. Calculators and spreadsheet functionality alone do not cut it.</a:t>
            </a:r>
          </a:p>
          <a:p>
            <a:pPr lvl="0" indent="0" marL="0">
              <a:buNone/>
            </a:pPr>
            <a:r>
              <a:rPr/>
              <a:t>We will use </a:t>
            </a:r>
            <a:r>
              <a:rPr b="1"/>
              <a:t>R</a:t>
            </a:r>
            <a:r>
              <a:rPr/>
              <a:t> and </a:t>
            </a:r>
            <a:r>
              <a:rPr b="1"/>
              <a:t>RStudio</a:t>
            </a:r>
            <a:r>
              <a:rPr/>
              <a:t> throughout the course.</a:t>
            </a:r>
          </a:p>
        </p:txBody>
      </p:sp>
      <p:pic>
        <p:nvPicPr>
          <p:cNvPr descr="../images/r_vs_rstudio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092200"/>
            <a:ext cx="5105400" cy="2095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3568700" y="4076700"/>
            <a:ext cx="51054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Figure 1.1 from </a:t>
            </a:r>
            <a:r>
              <a:rPr>
                <a:hlinkClick r:id="rId3"/>
              </a:rPr>
              <a:t>A ModernDive into R and the Tidyverse</a:t>
            </a:r>
            <a:r>
              <a:rPr/>
              <a:t>.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Download and install </a:t>
            </a:r>
            <a:r>
              <a:rPr b="1"/>
              <a:t>R</a:t>
            </a:r>
            <a:r>
              <a:rPr/>
              <a:t> and </a:t>
            </a:r>
            <a:r>
              <a:rPr b="1"/>
              <a:t>RStudio</a:t>
            </a:r>
            <a:r>
              <a:rPr/>
              <a:t> on your device by the end of this week.</a:t>
            </a:r>
          </a:p>
          <a:p>
            <a:pPr lvl="0"/>
            <a:r>
              <a:rPr/>
              <a:t>Check the </a:t>
            </a:r>
            <a:r>
              <a:rPr b="1"/>
              <a:t>R Resources</a:t>
            </a:r>
            <a:r>
              <a:rPr/>
              <a:t> tab on the course website for detailed installation instructions.</a:t>
            </a:r>
          </a:p>
          <a:p>
            <a:pPr lvl="0"/>
            <a:r>
              <a:rPr/>
              <a:t>If you encounter problems during the installation process, you may use </a:t>
            </a:r>
            <a:r>
              <a:rPr b="1"/>
              <a:t>AI tools</a:t>
            </a:r>
            <a:r>
              <a:rPr/>
              <a:t> to help troubleshoot the issue.</a:t>
            </a:r>
          </a:p>
          <a:p>
            <a:pPr lvl="0"/>
            <a:r>
              <a:rPr/>
              <a:t>If you are still unable to complete the installation, please bring your device to class or office hours so we can troubleshoot it together.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Communcation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Syllabus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1660820"/>
            <a:ext cx="7772400" cy="4108156"/>
          </a:xfrm>
          <a:prstGeom prst="rect">
            <a:avLst/>
          </a:prstGeom>
        </p:spPr>
        <p:txBody>
          <a:bodyPr/>
          <a:lstStyle/>
          <a:p>
            <a:pPr lvl="0" indent="0" marL="0">
              <a:buNone/>
            </a:pPr>
            <a:r>
              <a:rPr/>
              <a:t>Why Engineers Need Statistics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Why should engineers study statistics?</a:t>
            </a:r>
          </a:p>
        </p:txBody>
      </p:sp>
      <p:pic>
        <p:nvPicPr>
          <p:cNvPr descr="../images/stat-nee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130300" y="1778000"/>
            <a:ext cx="6565900" cy="3657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What is statistics?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Statistics</a:t>
            </a:r>
            <a:r>
              <a:rPr/>
              <a:t> is the science of </a:t>
            </a:r>
            <a:r>
              <a:rPr b="1"/>
              <a:t>collecting, analyzing, and interpreting data</a:t>
            </a:r>
            <a:r>
              <a:rPr/>
              <a:t>.</a:t>
            </a:r>
          </a:p>
          <a:p>
            <a:pPr lvl="0"/>
            <a:r>
              <a:rPr/>
              <a:t>Engineers collect data from experiments, manufacturing processes, and systems.</a:t>
            </a:r>
          </a:p>
          <a:p>
            <a:pPr lvl="0"/>
            <a:r>
              <a:rPr/>
              <a:t>Engineers analyze data to understand patterns and relationships.</a:t>
            </a:r>
          </a:p>
          <a:p>
            <a:pPr lvl="0"/>
            <a:r>
              <a:rPr/>
              <a:t>Engineers interpret data to make decisions and improve processes.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Example: Manufacturing bolts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factory is manufacturing bolts that should be exactly </a:t>
            </a:r>
            <a:r>
              <a:rPr b="1"/>
              <a:t>2 inches long</a:t>
            </a:r>
            <a:r>
              <a:rPr/>
              <a:t>.</a:t>
            </a:r>
          </a:p>
          <a:p>
            <a:pPr lvl="0"/>
            <a:r>
              <a:rPr/>
              <a:t>Measuring the length of </a:t>
            </a:r>
            <a:r>
              <a:rPr b="1"/>
              <a:t>all</a:t>
            </a:r>
            <a:r>
              <a:rPr/>
              <a:t> bolts (a census) may be:</a:t>
            </a:r>
          </a:p>
          <a:p>
            <a:pPr lvl="1"/>
            <a:r>
              <a:rPr/>
              <a:t>too time consuming,</a:t>
            </a:r>
          </a:p>
          <a:p>
            <a:pPr lvl="1"/>
            <a:r>
              <a:rPr/>
              <a:t>too expensive,</a:t>
            </a:r>
          </a:p>
          <a:p>
            <a:pPr lvl="1"/>
            <a:r>
              <a:rPr/>
              <a:t>or impossible.</a:t>
            </a:r>
          </a:p>
          <a:p>
            <a:pPr lvl="0"/>
            <a:r>
              <a:rPr/>
              <a:t>Instead, we can collect a </a:t>
            </a:r>
            <a:r>
              <a:rPr b="1"/>
              <a:t>sample</a:t>
            </a:r>
            <a:r>
              <a:rPr/>
              <a:t> of bolts.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Population and sample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random sample of 5 bolts yields the following measurements, in inches:</a:t>
            </a:r>
          </a:p>
          <a:p>
            <a:pPr lvl="0" indent="0" marL="0">
              <a:buNone/>
            </a:pPr>
            <a:r>
              <a:rPr/>
              <a:t>[ {2.003, 1.999, 2.006, 1.996, 2.001} ]</a:t>
            </a:r>
          </a:p>
          <a:p>
            <a:pPr lvl="0" indent="0" marL="0">
              <a:buNone/>
            </a:pPr>
            <a:r>
              <a:rPr b="1"/>
              <a:t>Population:</a:t>
            </a:r>
            <a:r>
              <a:rPr/>
              <a:t> The set of all people or things being studied, i.e., all possible observations.</a:t>
            </a:r>
          </a:p>
          <a:p>
            <a:pPr lvl="0" indent="0" marL="0">
              <a:buNone/>
            </a:pPr>
            <a:r>
              <a:rPr b="1"/>
              <a:t>Sample:</a:t>
            </a:r>
            <a:r>
              <a:rPr/>
              <a:t> The subset of the population from which information is actually collected.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Variability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Consider again the measurements:</a:t>
            </a:r>
          </a:p>
          <a:p>
            <a:pPr lvl="0" indent="0" marL="0">
              <a:buNone/>
            </a:pPr>
            <a:r>
              <a:rPr/>
              <a:t>[ {2.003, 1.999, 2.006, 1.996, 2.001} ]</a:t>
            </a:r>
          </a:p>
          <a:p>
            <a:pPr lvl="0" indent="0" marL="0">
              <a:buNone/>
            </a:pPr>
            <a:r>
              <a:rPr/>
              <a:t>The data have </a:t>
            </a:r>
            <a:r>
              <a:rPr b="1"/>
              <a:t>variability</a:t>
            </a:r>
            <a:r>
              <a:rPr/>
              <a:t>.</a:t>
            </a:r>
          </a:p>
          <a:p>
            <a:pPr lvl="0"/>
            <a:r>
              <a:rPr/>
              <a:t>Identify the source(s) of the variation.</a:t>
            </a:r>
          </a:p>
          <a:p>
            <a:pPr lvl="0"/>
            <a:r>
              <a:rPr/>
              <a:t>Reduce the variation.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Additional information: Machines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bolts are being produced by two different machines:</a:t>
            </a:r>
          </a:p>
          <a:p>
            <a:pPr lvl="0"/>
            <a:r>
              <a:rPr b="1"/>
              <a:t>Machine A</a:t>
            </a:r>
          </a:p>
          <a:p>
            <a:pPr lvl="0"/>
            <a:r>
              <a:rPr b="1"/>
              <a:t>Machine B</a:t>
            </a:r>
          </a:p>
          <a:p>
            <a:pPr lvl="0" indent="0" marL="0">
              <a:buNone/>
            </a:pPr>
            <a:r>
              <a:rPr/>
              <a:t>This gives us one possible source of variation in bolt length.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Additional information: Production speed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Each machine has three speed settings:</a:t>
            </a:r>
          </a:p>
          <a:p>
            <a:pPr lvl="0"/>
            <a:r>
              <a:rPr b="1"/>
              <a:t>Slow:</a:t>
            </a:r>
            <a:r>
              <a:rPr/>
              <a:t> 500 bolts/minute</a:t>
            </a:r>
          </a:p>
          <a:p>
            <a:pPr lvl="0"/>
            <a:r>
              <a:rPr b="1"/>
              <a:t>Medium:</a:t>
            </a:r>
            <a:r>
              <a:rPr/>
              <a:t> 1000 bolts/minute</a:t>
            </a:r>
          </a:p>
          <a:p>
            <a:pPr lvl="0"/>
            <a:r>
              <a:rPr b="1"/>
              <a:t>Fast:</a:t>
            </a:r>
            <a:r>
              <a:rPr/>
              <a:t> 2000 bolts/minute</a:t>
            </a:r>
          </a:p>
          <a:p>
            <a:pPr lvl="0" indent="0" marL="0">
              <a:buNone/>
            </a:pPr>
            <a:r>
              <a:rPr/>
              <a:t>Now we have two possible sources of variation:</a:t>
            </a:r>
          </a:p>
          <a:p>
            <a:pPr lvl="0" indent="-457200" marL="457200">
              <a:buAutoNum type="arabicPeriod"/>
            </a:pPr>
            <a:r>
              <a:rPr/>
              <a:t>Machine</a:t>
            </a:r>
          </a:p>
          <a:p>
            <a:pPr lvl="0" indent="-457200" marL="457200">
              <a:buAutoNum type="arabicPeriod"/>
            </a:pPr>
            <a:r>
              <a:rPr/>
              <a:t>Production speed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How should we collect the data?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There are several options.</a:t>
            </a:r>
          </a:p>
          <a:p>
            <a:pPr lvl="0"/>
            <a:r>
              <a:rPr b="1"/>
              <a:t>Retrospective Study</a:t>
            </a:r>
          </a:p>
          <a:p>
            <a:pPr lvl="1" indent="0" marL="457200">
              <a:buNone/>
            </a:pPr>
            <a:r>
              <a:rPr/>
              <a:t>Use data that have been collected in the past.</a:t>
            </a:r>
          </a:p>
          <a:p>
            <a:pPr lvl="0"/>
            <a:r>
              <a:rPr b="1"/>
              <a:t>Observational Study</a:t>
            </a:r>
          </a:p>
          <a:p>
            <a:pPr lvl="1" indent="0" marL="457200">
              <a:buNone/>
            </a:pPr>
            <a:r>
              <a:rPr/>
              <a:t>Observe the process in the present and collect data.</a:t>
            </a:r>
          </a:p>
          <a:p>
            <a:pPr lvl="0"/>
            <a:r>
              <a:rPr b="1"/>
              <a:t>Designed Experiment</a:t>
            </a:r>
          </a:p>
          <a:p>
            <a:pPr lvl="1" indent="0" marL="457200">
              <a:buNone/>
            </a:pPr>
            <a:r>
              <a:rPr/>
              <a:t>Exhibit maximum control over </a:t>
            </a:r>
            <a:r>
              <a:rPr b="1"/>
              <a:t>when, where, and how</a:t>
            </a:r>
            <a:r>
              <a:rPr/>
              <a:t> the data are collected.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theme/theme1.xml><?xml version="1.0" encoding="utf-8"?>
<a:theme xmlns:a="http://schemas.openxmlformats.org/drawingml/2006/main" name="CWRU Master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Case Option 1.pot</Template>
  <TotalTime>9492</TotalTime>
  <Words>84</Words>
  <Application>Microsoft Macintosh PowerPoint</Application>
  <PresentationFormat>On-screen Show (4:3)</PresentationFormat>
  <Paragraphs>11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6" baseType="lpstr">
      <vt:lpstr>Arial</vt:lpstr>
      <vt:lpstr>Calibri</vt:lpstr>
      <vt:lpstr>TitilliumMaps26L 500 wt</vt:lpstr>
      <vt:lpstr>TitilliumMaps26L 999 wt</vt:lpstr>
      <vt:lpstr>CWRU Master</vt:lpstr>
      <vt:lpstr>Random Variable</vt:lpstr>
    </vt:vector>
  </TitlesOfParts>
  <Company>L.A. graphics, Inc.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Unit 01-02.A: Intro &amp; Descriptive Statistics</dc:title>
  <dc:creator/>
  <cp:keywords/>
  <dcterms:created xsi:type="dcterms:W3CDTF">2026-08-24T11:03:03Z</dcterms:created>
  <dcterms:modified xsi:type="dcterms:W3CDTF">2026-08-24T11:03:03Z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editor">
    <vt:lpwstr>source</vt:lpwstr>
  </property>
  <property fmtid="{D5CDD505-2E9C-101B-9397-08002B2CF9AE}" pid="4" name="header-includes">
    <vt:lpwstr/>
  </property>
  <property fmtid="{D5CDD505-2E9C-101B-9397-08002B2CF9AE}" pid="5" name="include-after">
    <vt:lpwstr/>
  </property>
  <property fmtid="{D5CDD505-2E9C-101B-9397-08002B2CF9AE}" pid="6" name="include-before">
    <vt:lpwstr/>
  </property>
  <property fmtid="{D5CDD505-2E9C-101B-9397-08002B2CF9AE}" pid="7" name="labels">
    <vt:lpwstr/>
  </property>
  <property fmtid="{D5CDD505-2E9C-101B-9397-08002B2CF9AE}" pid="8" name="subtitle">
    <vt:lpwstr>Instructor: Dr. Md Mutasim Billah</vt:lpwstr>
  </property>
  <property fmtid="{D5CDD505-2E9C-101B-9397-08002B2CF9AE}" pid="9" name="toc-title">
    <vt:lpwstr>Table of contents</vt:lpwstr>
  </property>
</Properties>
</file>