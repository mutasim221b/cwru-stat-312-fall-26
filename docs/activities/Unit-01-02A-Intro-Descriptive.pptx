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8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7" Type="http://schemas.openxmlformats.org/officeDocument/2006/relationships/theme" Target="theme/theme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C64A5D-31E6-4A86-AA17-D3DC7E73925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B0E83D-6DC3-45CC-9BE0-905852D427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98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 assume you have gone through the syllabus, participated in the Special Quiz, if not do this by next class</a:t>
            </a:r>
          </a:p>
          <a:p>
            <a:pPr lvl="0" indent="0" marL="0">
              <a:buNone/>
            </a:pPr>
          </a:p>
          <a:p>
            <a:pPr lvl="0" indent="-457200" marL="457200">
              <a:buAutoNum type="arabicPeriod"/>
            </a:pPr>
            <a:r>
              <a:rPr/>
              <a:t>We will visit the syllabus and course rules later when needed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You can download the PP version directly from the course website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2_A_Handout.pdf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moderndive.com/1-getting-started.html" TargetMode="Externa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Course Website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Course Website</a:t>
            </a:r>
            <a:r>
              <a:rPr/>
              <a:t> will serve as the </a:t>
            </a:r>
            <a:r>
              <a:rPr b="1"/>
              <a:t>main hub for this course</a:t>
            </a:r>
            <a:r>
              <a:rPr/>
              <a:t>.</a:t>
            </a:r>
          </a:p>
          <a:p>
            <a:pPr lvl="0"/>
            <a:r>
              <a:rPr b="1"/>
              <a:t>Class Activities:</a:t>
            </a:r>
            <a:r>
              <a:rPr/>
              <a:t> Lecture notes, handouts, examples, and other class resources will be posted under the </a:t>
            </a:r>
            <a:r>
              <a:rPr b="1"/>
              <a:t>Activities</a:t>
            </a:r>
            <a:r>
              <a:rPr/>
              <a:t> tab.</a:t>
            </a:r>
          </a:p>
          <a:p>
            <a:pPr lvl="1"/>
            <a:r>
              <a:rPr/>
              <a:t>I will continue adding materials to each unit as we progress through the course.</a:t>
            </a:r>
          </a:p>
          <a:p>
            <a:pPr lvl="1"/>
            <a:r>
              <a:rPr/>
              <a:t>Once a unit is completed, we will move on to the next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Website will also provide easy access to:</a:t>
            </a:r>
          </a:p>
          <a:p>
            <a:pPr lvl="1"/>
            <a:r>
              <a:rPr b="1"/>
              <a:t>Practice Problems (PP)</a:t>
            </a:r>
          </a:p>
          <a:p>
            <a:pPr lvl="1"/>
            <a:r>
              <a:rPr b="1"/>
              <a:t>Homework Assignments (HW)</a:t>
            </a:r>
          </a:p>
          <a:p>
            <a:pPr lvl="1"/>
            <a:r>
              <a:rPr b="1"/>
              <a:t>Live Course Schedule</a:t>
            </a:r>
          </a:p>
          <a:p>
            <a:pPr lvl="1"/>
            <a:r>
              <a:rPr b="1"/>
              <a:t>R Resources</a:t>
            </a:r>
          </a:p>
          <a:p>
            <a:pPr lvl="1"/>
            <a:r>
              <a:rPr b="1"/>
              <a:t>Course 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Canvas</a:t>
            </a:r>
            <a:r>
              <a:rPr/>
              <a:t> will primarily be used for:</a:t>
            </a:r>
          </a:p>
          <a:p>
            <a:pPr lvl="1"/>
            <a:r>
              <a:rPr/>
              <a:t>Taking quizzes</a:t>
            </a:r>
          </a:p>
          <a:p>
            <a:pPr lvl="1"/>
            <a:r>
              <a:rPr/>
              <a:t>Submitting HW assignments</a:t>
            </a:r>
          </a:p>
          <a:p>
            <a:pPr lvl="1"/>
            <a:r>
              <a:rPr/>
              <a:t>Viewing Practice Problem solutions</a:t>
            </a:r>
          </a:p>
          <a:p>
            <a:pPr lvl="1"/>
            <a:r>
              <a:rPr/>
              <a:t>Accessing/downloading the course textbook and other restricted course materials</a:t>
            </a:r>
          </a:p>
          <a:p>
            <a:pPr lvl="1"/>
            <a:r>
              <a:rPr/>
              <a:t>Course announcements and discussions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 vs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Slides are generated automatically</a:t>
            </a:r>
            <a:r>
              <a:rPr/>
              <a:t> from the Activities posted on the course website.</a:t>
            </a:r>
          </a:p>
          <a:p>
            <a:pPr lvl="0"/>
            <a:r>
              <a:rPr/>
              <a:t>During class, we will focus primarily on </a:t>
            </a:r>
            <a:r>
              <a:rPr b="1"/>
              <a:t>live note-taking</a:t>
            </a:r>
            <a:r>
              <a:rPr/>
              <a:t> rather than simply reading from slides.</a:t>
            </a:r>
          </a:p>
          <a:p>
            <a:pPr lvl="0"/>
            <a:r>
              <a:rPr/>
              <a:t>Please watch for my email after each class for the corresponding </a:t>
            </a:r>
            <a:r>
              <a:rPr b="1"/>
              <a:t>electronic class notes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note-taking will generally have two parts:</a:t>
            </a:r>
          </a:p>
          <a:p>
            <a:pPr lvl="1" indent="-457200" marL="914400">
              <a:buAutoNum type="arabicPeriod"/>
            </a:pPr>
            <a:r>
              <a:rPr b="1"/>
              <a:t>Notes on a blank page:</a:t>
            </a:r>
            <a:br/>
            <a:r>
              <a:rPr/>
              <a:t>We will write down important definitions, concepts, theories, formulas, and other key ideas discussed during class.</a:t>
            </a:r>
          </a:p>
          <a:p>
            <a:pPr lvl="1" indent="-457200" marL="914400">
              <a:buAutoNum type="arabicPeriod"/>
            </a:pPr>
            <a:r>
              <a:rPr b="1"/>
              <a:t>Notes on the handouts:</a:t>
            </a:r>
            <a:br/>
            <a:r>
              <a:rPr/>
              <a:t>The handouts contain examples and exercises that apply the concepts and theories we have just discussed. We will work through these together during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02A Handout: Visualization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02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Unit 02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&amp;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“Doing” statistical modeling and working with data in general requires statistical software. Calculators and spreadsheet functionality alone do not cut it.</a:t>
            </a:r>
          </a:p>
          <a:p>
            <a:pPr lvl="0" indent="0" marL="0">
              <a:buNone/>
            </a:pPr>
            <a:r>
              <a:rPr/>
              <a:t>We will use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throughout the course.</a:t>
            </a:r>
          </a:p>
        </p:txBody>
      </p:sp>
      <p:pic>
        <p:nvPicPr>
          <p:cNvPr descr="../images/r_vs_rstudi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92200"/>
            <a:ext cx="51054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1.1 from </a:t>
            </a:r>
            <a:r>
              <a:rPr>
                <a:hlinkClick r:id="rId3"/>
              </a:rPr>
              <a:t>A ModernDive into R and the Tidyverse</a:t>
            </a:r>
            <a:r>
              <a:rPr/>
              <a:t>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on your device by the end of this week.</a:t>
            </a:r>
          </a:p>
          <a:p>
            <a:pPr lvl="0"/>
            <a:r>
              <a:rPr/>
              <a:t>Check the </a:t>
            </a:r>
            <a:r>
              <a:rPr b="1"/>
              <a:t>R Resources</a:t>
            </a:r>
            <a:r>
              <a:rPr/>
              <a:t> tab on the course website for detailed installation instructions.</a:t>
            </a:r>
          </a:p>
          <a:p>
            <a:pPr lvl="0"/>
            <a:r>
              <a:rPr/>
              <a:t>If you encounter problems during the installation process, you may use </a:t>
            </a:r>
            <a:r>
              <a:rPr b="1"/>
              <a:t>AI tools</a:t>
            </a:r>
            <a:r>
              <a:rPr/>
              <a:t> to help troubleshoot the issue.</a:t>
            </a:r>
          </a:p>
          <a:p>
            <a:pPr lvl="0"/>
            <a:r>
              <a:rPr/>
              <a:t>If you are still unable to complete the installation, please bring your device to class or office hours so we can troubleshoot it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Communcation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Why Engineers Need Statistics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Why should engineers study statistics?</a:t>
            </a:r>
          </a:p>
        </p:txBody>
      </p:sp>
      <p:pic>
        <p:nvPicPr>
          <p:cNvPr descr="../images/stat-ne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30300" y="1778000"/>
            <a:ext cx="65659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Statistics</a:t>
            </a:r>
            <a:r>
              <a:rPr/>
              <a:t> is the science of </a:t>
            </a:r>
            <a:r>
              <a:rPr b="1"/>
              <a:t>collecting, analyzing, and interpreting data</a:t>
            </a:r>
            <a:r>
              <a:rPr/>
              <a:t>.</a:t>
            </a:r>
          </a:p>
          <a:p>
            <a:pPr lvl="0"/>
            <a:r>
              <a:rPr/>
              <a:t>Engineers collect data from experiments, manufacturing processes, and systems.</a:t>
            </a:r>
          </a:p>
          <a:p>
            <a:pPr lvl="0"/>
            <a:r>
              <a:rPr/>
              <a:t>Engineers analyze data to understand patterns and relationships.</a:t>
            </a:r>
          </a:p>
          <a:p>
            <a:pPr lvl="0"/>
            <a:r>
              <a:rPr/>
              <a:t>Engineers interpret data to make decisions and improve processes.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Manufacturing bolts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factory is manufacturing bolts that should be exactly </a:t>
            </a:r>
            <a:r>
              <a:rPr b="1"/>
              <a:t>2 inches long</a:t>
            </a:r>
            <a:r>
              <a:rPr/>
              <a:t>.</a:t>
            </a:r>
          </a:p>
          <a:p>
            <a:pPr lvl="0"/>
            <a:r>
              <a:rPr/>
              <a:t>Measuring the length of </a:t>
            </a:r>
            <a:r>
              <a:rPr b="1"/>
              <a:t>all</a:t>
            </a:r>
            <a:r>
              <a:rPr/>
              <a:t> bolts (a census) may be:</a:t>
            </a:r>
          </a:p>
          <a:p>
            <a:pPr lvl="1"/>
            <a:r>
              <a:rPr/>
              <a:t>too time consuming,</a:t>
            </a:r>
          </a:p>
          <a:p>
            <a:pPr lvl="1"/>
            <a:r>
              <a:rPr/>
              <a:t>too expensive,</a:t>
            </a:r>
          </a:p>
          <a:p>
            <a:pPr lvl="1"/>
            <a:r>
              <a:rPr/>
              <a:t>or impossible.</a:t>
            </a:r>
          </a:p>
          <a:p>
            <a:pPr lvl="0"/>
            <a:r>
              <a:rPr/>
              <a:t>Instead, we can collect a </a:t>
            </a:r>
            <a:r>
              <a:rPr b="1"/>
              <a:t>sample</a:t>
            </a:r>
            <a:r>
              <a:rPr/>
              <a:t> of bolts.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sample of 5 bolts yields the following measurements, in inches: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 b="1"/>
              <a:t>Population:</a:t>
            </a:r>
            <a:r>
              <a:rPr/>
              <a:t> The set of all people or things being studied, i.e., all possible observations.</a:t>
            </a:r>
          </a:p>
          <a:p>
            <a:pPr lvl="0" indent="0" marL="0">
              <a:buNone/>
            </a:pPr>
            <a:r>
              <a:rPr b="1"/>
              <a:t>Sample:</a:t>
            </a:r>
            <a:r>
              <a:rPr/>
              <a:t> The subset of the population from which information is actually collected.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again the measurements: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/>
              <a:t>The data have </a:t>
            </a:r>
            <a:r>
              <a:rPr b="1"/>
              <a:t>variability</a:t>
            </a:r>
            <a:r>
              <a:rPr/>
              <a:t>.</a:t>
            </a:r>
          </a:p>
          <a:p>
            <a:pPr lvl="0"/>
            <a:r>
              <a:rPr/>
              <a:t>Identify the source(s) of the variation.</a:t>
            </a:r>
          </a:p>
          <a:p>
            <a:pPr lvl="0"/>
            <a:r>
              <a:rPr/>
              <a:t>Reduce the variation.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Machines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bolts are being produced by two different machines:</a:t>
            </a:r>
          </a:p>
          <a:p>
            <a:pPr lvl="0"/>
            <a:r>
              <a:rPr b="1"/>
              <a:t>Machine A</a:t>
            </a:r>
          </a:p>
          <a:p>
            <a:pPr lvl="0"/>
            <a:r>
              <a:rPr b="1"/>
              <a:t>Machine B</a:t>
            </a:r>
          </a:p>
          <a:p>
            <a:pPr lvl="0" indent="0" marL="0">
              <a:buNone/>
            </a:pPr>
            <a:r>
              <a:rPr/>
              <a:t>This gives us one possible source of variation in bolt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Production speed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machine has three speed settings:</a:t>
            </a:r>
          </a:p>
          <a:p>
            <a:pPr lvl="0"/>
            <a:r>
              <a:rPr b="1"/>
              <a:t>Slow:</a:t>
            </a:r>
            <a:r>
              <a:rPr/>
              <a:t> 500 bolts/minute</a:t>
            </a:r>
          </a:p>
          <a:p>
            <a:pPr lvl="0"/>
            <a:r>
              <a:rPr b="1"/>
              <a:t>Medium:</a:t>
            </a:r>
            <a:r>
              <a:rPr/>
              <a:t> 1000 bolts/minute</a:t>
            </a:r>
          </a:p>
          <a:p>
            <a:pPr lvl="0"/>
            <a:r>
              <a:rPr b="1"/>
              <a:t>Fast:</a:t>
            </a:r>
            <a:r>
              <a:rPr/>
              <a:t> 2000 bolts/minute</a:t>
            </a:r>
          </a:p>
          <a:p>
            <a:pPr lvl="0" indent="0" marL="0">
              <a:buNone/>
            </a:pPr>
            <a:r>
              <a:rPr/>
              <a:t>Now we have two possible sources of variation:</a:t>
            </a:r>
          </a:p>
          <a:p>
            <a:pPr lvl="0" indent="-457200" marL="457200">
              <a:buAutoNum type="arabicPeriod"/>
            </a:pPr>
            <a:r>
              <a:rPr/>
              <a:t>Machine</a:t>
            </a:r>
          </a:p>
          <a:p>
            <a:pPr lvl="0" indent="-457200" marL="457200">
              <a:buAutoNum type="arabicPeriod"/>
            </a:pPr>
            <a:r>
              <a:rPr/>
              <a:t>Production speed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How should we collect the data?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several options.</a:t>
            </a:r>
          </a:p>
          <a:p>
            <a:pPr lvl="0"/>
            <a:r>
              <a:rPr b="1"/>
              <a:t>Retrospective Study</a:t>
            </a:r>
          </a:p>
          <a:p>
            <a:pPr lvl="1" indent="0" marL="457200">
              <a:buNone/>
            </a:pPr>
            <a:r>
              <a:rPr/>
              <a:t>Use data that have been collected in the past.</a:t>
            </a:r>
          </a:p>
          <a:p>
            <a:pPr lvl="0"/>
            <a:r>
              <a:rPr b="1"/>
              <a:t>Observational Study</a:t>
            </a:r>
          </a:p>
          <a:p>
            <a:pPr lvl="1" indent="0" marL="457200">
              <a:buNone/>
            </a:pPr>
            <a:r>
              <a:rPr/>
              <a:t>Observe the process in the present and collect data.</a:t>
            </a:r>
          </a:p>
          <a:p>
            <a:pPr lvl="0"/>
            <a:r>
              <a:rPr b="1"/>
              <a:t>Designed Experiment</a:t>
            </a:r>
          </a:p>
          <a:p>
            <a:pPr lvl="1" indent="0" marL="457200">
              <a:buNone/>
            </a:pPr>
            <a:r>
              <a:rPr/>
              <a:t>Exhibit maximum control over </a:t>
            </a:r>
            <a:r>
              <a:rPr b="1"/>
              <a:t>when, where, and how</a:t>
            </a:r>
            <a:r>
              <a:rPr/>
              <a:t> the data are collected.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Settling in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💻 Put away your laptop and mobile phone, and take out your notebook or preferred writing device.</a:t>
            </a:r>
          </a:p>
          <a:p>
            <a:pPr lvl="0"/>
            <a:r>
              <a:rPr/>
              <a:t>💬 Chat with your neighbors and share one thing you enjoyed doing this summer.</a:t>
            </a:r>
          </a:p>
          <a:p>
            <a:pPr lvl="0"/>
            <a:r>
              <a:rPr/>
              <a:t>🎵 Enjoy the music! CWRU playlist was created from your responses to the Early Course Survey and I will continue to add more songs from your replies.</a:t>
            </a:r>
          </a:p>
          <a:p>
            <a:pPr lvl="0"/>
            <a:r>
              <a:rPr/>
              <a:t>⏳ We’ll get started shortly!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01-02.A: Intro &amp; Descriptive Statistics</dc:title>
  <dc:creator/>
  <cp:keywords/>
  <dcterms:created xsi:type="dcterms:W3CDTF">2026-08-26T12:25:02Z</dcterms:created>
  <dcterms:modified xsi:type="dcterms:W3CDTF">2026-08-26T12:25:02Z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