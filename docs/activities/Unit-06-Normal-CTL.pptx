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9" Type="http://schemas.openxmlformats.org/officeDocument/2006/relationships/theme" Target="theme/theme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6-Normal-CTL.pdf" TargetMode="External" /><Relationship Id="rId3" Type="http://schemas.openxmlformats.org/officeDocument/2006/relationships/hyperlink" Target="../handout/Tables-1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06 Handout: Normal Distribution &amp; CTL</a:t>
            </a:r>
            <a:r>
              <a:rPr/>
              <a:t> before class and bring it with you.</a:t>
            </a:r>
          </a:p>
          <a:p>
            <a:pPr lvl="0"/>
            <a:r>
              <a:rPr/>
              <a:t>In the class I have provided a copy of </a:t>
            </a:r>
            <a:r>
              <a:rPr>
                <a:hlinkClick r:id="rId3"/>
              </a:rPr>
              <a:t>Tables 1</a:t>
            </a:r>
            <a:r>
              <a:rPr/>
              <a:t>. If you have missed the class, meet me after the class or in mu OH to get a copy of the tables.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06 Practice Problems</a:t>
            </a:r>
            <a:r>
              <a:rPr/>
              <a:t> will be posted soon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Normal Distribution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normal distribution</a:t>
                </a:r>
                <a:r>
                  <a:rPr/>
                  <a:t>, often called the </a:t>
                </a:r>
                <a:r>
                  <a:rPr b="1"/>
                  <a:t>bell curve</a:t>
                </a:r>
                <a:r>
                  <a:rPr/>
                  <a:t>, is an important continuous probability distribution.</a:t>
                </a:r>
              </a:p>
              <a:p>
                <a:pPr lvl="0"/>
                <a:r>
                  <a:rPr/>
                  <a:t>Its support is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</m:rPr>
                          <m:t>∞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∞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curve is centered at its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; its spread depends on its standard deviation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We write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r>
                              <m:t>σ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, using the </a:t>
                </a:r>
                <a:r>
                  <a:rPr b="1"/>
                  <a:t>variance</a:t>
                </a:r>
                <a:r>
                  <a:rPr/>
                  <a:t> as the second parameter. The source labels its curves using the mean and standard deviation explicitly.</a:t>
                </a:r>
              </a:p>
            </p:txBody>
          </p:sp>
        </mc:Choice>
      </mc:AlternateContent>
      <p:pic>
        <p:nvPicPr>
          <p:cNvPr descr="Unit-06-Normal-CTL_files/figure-pptx/normal-curv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Probability Density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2</m:t>
                              </m:r>
                              <m:r>
                                <m:t>π</m:t>
                              </m:r>
                            </m:e>
                          </m:rad>
                          <m:r>
                            <m:t> </m:t>
                          </m:r>
                          <m:r>
                            <m:t>σ</m:t>
                          </m:r>
                        </m:den>
                      </m:f>
                      <m:r>
                        <m:rPr>
                          <m:sty m:val="p"/>
                        </m:rPr>
                        <m:t>exp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r>
                                        <m:t>μ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2</m:t>
                              </m:r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inflection points occur at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σ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σ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pic>
        <p:nvPicPr>
          <p:cNvPr descr="Unit-06-Normal-CTL_files/figure-pptx/inflection-poi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Normal Curves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Changing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shifts the center. Increasing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makes the curve wider and lowers its peak.</a:t>
                </a:r>
              </a:p>
            </p:txBody>
          </p:sp>
        </mc:Choice>
      </mc:AlternateContent>
      <p:pic>
        <p:nvPicPr>
          <p:cNvPr descr="Unit-06-Normal-CTL_files/figure-pptx/compare-normal-curv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Adult Heights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adult men’s heights are approximately normal with mean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70</m:t>
                    </m:r>
                  </m:oMath>
                </a14:m>
                <a:r>
                  <a:rPr/>
                  <a:t> inches and standard deviation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</m:t>
                    </m:r>
                  </m:oMath>
                </a14:m>
                <a:r>
                  <a:rPr/>
                  <a:t> inches.</a:t>
                </a:r>
              </a:p>
              <a:p>
                <a:pPr lvl="0" indent="0" marL="0">
                  <a:buNone/>
                </a:pPr>
                <a:r>
                  <a:rPr/>
                  <a:t>How tall would someone be if their height were </a:t>
                </a:r>
                <a:r>
                  <a:rPr b="1"/>
                  <a:t>10 standard deviations above the mean</a:t>
                </a:r>
                <a:r>
                  <a:rPr/>
                  <a:t>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70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110</m:t>
                      </m:r>
                      <m:r>
                        <m:rPr>
                          <m:nor/>
                          <m:sty m:val="p"/>
                        </m:rPr>
                        <m:t> inches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9</m:t>
                      </m:r>
                      <m:r>
                        <m:rPr>
                          <m:nor/>
                          <m:sty m:val="p"/>
                        </m:rPr>
                        <m:t> feet </m:t>
                      </m:r>
                      <m:r>
                        <m:t>2</m:t>
                      </m:r>
                      <m:r>
                        <m:rPr>
                          <m:nor/>
                          <m:sty m:val="p"/>
                        </m:rPr>
                        <m:t> inches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illustrates how extreme a value 10 standard deviations above the mean would be. For comparison, the source describes the tallest recorded man as approximately 8 feet 11 inches tall.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Empirical Rule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normal distribution, approximately:</a:t>
                </a:r>
              </a:p>
              <a:p>
                <a:pPr lvl="0"/>
                <a:r>
                  <a:rPr b="1"/>
                  <a:t>68%</a:t>
                </a:r>
                <a:r>
                  <a:rPr/>
                  <a:t> of observations lie within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±</m:t>
                    </m:r>
                    <m:r>
                      <m:t>σ</m:t>
                    </m:r>
                  </m:oMath>
                </a14:m>
                <a:r>
                  <a:rPr/>
                  <a:t>;</a:t>
                </a:r>
              </a:p>
              <a:p>
                <a:pPr lvl="0"/>
                <a:r>
                  <a:rPr b="1"/>
                  <a:t>95%</a:t>
                </a:r>
                <a:r>
                  <a:rPr/>
                  <a:t> lie within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t>σ</m:t>
                    </m:r>
                  </m:oMath>
                </a14:m>
                <a:r>
                  <a:rPr/>
                  <a:t>;</a:t>
                </a:r>
              </a:p>
              <a:p>
                <a:pPr lvl="0"/>
                <a:r>
                  <a:rPr b="1"/>
                  <a:t>99.7%</a:t>
                </a:r>
                <a:r>
                  <a:rPr/>
                  <a:t> lie within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±</m:t>
                    </m:r>
                    <m:r>
                      <m:t>3</m:t>
                    </m:r>
                    <m:r>
                      <m:t>σ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pic>
        <p:nvPicPr>
          <p:cNvPr descr="Unit-06-Normal-CTL_files/figure-pptx/empirical-rul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Empirical Rule: Heights and IQ Scores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the height model with </a:t></a:r><a14:m><m:oMath xmlns:m="http://schemas.openxmlformats.org/officeDocument/2006/math"><m:r><m:t>μ</m:t></m:r><m:r><m:rPr><m:sty m:val="p" /></m:rPr><m:t>=</m:t></m:r><m:r><m:t>70</m:t></m:r></m:oMath></a14:m><a:r><a:rPr /><a:t> and </a:t></a:r><a14:m><m:oMath xmlns:m="http://schemas.openxmlformats.org/officeDocument/2006/math"><m:r><m:t>σ</m:t></m:r><m:r><m:rPr><m:sty m:val="p" /></m:rPr><m:t>=</m:t></m:r><m:r><m:t>4</m:t></m:r></m:oMath></a14:m><a:r><a:rPr /><a:t>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Range</a:t></a:r></a:p></a:txBody><a:tcPr /></a:tc><a:tc><a:txBody><a:bodyPr /><a:lstStyle /><a:p><a:pPr lvl="0" indent="0" marL="0" algn="l"><a:buNone /></a:pPr><a:r><a:rPr /><a:t>Interval (inches)</a:t></a:r></a:p></a:txBody><a:tcPr /></a:tc><a:tc><a:txBody><a:bodyPr /><a:lstStyle /><a:p><a:pPr lvl="0" indent="0" marL="0" algn="l"><a:buNone /></a:pPr><a:r><a:rPr /><a:t>Approximate percentage</a:t></a:r></a:p></a:txBody><a:tcPr /></a:tc></a:tr><a:tr h="0"><a:tc><a:txBody><a:bodyPr /><a:lstStyle /><a:p><a:pPr lvl="0" indent="0" marL="0" algn="l"><a:buNone /></a:pPr><a14:m><m:oMath xmlns:m="http://schemas.openxmlformats.org/officeDocument/2006/math"><m:r><m:t>μ</m:t></m:r><m:r><m:rPr><m:sty m:val="p" /></m:rPr><m:t>±</m:t></m:r><m:r><m:t>σ</m:t></m:r></m:oMath></a14:m></a:p></a:txBody></a:tc><a:tc><a:txBody><a:bodyPr /><a:lstStyle /><a:p><a:pPr lvl="0" indent="0" marL="0" algn="l"><a:buNone /></a:pPr><a:r><a:rPr /><a:t>66–74</a:t></a:r></a:p></a:txBody></a:tc><a:tc><a:txBody><a:bodyPr /><a:lstStyle /><a:p><a:pPr lvl="0" indent="0" marL="0" algn="l"><a:buNone /></a:pPr><a:r><a:rPr /><a:t>68%</a:t></a:r></a:p></a:txBody></a:tc></a:tr><a:tr h="0"><a:tc><a:txBody><a:bodyPr /><a:lstStyle /><a:p><a:pPr lvl="0" indent="0" marL="0" algn="l"><a:buNone /></a:pPr><a14:m><m:oMath xmlns:m="http://schemas.openxmlformats.org/officeDocument/2006/math"><m:r><m:t>μ</m:t></m:r><m:r><m:rPr><m:sty m:val="p" /></m:rPr><m:t>±</m:t></m:r><m:r><m:t>2</m:t></m:r><m:r><m:t>σ</m:t></m:r></m:oMath></a14:m></a:p></a:txBody></a:tc><a:tc><a:txBody><a:bodyPr /><a:lstStyle /><a:p><a:pPr lvl="0" indent="0" marL="0" algn="l"><a:buNone /></a:pPr><a:r><a:rPr /><a:t>62–78</a:t></a:r></a:p></a:txBody></a:tc><a:tc><a:txBody><a:bodyPr /><a:lstStyle /><a:p><a:pPr lvl="0" indent="0" marL="0" algn="l"><a:buNone /></a:pPr><a:r><a:rPr /><a:t>95%</a:t></a:r></a:p></a:txBody></a:tc></a:tr><a:tr h="0"><a:tc><a:txBody><a:bodyPr /><a:lstStyle /><a:p><a:pPr lvl="0" indent="0" marL="0" algn="l"><a:buNone /></a:pPr><a14:m><m:oMath xmlns:m="http://schemas.openxmlformats.org/officeDocument/2006/math"><m:r><m:t>μ</m:t></m:r><m:r><m:rPr><m:sty m:val="p" /></m:rPr><m:t>±</m:t></m:r><m:r><m:t>3</m:t></m:r><m:r><m:t>σ</m:t></m:r></m:oMath></a14:m></a:p></a:txBody></a:tc><a:tc><a:txBody><a:bodyPr /><a:lstStyle /><a:p><a:pPr lvl="0" indent="0" marL="0" algn="l"><a:buNone /></a:pPr><a:r><a:rPr /><a:t>58–82</a:t></a:r></a:p></a:txBody></a:tc><a:tc><a:txBody><a:bodyPr /><a:lstStyle /><a:p><a:pPr lvl="0" indent="0" marL="0" algn="l"><a:buNone /></a:pPr><a:r><a:rPr /><a:t>99.7%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source also illustrates an approximately normal IQ-score model with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100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15</m:t>
                    </m:r>
                  </m:oMath>
                </a14:m>
                <a:r>
                  <a:rPr/>
                  <a:t>. Its corresponding intervals are </a:t>
                </a:r>
                <a:r>
                  <a:rPr b="1"/>
                  <a:t>85–115</a:t>
                </a:r>
                <a:r>
                  <a:rPr/>
                  <a:t>, </a:t>
                </a:r>
                <a:r>
                  <a:rPr b="1"/>
                  <a:t>70–130</a:t>
                </a:r>
                <a:r>
                  <a:rPr/>
                  <a:t>, and </a:t>
                </a:r>
                <a:r>
                  <a:rPr b="1"/>
                  <a:t>55–145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source mentions </a:t>
                </a:r>
                <a:r>
                  <a:rPr i="1"/>
                  <a:t>The Bell Curve</a:t>
                </a:r>
                <a:r>
                  <a:rPr/>
                  <a:t> (Herrnstein and Murray, 1994) in this context. The normal model here is used only to illustrate the empirical rule.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Distribution: Probabilities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The Standard Normal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are infinitely many normal curves: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may be any real number, and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may be any positive real number.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normal distribution</a:t>
                </a:r>
                <a:r>
                  <a:rPr/>
                  <a:t> has </a:t>
                </a:r>
                <a14:m>
                  <m:oMath xmlns:m="http://schemas.openxmlformats.org/officeDocument/2006/math"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∼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Z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2</m:t>
                              </m:r>
                              <m:r>
                                <m:t>π</m:t>
                              </m:r>
                            </m:e>
                          </m:rad>
                        </m:den>
                      </m:f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r>
                                <m:t>z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density has no elementary antiderivative. We use a </a:t>
                </a:r>
                <a:r>
                  <a:rPr b="1"/>
                  <a:t>Z-table</a:t>
                </a:r>
                <a:r>
                  <a:rPr/>
                  <a:t> or software to calculate areas.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total area under the curve is </a:t>
                </a:r>
                <a:r>
                  <a:rPr b="1"/>
                  <a:t>1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 standard normal curve is symmetric about </a:t>
                </a:r>
                <a:r>
                  <a:rPr b="1"/>
                  <a:t>0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 table used here gives the area </a:t>
                </a:r>
                <a:r>
                  <a:rPr b="1"/>
                  <a:t>to the left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Φ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  <m:r>
                          <m:rPr>
                            <m:sty m:val="p"/>
                          </m:rPr>
                          <m:t>≤</m:t>
                        </m:r>
                        <m:r>
                          <m:t>z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Other tables may use different area conventions; always check the table heading.</a:t>
                </a:r>
              </a:p>
              <a:p>
                <a:pPr lvl="0"/>
                <a:r>
                  <a:rPr/>
                  <a:t>Use the row for the ones and tenths digits and the column for the hundredths digit.</a:t>
                </a:r>
              </a:p>
              <a:p>
                <a:pPr lvl="0"/>
                <a:r>
                  <a:rPr/>
                  <a:t>For a continuous random variable,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  <m:r>
                          <m:rPr>
                            <m:sty m:val="p"/>
                          </m:rPr>
                          <m:t>&lt;</m:t>
                        </m:r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  <m:r>
                          <m:rPr>
                            <m:sty m:val="p"/>
                          </m:rPr>
                          <m:t>≤</m:t>
                        </m:r>
                        <m:r>
                          <m:t>z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06: Normal Distribution &amp; Central Limit Theorem</dc:title>
  <dc:creator/>
  <cp:keywords/>
  <dcterms:created xsi:type="dcterms:W3CDTF">2026-10-07T14:02:00Z</dcterms:created>
  <dcterms:modified xsi:type="dcterms:W3CDTF">2026-10-07T14:02:00Z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