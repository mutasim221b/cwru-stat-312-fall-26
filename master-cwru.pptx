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78" r:id="rId2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3A59"/>
    <a:srgbClr val="6A6A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439" autoAdjust="0"/>
    <p:restoredTop sz="94678"/>
  </p:normalViewPr>
  <p:slideViewPr>
    <p:cSldViewPr snapToGrid="0" snapToObjects="1">
      <p:cViewPr varScale="1">
        <p:scale>
          <a:sx n="150" d="100"/>
          <a:sy n="150" d="100"/>
        </p:scale>
        <p:origin x="300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C64A5D-31E6-4A86-AA17-D3DC7E739255}" type="datetimeFigureOut">
              <a:rPr lang="en-US" smtClean="0"/>
              <a:t>8/22/26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B0E83D-6DC3-45CC-9BE0-905852D427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498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0B1DB7-FFDC-5E16-20CA-37B54B3A9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0" numCol="1" anchor="t" anchorCtr="0" compatLnSpc="1">
            <a:prstTxWarp prst="textNoShape">
              <a:avLst/>
            </a:prstTxWarp>
          </a:bodyPr>
          <a:lstStyle>
            <a:lvl1pPr>
              <a:defRPr sz="3200">
                <a:solidFill>
                  <a:srgbClr val="123A59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 bwMode="auto">
          <a:xfrm>
            <a:off x="533400" y="1778001"/>
            <a:ext cx="7774280" cy="366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cs typeface="TitilliumMaps26L 500 wt"/>
              </a:defRPr>
            </a:lvl1pPr>
            <a:lvl2pPr marL="800100" indent="-342900" algn="l">
              <a:buFont typeface="Calibri" panose="020F0502020204030204" pitchFamily="34" charset="0"/>
              <a:buChar char="—"/>
              <a:defRPr sz="1800">
                <a:solidFill>
                  <a:schemeClr val="tx1"/>
                </a:solidFill>
                <a:latin typeface="+mn-lt"/>
                <a:cs typeface="TitilliumMaps26L 500 wt"/>
              </a:defRPr>
            </a:lvl2pPr>
            <a:lvl3pPr algn="l">
              <a:defRPr sz="2000">
                <a:solidFill>
                  <a:srgbClr val="6A6A6A"/>
                </a:solidFill>
                <a:latin typeface="TitilliumMaps26L 500 wt"/>
                <a:cs typeface="TitilliumMaps26L 500 w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 err="1"/>
              <a:t>aaa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123A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660820"/>
            <a:ext cx="7772400" cy="4108156"/>
          </a:xfrm>
          <a:prstGeom prst="rect">
            <a:avLst/>
          </a:prstGeom>
        </p:spPr>
        <p:txBody>
          <a:bodyPr anchor="t"/>
          <a:lstStyle>
            <a:lvl1pPr algn="ctr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23A5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23A5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23A5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147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5695950"/>
            <a:ext cx="9144000" cy="1162050"/>
          </a:xfrm>
          <a:prstGeom prst="rect">
            <a:avLst/>
          </a:prstGeom>
          <a:solidFill>
            <a:srgbClr val="123A59"/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6A6A6A"/>
              </a:solidFill>
            </a:endParaRPr>
          </a:p>
        </p:txBody>
      </p:sp>
      <p:pic>
        <p:nvPicPr>
          <p:cNvPr id="12" name="Picture 6" descr="cwru formal logo white-rev tag.wmf"/>
          <p:cNvPicPr>
            <a:picLocks noChangeAspect="1"/>
          </p:cNvPicPr>
          <p:nvPr userDrawn="1"/>
        </p:nvPicPr>
        <p:blipFill>
          <a:blip r:embed="rId9"/>
          <a:srcRect/>
          <a:stretch>
            <a:fillRect/>
          </a:stretch>
        </p:blipFill>
        <p:spPr bwMode="auto">
          <a:xfrm>
            <a:off x="546100" y="6018213"/>
            <a:ext cx="2565400" cy="608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6944968" y="629764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fld id="{9C13042B-154E-4D18-B726-07B2F714EF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3400" kern="1200">
          <a:solidFill>
            <a:srgbClr val="6A6A6A"/>
          </a:solidFill>
          <a:latin typeface="TitilliumMaps26L 999 wt"/>
          <a:ea typeface="헤드라인A"/>
          <a:cs typeface="TitilliumMaps26L 999 wt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Tx/>
        <a:buNone/>
        <a:defRPr sz="1800" kern="1200">
          <a:solidFill>
            <a:srgbClr val="6A6A6A"/>
          </a:solidFill>
          <a:latin typeface="TitilliumMaps26L 500 wt"/>
          <a:ea typeface="ＭＳ Ｐゴシック" charset="-128"/>
          <a:cs typeface="ＭＳ Ｐゴシック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Tx/>
        <a:buNone/>
        <a:defRPr sz="1600" kern="1200">
          <a:solidFill>
            <a:srgbClr val="6A6A6A"/>
          </a:solidFill>
          <a:latin typeface="TitilliumMaps26L 500 wt"/>
          <a:ea typeface="ＭＳ Ｐゴシック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Tx/>
        <a:buNone/>
        <a:defRPr sz="1400" kern="1200">
          <a:solidFill>
            <a:srgbClr val="6A6A6A"/>
          </a:solidFill>
          <a:latin typeface="TitilliumMaps26L 500 wt"/>
          <a:ea typeface="ＭＳ Ｐゴシック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Tx/>
        <a:buNone/>
        <a:defRPr sz="1200" kern="1200">
          <a:solidFill>
            <a:srgbClr val="6A6A6A"/>
          </a:solidFill>
          <a:latin typeface="TitilliumMaps26L 500 wt"/>
          <a:ea typeface="ＭＳ Ｐゴシック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Tx/>
        <a:buNone/>
        <a:defRPr sz="1200" kern="1200">
          <a:solidFill>
            <a:srgbClr val="6A6A6A"/>
          </a:solidFill>
          <a:latin typeface="TitilliumMaps26L 500 w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Variable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520042"/>
            <a:ext cx="8129880" cy="3919709"/>
          </a:xfrm>
        </p:spPr>
        <p:txBody>
          <a:bodyPr/>
          <a:lstStyle/>
          <a:p>
            <a:r>
              <a:rPr lang="en-US" dirty="0"/>
              <a:t>We often express events in terms of a random variable:</a:t>
            </a:r>
          </a:p>
          <a:p>
            <a:r>
              <a:rPr lang="en-US" dirty="0"/>
              <a:t>Event “Rolling a 1 on a die” can be written as</a:t>
            </a:r>
          </a:p>
          <a:p>
            <a:pPr lvl="1"/>
            <a:r>
              <a:rPr lang="en-US" dirty="0"/>
              <a:t>X = 1</a:t>
            </a:r>
          </a:p>
          <a:p>
            <a:r>
              <a:rPr lang="en-US" dirty="0"/>
              <a:t>Event “Rolling less than 3 on a die” can be written as</a:t>
            </a:r>
          </a:p>
          <a:p>
            <a:pPr lvl="1"/>
            <a:r>
              <a:rPr lang="en-US" dirty="0"/>
              <a:t>X &lt; 3</a:t>
            </a:r>
          </a:p>
          <a:p>
            <a:r>
              <a:rPr lang="en-US" dirty="0"/>
              <a:t>Event “Light bulb lasted at least 1200 hours” can be written as</a:t>
            </a:r>
          </a:p>
          <a:p>
            <a:pPr lvl="1"/>
            <a:r>
              <a:rPr lang="en-US" dirty="0"/>
              <a:t>X  ≥ 1200</a:t>
            </a:r>
          </a:p>
          <a:p>
            <a:r>
              <a:rPr lang="en-US" dirty="0"/>
              <a:t>Event “Light bulb lasted between 900 and 1200 hours” can be written as</a:t>
            </a:r>
          </a:p>
          <a:p>
            <a:pPr lvl="1"/>
            <a:r>
              <a:rPr lang="en-US" dirty="0"/>
              <a:t>900  ≤ X ≤ 1200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385547"/>
      </p:ext>
    </p:extLst>
  </p:cSld>
  <p:clrMapOvr>
    <a:masterClrMapping/>
  </p:clrMapOvr>
</p:sld>
</file>

<file path=ppt/theme/theme1.xml><?xml version="1.0" encoding="utf-8"?>
<a:theme xmlns:a="http://schemas.openxmlformats.org/drawingml/2006/main" name="CWRU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Case Option 1.pot</Template>
  <TotalTime>9492</TotalTime>
  <Words>84</Words>
  <Application>Microsoft Macintosh PowerPoint</Application>
  <PresentationFormat>On-screen Show (4:3)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TitilliumMaps26L 500 wt</vt:lpstr>
      <vt:lpstr>TitilliumMaps26L 999 wt</vt:lpstr>
      <vt:lpstr>CWRU Master</vt:lpstr>
      <vt:lpstr>Random Variable</vt:lpstr>
    </vt:vector>
  </TitlesOfParts>
  <Company>L.A. graphics,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Tia A</dc:creator>
  <cp:lastModifiedBy>Md Mutasim Billah</cp:lastModifiedBy>
  <cp:revision>288</cp:revision>
  <dcterms:created xsi:type="dcterms:W3CDTF">2010-10-04T01:44:54Z</dcterms:created>
  <dcterms:modified xsi:type="dcterms:W3CDTF">2026-08-22T14:45:30Z</dcterms:modified>
</cp:coreProperties>
</file>